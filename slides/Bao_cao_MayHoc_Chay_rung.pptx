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21678900" cy="121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Thầy Cô trong Hội đồng. Hôm nay em xin trình bày đồ án môn học Máy học với đề tài: Phân loại ảnh cháy rừng bằng các thuật toán học máy kinh điển.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trình bày rõ ràng 5 mục tiêu theo đúng yêu cầu đề cương của Thầy, đồng thời phân định ranh giới bài toán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trực tiếp câu hỏi mục 2 của Thầy: số lượng mẫu, số lớp, có mất cân bằng không, gán nhãn thế nào, chia tập bao nhiêu.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EDA hình ảnh chỉ ra tính chất phức tạp của bài toán: lá cây mùa thu và khói mù có thể gây báo nhầm.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phân tích kỹ thuật: kích thước, độ sáng, độ sắc nét Laplacian, histogram màu Hue và ảnh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 tiết quy trình tiền xử lý: resize 96x96, HSV 64 bin + HOG 800 bin = 864 đặc trưng; PCA nén còn 231 đặc trưng trong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4 mô hình học máy: Logistic Regression, KNN, SVM, Random Forest và không gian tìm kiếm tham số qua 3-fold CV.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Khẳng định phương pháp luận khoa học: SVM được chốt trên validation trước khi đánh giá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kết quả Test trên 380 ảnh. SVM dẫn đầu với Accuracy 93.95%, Recall 95.26%, F1 94.03%.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phân loại đầy đủ theo đúng yêu cầu bổ sung: Precision, Recall, F1, Support cho cả 2 lớp và Macro/Weighted Avg.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Confusion Matrix trả lời câu hỏi model hay nhầm class nào: KNN bỏ sót 89 ảnh cháy; SVM chỉ bỏ sót 9 ảnh.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Train vs Val trả lời câu hỏi overfitting/underfitting: SVM chênh ít nhất (5.8%), RF chênh 13.5%.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Đường học cho thấy F1 CV tăng dần khi thêm dữ liệu, chứng tỏ mô hình học tốt và có tiềm năng mở rộng.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tích lỗi định lượng trả lời câu hỏi ảnh mờ/rõ: nhóm FN có độ sắc nét chỉ 559 so với 1.686 của nhóm đúng.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trả lời trực tiếp toàn bộ 8 câu hỏi cốt lõi của Thầy tại Mục 3.5 trong đề cương.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luận đồ án và đối chiếu bảng 10 mục của Thầy: hoàn thành 100% với tính liêm chính học thuật cao.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4 hướng phát triển thực tiễn: dữ liệu thực tế bất cân bằng, video stream, deep learning và edge 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kết thúc: tổng kết sản phẩm nộp, demo CLI và lời cảm ơn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2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600000"/>
            <a:ext cx="19642709" cy="850000"/>
          </a:xfrm>
          <a:prstGeom prst="rect">
            <a:avLst/>
          </a:prstGeom>
          <a:noFill/>
        </p:spPr>
        <p:txBody>
          <a:bodyPr wrap="none">
            <a:spAutoFit/>
          </a:bodyPr>
          <a:lstStyle/>
          <a:p>
            <a:pPr>
              <a:defRPr sz="1800" b="1">
                <a:solidFill>
                  <a:srgbClr val="1565C0"/>
                </a:solidFill>
                <a:latin typeface="Arial"/>
              </a:defRPr>
            </a:pPr>
            <a:r>
              <a:t>ĐẠI HỌC QUỐC GIA TP. HỒ CHÍ MINH — TRƯỜNG ĐẠI HỌC CÔNG NGHỆ THÔNG TIN (UIT)</a:t>
            </a:r>
          </a:p>
          <a:p>
            <a:pPr>
              <a:defRPr sz="1600">
                <a:solidFill>
                  <a:srgbClr val="475569"/>
                </a:solidFill>
                <a:latin typeface="Arial"/>
              </a:defRPr>
            </a:pPr>
            <a:r>
              <a:t>KHOA KHOA HỌC MÁY TÍNH | BÁO CÁO ĐỒ ÁN MÔN HỌC: MÁY HỌC (MACHINE LEARNING)</a:t>
            </a:r>
          </a:p>
        </p:txBody>
      </p:sp>
      <p:sp>
        <p:nvSpPr>
          <p:cNvPr id="4" name="Rectangle 3"/>
          <p:cNvSpPr/>
          <p:nvPr/>
        </p:nvSpPr>
        <p:spPr>
          <a:xfrm>
            <a:off x="1016000" y="15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800000"/>
            <a:ext cx="19642709" cy="2100000"/>
          </a:xfrm>
          <a:prstGeom prst="rect">
            <a:avLst/>
          </a:prstGeom>
          <a:noFill/>
        </p:spPr>
        <p:txBody>
          <a:bodyPr wrap="square">
            <a:spAutoFit/>
          </a:bodyPr>
          <a:lstStyle/>
          <a:p>
            <a:pPr>
              <a:defRPr sz="3200" b="1">
                <a:solidFill>
                  <a:srgbClr val="0D47A1"/>
                </a:solidFill>
                <a:latin typeface="Arial"/>
              </a:defRPr>
            </a:pPr>
            <a:r>
              <a:t>ỨNG DỤNG CÁC THUẬT TOÁN HỌC MÁY TRONG PHÂN LOẠI ẢNH CHÁY RỪNG</a:t>
            </a:r>
          </a:p>
          <a:p>
            <a:pPr>
              <a:defRPr sz="2600" b="1">
                <a:solidFill>
                  <a:srgbClr val="1565C0"/>
                </a:solidFill>
                <a:latin typeface="Arial"/>
              </a:defRPr>
            </a:pPr>
            <a:r>
              <a:t>FOREST FIRE IMAGE CLASSIFICATION | BỘ DỮ LIỆU DEEPFIRE (1.900 ẢNH)</a:t>
            </a:r>
          </a:p>
        </p:txBody>
      </p:sp>
      <p:sp>
        <p:nvSpPr>
          <p:cNvPr id="6" name="Rounded Rectangle 5"/>
          <p:cNvSpPr/>
          <p:nvPr/>
        </p:nvSpPr>
        <p:spPr>
          <a:xfrm>
            <a:off x="1016000" y="4100000"/>
            <a:ext cx="19642709" cy="1300000"/>
          </a:xfrm>
          <a:prstGeom prst="roundRect">
            <a:avLst/>
          </a:prstGeom>
          <a:solidFill>
            <a:srgbClr val="EEF6FF"/>
          </a:solidFill>
          <a:ln w="19050">
            <a:solidFill>
              <a:srgbClr val="BBDE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0000" y="4200000"/>
            <a:ext cx="19000000" cy="1100000"/>
          </a:xfrm>
          <a:prstGeom prst="rect">
            <a:avLst/>
          </a:prstGeom>
          <a:noFill/>
        </p:spPr>
        <p:txBody>
          <a:bodyPr wrap="none">
            <a:spAutoFit/>
          </a:bodyPr>
          <a:lstStyle/>
          <a:p>
            <a:pPr>
              <a:defRPr sz="1900" b="1">
                <a:solidFill>
                  <a:srgbClr val="0D47A1"/>
                </a:solidFill>
                <a:latin typeface="Arial"/>
              </a:defRPr>
            </a:pPr>
            <a:r>
              <a:t>Giảng viên hướng dẫn môn học: Bộ môn Trí tuệ Nhân tạo &amp; Khoa học Dữ liệu</a:t>
            </a:r>
          </a:p>
          <a:p>
            <a:pPr>
              <a:defRPr sz="1600">
                <a:solidFill>
                  <a:srgbClr val="0F172A"/>
                </a:solidFill>
                <a:latin typeface="Arial"/>
              </a:defRPr>
            </a:pPr>
            <a:r>
              <a:t>Sinh viên thực hiện | Học kỳ II — Năm học 2025–2026 | Thực nghiệm chuẩn xác ngày 17/09/2026</a:t>
            </a:r>
          </a:p>
        </p:txBody>
      </p:sp>
      <p:sp>
        <p:nvSpPr>
          <p:cNvPr id="8" name="Rounded Rectangle 7"/>
          <p:cNvSpPr/>
          <p:nvPr/>
        </p:nvSpPr>
        <p:spPr>
          <a:xfrm>
            <a:off x="1016000" y="5650000"/>
            <a:ext cx="4600000" cy="32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66000" y="5800000"/>
            <a:ext cx="4300000" cy="2900000"/>
          </a:xfrm>
          <a:prstGeom prst="rect">
            <a:avLst/>
          </a:prstGeom>
          <a:noFill/>
        </p:spPr>
        <p:txBody>
          <a:bodyPr wrap="square">
            <a:spAutoFit/>
          </a:bodyPr>
          <a:lstStyle/>
          <a:p>
            <a:pPr algn="ctr">
              <a:defRPr sz="4400" b="1">
                <a:solidFill>
                  <a:srgbClr val="1565C0"/>
                </a:solidFill>
                <a:latin typeface="Arial"/>
              </a:defRPr>
            </a:pPr>
            <a:r>
              <a:t>1.896</a:t>
            </a:r>
          </a:p>
          <a:p>
            <a:pPr algn="ctr">
              <a:defRPr sz="1700" b="1">
                <a:solidFill>
                  <a:srgbClr val="0F172A"/>
                </a:solidFill>
                <a:latin typeface="Arial"/>
              </a:defRPr>
            </a:pPr>
            <a:r>
              <a:t>Ảnh Sử Dụng</a:t>
            </a:r>
          </a:p>
          <a:p>
            <a:pPr algn="ctr">
              <a:defRPr sz="1400">
                <a:solidFill>
                  <a:srgbClr val="475569"/>
                </a:solidFill>
                <a:latin typeface="Arial"/>
              </a:defRPr>
            </a:pPr>
            <a:r>
              <a:t>1.900 ảnh gốc (loại 4 ảnh trùng/nhóm)</a:t>
            </a:r>
          </a:p>
        </p:txBody>
      </p:sp>
      <p:sp>
        <p:nvSpPr>
          <p:cNvPr id="10" name="Rounded Rectangle 9"/>
          <p:cNvSpPr/>
          <p:nvPr/>
        </p:nvSpPr>
        <p:spPr>
          <a:xfrm>
            <a:off x="6020000" y="5650000"/>
            <a:ext cx="4600000" cy="32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0000" y="5800000"/>
            <a:ext cx="4300000" cy="2900000"/>
          </a:xfrm>
          <a:prstGeom prst="rect">
            <a:avLst/>
          </a:prstGeom>
          <a:noFill/>
        </p:spPr>
        <p:txBody>
          <a:bodyPr wrap="square">
            <a:spAutoFit/>
          </a:bodyPr>
          <a:lstStyle/>
          <a:p>
            <a:pPr algn="ctr">
              <a:defRPr sz="4400" b="1">
                <a:solidFill>
                  <a:srgbClr val="00838F"/>
                </a:solidFill>
                <a:latin typeface="Arial"/>
              </a:defRPr>
            </a:pPr>
            <a:r>
              <a:t>4</a:t>
            </a:r>
          </a:p>
          <a:p>
            <a:pPr algn="ctr">
              <a:defRPr sz="1700" b="1">
                <a:solidFill>
                  <a:srgbClr val="0F172A"/>
                </a:solidFill>
                <a:latin typeface="Arial"/>
              </a:defRPr>
            </a:pPr>
            <a:r>
              <a:t>Mô Hình Đối Chứng</a:t>
            </a:r>
          </a:p>
          <a:p>
            <a:pPr algn="ctr">
              <a:defRPr sz="1400">
                <a:solidFill>
                  <a:srgbClr val="475569"/>
                </a:solidFill>
                <a:latin typeface="Arial"/>
              </a:defRPr>
            </a:pPr>
            <a:r>
              <a:t>Logistic, KNN, SVM, Random Forest</a:t>
            </a:r>
          </a:p>
        </p:txBody>
      </p:sp>
      <p:sp>
        <p:nvSpPr>
          <p:cNvPr id="12" name="Rounded Rectangle 11"/>
          <p:cNvSpPr/>
          <p:nvPr/>
        </p:nvSpPr>
        <p:spPr>
          <a:xfrm>
            <a:off x="11024000" y="5650000"/>
            <a:ext cx="4600000" cy="32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74000" y="5800000"/>
            <a:ext cx="4300000" cy="2900000"/>
          </a:xfrm>
          <a:prstGeom prst="rect">
            <a:avLst/>
          </a:prstGeom>
          <a:noFill/>
        </p:spPr>
        <p:txBody>
          <a:bodyPr wrap="square">
            <a:spAutoFit/>
          </a:bodyPr>
          <a:lstStyle/>
          <a:p>
            <a:pPr algn="ctr">
              <a:defRPr sz="4400" b="1">
                <a:solidFill>
                  <a:srgbClr val="2E7D32"/>
                </a:solidFill>
                <a:latin typeface="Arial"/>
              </a:defRPr>
            </a:pPr>
            <a:r>
              <a:t>94,03%</a:t>
            </a:r>
          </a:p>
          <a:p>
            <a:pPr algn="ctr">
              <a:defRPr sz="1700" b="1">
                <a:solidFill>
                  <a:srgbClr val="0F172A"/>
                </a:solidFill>
                <a:latin typeface="Arial"/>
              </a:defRPr>
            </a:pPr>
            <a:r>
              <a:t>F1-Score Test (SVM)</a:t>
            </a:r>
          </a:p>
          <a:p>
            <a:pPr algn="ctr">
              <a:defRPr sz="1400">
                <a:solidFill>
                  <a:srgbClr val="475569"/>
                </a:solidFill>
                <a:latin typeface="Arial"/>
              </a:defRPr>
            </a:pPr>
            <a:r>
              <a:t>Chốt trên Validation trước khi Test</a:t>
            </a:r>
          </a:p>
        </p:txBody>
      </p:sp>
      <p:sp>
        <p:nvSpPr>
          <p:cNvPr id="14" name="Rounded Rectangle 13"/>
          <p:cNvSpPr/>
          <p:nvPr/>
        </p:nvSpPr>
        <p:spPr>
          <a:xfrm>
            <a:off x="16028000" y="5650000"/>
            <a:ext cx="4630709" cy="32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178000" y="5800000"/>
            <a:ext cx="4330709" cy="2900000"/>
          </a:xfrm>
          <a:prstGeom prst="rect">
            <a:avLst/>
          </a:prstGeom>
          <a:noFill/>
        </p:spPr>
        <p:txBody>
          <a:bodyPr wrap="square">
            <a:spAutoFit/>
          </a:bodyPr>
          <a:lstStyle/>
          <a:p>
            <a:pPr algn="ctr">
              <a:defRPr sz="4400" b="1">
                <a:solidFill>
                  <a:srgbClr val="2E7D32"/>
                </a:solidFill>
                <a:latin typeface="Arial"/>
              </a:defRPr>
            </a:pPr>
            <a:r>
              <a:t>95,26%</a:t>
            </a:r>
          </a:p>
          <a:p>
            <a:pPr algn="ctr">
              <a:defRPr sz="1700" b="1">
                <a:solidFill>
                  <a:srgbClr val="0F172A"/>
                </a:solidFill>
                <a:latin typeface="Arial"/>
              </a:defRPr>
            </a:pPr>
            <a:r>
              <a:t>Recall Lớp Cháy</a:t>
            </a:r>
          </a:p>
          <a:p>
            <a:pPr algn="ctr">
              <a:defRPr sz="1400">
                <a:solidFill>
                  <a:srgbClr val="475569"/>
                </a:solidFill>
                <a:latin typeface="Arial"/>
              </a:defRPr>
            </a:pPr>
            <a:r>
              <a:t>Chỉ bỏ sót 9/190 vụ cháy</a:t>
            </a:r>
          </a:p>
        </p:txBody>
      </p:sp>
      <p:sp>
        <p:nvSpPr>
          <p:cNvPr id="16" name="Rounded Rectangle 15"/>
          <p:cNvSpPr/>
          <p:nvPr/>
        </p:nvSpPr>
        <p:spPr>
          <a:xfrm>
            <a:off x="1016000" y="9150000"/>
            <a:ext cx="19642709" cy="195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00000" y="9250000"/>
            <a:ext cx="19200000" cy="1750000"/>
          </a:xfrm>
          <a:prstGeom prst="rect">
            <a:avLst/>
          </a:prstGeom>
          <a:noFill/>
        </p:spPr>
        <p:txBody>
          <a:bodyPr wrap="none">
            <a:spAutoFit/>
          </a:bodyPr>
          <a:lstStyle/>
          <a:p>
            <a:pPr>
              <a:defRPr sz="1800" b="1">
                <a:solidFill>
                  <a:srgbClr val="FF6F00"/>
                </a:solidFill>
                <a:latin typeface="Arial"/>
              </a:defRPr>
            </a:pPr>
            <a:r>
              <a:t>QUY TRÌNH KHOA HỌC &amp; TÍNH LIÊM CHÍNH HỌC THUẬT CỦA ĐỒ ÁN:</a:t>
            </a:r>
          </a:p>
          <a:p>
            <a:pPr>
              <a:defRPr sz="1500">
                <a:solidFill>
                  <a:srgbClr val="0F172A"/>
                </a:solidFill>
                <a:latin typeface="Arial"/>
              </a:defRPr>
            </a:pPr>
            <a:r>
              <a:t>• Tiền xử lý chặt chẽ: Kiểm toán trùng lặp bằng SHA-256 và dHash khoảng cách &lt;= 4, triệt tiêu nguy cơ rò rỉ dữ liệu giữa Train và Test.</a:t>
            </a:r>
          </a:p>
          <a:p>
            <a:pPr>
              <a:defRPr sz="1500">
                <a:solidFill>
                  <a:srgbClr val="0F172A"/>
                </a:solidFill>
                <a:latin typeface="Arial"/>
              </a:defRPr>
            </a:pPr>
            <a:r>
              <a:t>• Trích xuất đặc trưng kết hợp Color Histogram (HSV) + HOG Texture; chuẩn hóa và giảm chiều PCA khép kín trong Sklearn Pipeline.</a:t>
            </a:r>
          </a:p>
          <a:p>
            <a:pPr>
              <a:defRPr sz="1500">
                <a:solidFill>
                  <a:srgbClr val="0F172A"/>
                </a:solidFill>
                <a:latin typeface="Arial"/>
              </a:defRPr>
            </a:pPr>
            <a:r>
              <a:t>• Không dùng Test để chọn tham số; toàn bộ số liệu báo cáo, Word, Slide, Notebook đều tái lập 100% từ mã nguồn tự động hóa.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Mục Tiêu Đồ Án &amp; Định Nghĩa Bài Toán Phân Loại</a:t>
            </a:r>
          </a:p>
          <a:p>
            <a:pPr>
              <a:defRPr sz="1600" i="1" b="1">
                <a:solidFill>
                  <a:srgbClr val="1565C0"/>
                </a:solidFill>
                <a:latin typeface="Arial"/>
              </a:defRPr>
            </a:pPr>
            <a:r>
              <a:t>Mục tiêu môn học: Mục tiêu 1-5 theo đề cương của Giảng viên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2 / 18</a:t>
            </a:r>
          </a:p>
        </p:txBody>
      </p:sp>
      <p:sp>
        <p:nvSpPr>
          <p:cNvPr id="12" name="Rounded Rectangle 11"/>
          <p:cNvSpPr/>
          <p:nvPr/>
        </p:nvSpPr>
        <p:spPr>
          <a:xfrm>
            <a:off x="1016000" y="2150000"/>
            <a:ext cx="9500000" cy="90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0000" y="2300000"/>
            <a:ext cx="9100000" cy="8600000"/>
          </a:xfrm>
          <a:prstGeom prst="rect">
            <a:avLst/>
          </a:prstGeom>
          <a:noFill/>
        </p:spPr>
        <p:txBody>
          <a:bodyPr wrap="square">
            <a:spAutoFit/>
          </a:bodyPr>
          <a:lstStyle/>
          <a:p>
            <a:pPr>
              <a:defRPr sz="2000" b="1">
                <a:solidFill>
                  <a:srgbClr val="1565C0"/>
                </a:solidFill>
                <a:latin typeface="Arial"/>
              </a:defRPr>
            </a:pPr>
            <a:r>
              <a:t>5 MỤC TIÊU ĐỒ ÁN THEO YÊU CẦU CỦA THẦY</a:t>
            </a:r>
          </a:p>
          <a:p>
            <a:pPr>
              <a:defRPr sz="1600" b="1">
                <a:solidFill>
                  <a:srgbClr val="0D47A1"/>
                </a:solidFill>
                <a:latin typeface="Arial"/>
              </a:defRPr>
            </a:pPr>
            <a:r>
              <a:t>1. Hiểu &amp; phân tích dữ liệu:</a:t>
            </a:r>
          </a:p>
          <a:p>
            <a:pPr>
              <a:defRPr sz="1400">
                <a:solidFill>
                  <a:srgbClr val="0F172A"/>
                </a:solidFill>
                <a:latin typeface="Arial"/>
              </a:defRPr>
            </a:pPr>
            <a:r>
              <a:t>Kiểm tra toàn bộ 1.900 ảnh, phân bố 2 lớp, phát hiện ảnh lỗi và phân tích độ sáng, sắc nét, màu sắc.</a:t>
            </a:r>
          </a:p>
          <a:p>
            <a:pPr>
              <a:defRPr sz="1600" b="1">
                <a:solidFill>
                  <a:srgbClr val="0D47A1"/>
                </a:solidFill>
                <a:latin typeface="Arial"/>
              </a:defRPr>
            </a:pPr>
            <a:r>
              <a:t>2. Tiền xử lý dữ liệu chuẩn mực:</a:t>
            </a:r>
          </a:p>
          <a:p>
            <a:pPr>
              <a:defRPr sz="1400">
                <a:solidFill>
                  <a:srgbClr val="0F172A"/>
                </a:solidFill>
                <a:latin typeface="Arial"/>
              </a:defRPr>
            </a:pPr>
            <a:r>
              <a:t>Xử lý trùng lặp pixel SHA-256, nhóm gần trùng dHash, resize 96x96, trích xuất đặc trưng HSV + HOG, chuẩn hóa Z-score &amp; PCA.</a:t>
            </a:r>
          </a:p>
          <a:p>
            <a:pPr>
              <a:defRPr sz="1600" b="1">
                <a:solidFill>
                  <a:srgbClr val="0D47A1"/>
                </a:solidFill>
                <a:latin typeface="Arial"/>
              </a:defRPr>
            </a:pPr>
            <a:r>
              <a:t>3. Áp dụng các thuật toán ML:</a:t>
            </a:r>
          </a:p>
          <a:p>
            <a:pPr>
              <a:defRPr sz="1400">
                <a:solidFill>
                  <a:srgbClr val="0F172A"/>
                </a:solidFill>
                <a:latin typeface="Arial"/>
              </a:defRPr>
            </a:pPr>
            <a:r>
              <a:t>Cài đặt và cấu hình 4 thuật toán học máy đại diện: Logistic Regression, KNN, SVM (RBF) và Random Forest.</a:t>
            </a:r>
          </a:p>
          <a:p>
            <a:pPr>
              <a:defRPr sz="1600" b="1">
                <a:solidFill>
                  <a:srgbClr val="0D47A1"/>
                </a:solidFill>
                <a:latin typeface="Arial"/>
              </a:defRPr>
            </a:pPr>
            <a:r>
              <a:t>4. So sánh &amp; chọn mô hình tối ưu:</a:t>
            </a:r>
          </a:p>
          <a:p>
            <a:pPr>
              <a:defRPr sz="1400">
                <a:solidFill>
                  <a:srgbClr val="0F172A"/>
                </a:solidFill>
                <a:latin typeface="Arial"/>
              </a:defRPr>
            </a:pPr>
            <a:r>
              <a:t>Đánh giá công bằng qua 3-fold StratifiedGroupKFold, chọn mô hình theo F1 lớp cháy trên Validation trước khi đánh giá Test.</a:t>
            </a:r>
          </a:p>
          <a:p>
            <a:pPr>
              <a:defRPr sz="1600" b="1">
                <a:solidFill>
                  <a:srgbClr val="0D47A1"/>
                </a:solidFill>
                <a:latin typeface="Arial"/>
              </a:defRPr>
            </a:pPr>
            <a:r>
              <a:t>5. Phân tích kết quả thực nghiệm:</a:t>
            </a:r>
          </a:p>
          <a:p>
            <a:pPr>
              <a:defRPr sz="1400">
                <a:solidFill>
                  <a:srgbClr val="0F172A"/>
                </a:solidFill>
                <a:latin typeface="Arial"/>
              </a:defRPr>
            </a:pPr>
            <a:r>
              <a:t>Phân tích Confusion Matrix, hiện tượng Overfitting qua Train vs Val, phân tích thuộc tính ảnh lỗi (FN/FP) và bài học thực tiễn.</a:t>
            </a:r>
          </a:p>
        </p:txBody>
      </p:sp>
      <p:sp>
        <p:nvSpPr>
          <p:cNvPr id="14" name="Rounded Rectangle 13"/>
          <p:cNvSpPr/>
          <p:nvPr/>
        </p:nvSpPr>
        <p:spPr>
          <a:xfrm>
            <a:off x="10900000" y="2150000"/>
            <a:ext cx="9758709" cy="58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00000" y="2300000"/>
            <a:ext cx="9350000" cy="5400000"/>
          </a:xfrm>
          <a:prstGeom prst="rect">
            <a:avLst/>
          </a:prstGeom>
          <a:noFill/>
        </p:spPr>
        <p:txBody>
          <a:bodyPr wrap="square">
            <a:spAutoFit/>
          </a:bodyPr>
          <a:lstStyle/>
          <a:p>
            <a:pPr>
              <a:defRPr sz="2000" b="1">
                <a:solidFill>
                  <a:srgbClr val="1565C0"/>
                </a:solidFill>
                <a:latin typeface="Arial"/>
              </a:defRPr>
            </a:pPr>
            <a:r>
              <a:t>ĐỊNH NGHĨA BÀI TOÁN &amp; PHẠM VI ỨNG DỤNG</a:t>
            </a:r>
          </a:p>
          <a:p>
            <a:pPr>
              <a:defRPr sz="1500" b="1">
                <a:solidFill>
                  <a:srgbClr val="0F172A"/>
                </a:solidFill>
                <a:latin typeface="Arial"/>
              </a:defRPr>
            </a:pPr>
            <a:r>
              <a:t>• Đầu vào (Input): Một ảnh màu RGB kích thước bất kỳ chụp phong cảnh rừng.</a:t>
            </a:r>
          </a:p>
          <a:p>
            <a:pPr>
              <a:defRPr sz="1500" b="1">
                <a:solidFill>
                  <a:srgbClr val="0F172A"/>
                </a:solidFill>
                <a:latin typeface="Arial"/>
              </a:defRPr>
            </a:pPr>
            <a:r>
              <a:t>• Đầu ra (Output): Nhãn nhị phân 0 (Không cháy / No Fire) hoặc 1 (Cháy / Fire).</a:t>
            </a:r>
          </a:p>
          <a:p>
            <a:pPr>
              <a:defRPr sz="1500">
                <a:solidFill>
                  <a:srgbClr val="0F172A"/>
                </a:solidFill>
                <a:latin typeface="Arial"/>
              </a:defRPr>
            </a:pPr>
            <a:r>
              <a:t>• Bản chất: Phân loại toàn ảnh (Whole-image classification), xác định sự hiện diện của đám cháy trong khung hình.</a:t>
            </a:r>
          </a:p>
          <a:p>
            <a:pPr>
              <a:defRPr sz="1500">
                <a:solidFill>
                  <a:srgbClr val="0F172A"/>
                </a:solidFill>
                <a:latin typeface="Arial"/>
              </a:defRPr>
            </a:pPr>
            <a:r>
              <a:t>• Ý nghĩa thực tiễn: Hỗ trợ kiểm lâm tự động lọc hàng nghìn ảnh từ trạm quan trắc hoặc drone tuần tra để phát hiện sớm hiểm họa.</a:t>
            </a:r>
          </a:p>
        </p:txBody>
      </p:sp>
      <p:sp>
        <p:nvSpPr>
          <p:cNvPr id="16" name="Rounded Rectangle 15"/>
          <p:cNvSpPr/>
          <p:nvPr/>
        </p:nvSpPr>
        <p:spPr>
          <a:xfrm>
            <a:off x="10900000" y="8150000"/>
            <a:ext cx="9758709" cy="3000000"/>
          </a:xfrm>
          <a:prstGeom prst="roundRect">
            <a:avLst/>
          </a:prstGeom>
          <a:solidFill>
            <a:srgbClr val="FFEBEE"/>
          </a:solidFill>
          <a:ln w="19050">
            <a:solidFill>
              <a:srgbClr val="EF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00000" y="8250000"/>
            <a:ext cx="9350000" cy="2800000"/>
          </a:xfrm>
          <a:prstGeom prst="rect">
            <a:avLst/>
          </a:prstGeom>
          <a:noFill/>
        </p:spPr>
        <p:txBody>
          <a:bodyPr wrap="square">
            <a:spAutoFit/>
          </a:bodyPr>
          <a:lstStyle/>
          <a:p>
            <a:pPr>
              <a:defRPr sz="1600" b="1">
                <a:solidFill>
                  <a:srgbClr val="C62828"/>
                </a:solidFill>
                <a:latin typeface="Arial"/>
              </a:defRPr>
            </a:pPr>
            <a:r>
              <a:t>LƯU Ý QUAN TRỌNG VỀ GIỚI HẠN PHẠM VI:</a:t>
            </a:r>
          </a:p>
          <a:p>
            <a:pPr>
              <a:defRPr sz="1400">
                <a:solidFill>
                  <a:srgbClr val="0F172A"/>
                </a:solidFill>
                <a:latin typeface="Arial"/>
              </a:defRPr>
            </a:pPr>
            <a:r>
              <a:t>1. Chưa khoanh vùng bounding box: Đây là bài toán Classification, chưa phải Object Detection (YOLO) hay Segmentation.</a:t>
            </a:r>
          </a:p>
          <a:p>
            <a:pPr>
              <a:defRPr sz="1400">
                <a:solidFill>
                  <a:srgbClr val="0F172A"/>
                </a:solidFill>
                <a:latin typeface="Arial"/>
              </a:defRPr>
            </a:pPr>
            <a:r>
              <a:t>2. Chưa dự báo tương lai: Chỉ nhận diện sự cố đã xuất hiện trên ảnh, chưa mô hình hóa tốc độ lan truyền đám cháy theo thời gian.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Mô Tả Bộ Dữ Liệu DeepFire &amp; Quy Trình Kiểm Toán</a:t>
            </a:r>
          </a:p>
          <a:p>
            <a:pPr>
              <a:defRPr sz="1600" i="1" b="1">
                <a:solidFill>
                  <a:srgbClr val="1565C0"/>
                </a:solidFill>
                <a:latin typeface="Arial"/>
              </a:defRPr>
            </a:pPr>
            <a:r>
              <a:t>Mục tiêu môn học: Mục 2: Số mẫu, số lớp, gán nhãn, chia tập Train/Val/Test</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3 / 18</a:t>
            </a:r>
          </a:p>
        </p:txBody>
      </p:sp>
      <p:sp>
        <p:nvSpPr>
          <p:cNvPr id="12" name="Rounded Rectangle 11"/>
          <p:cNvSpPr/>
          <p:nvPr/>
        </p:nvSpPr>
        <p:spPr>
          <a:xfrm>
            <a:off x="1016000" y="2150000"/>
            <a:ext cx="6200000" cy="21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6000" y="2300000"/>
            <a:ext cx="5900000" cy="1800000"/>
          </a:xfrm>
          <a:prstGeom prst="rect">
            <a:avLst/>
          </a:prstGeom>
          <a:noFill/>
        </p:spPr>
        <p:txBody>
          <a:bodyPr wrap="square">
            <a:spAutoFit/>
          </a:bodyPr>
          <a:lstStyle/>
          <a:p>
            <a:pPr algn="ctr">
              <a:defRPr sz="4400" b="1">
                <a:solidFill>
                  <a:srgbClr val="1565C0"/>
                </a:solidFill>
                <a:latin typeface="Arial"/>
              </a:defRPr>
            </a:pPr>
            <a:r>
              <a:t>1.900</a:t>
            </a:r>
          </a:p>
          <a:p>
            <a:pPr algn="ctr">
              <a:defRPr sz="1700" b="1">
                <a:solidFill>
                  <a:srgbClr val="0F172A"/>
                </a:solidFill>
                <a:latin typeface="Arial"/>
              </a:defRPr>
            </a:pPr>
            <a:r>
              <a:t>Tổng Mẫu Dữ Liệu Nguồn</a:t>
            </a:r>
          </a:p>
          <a:p>
            <a:pPr algn="ctr">
              <a:defRPr sz="1400">
                <a:solidFill>
                  <a:srgbClr val="475569"/>
                </a:solidFill>
                <a:latin typeface="Arial"/>
              </a:defRPr>
            </a:pPr>
            <a:r>
              <a:t>950 Cháy (50%) | 950 Không cháy (50%)</a:t>
            </a:r>
          </a:p>
        </p:txBody>
      </p:sp>
      <p:sp>
        <p:nvSpPr>
          <p:cNvPr id="14" name="Rounded Rectangle 13"/>
          <p:cNvSpPr/>
          <p:nvPr/>
        </p:nvSpPr>
        <p:spPr>
          <a:xfrm>
            <a:off x="7616000" y="2150000"/>
            <a:ext cx="6200000" cy="2100000"/>
          </a:xfrm>
          <a:prstGeom prst="roundRect">
            <a:avLst/>
          </a:prstGeom>
          <a:solidFill>
            <a:srgbClr val="FFEBEE"/>
          </a:solidFill>
          <a:ln w="19050">
            <a:solidFill>
              <a:srgbClr val="EF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66000" y="2300000"/>
            <a:ext cx="5900000" cy="1800000"/>
          </a:xfrm>
          <a:prstGeom prst="rect">
            <a:avLst/>
          </a:prstGeom>
          <a:noFill/>
        </p:spPr>
        <p:txBody>
          <a:bodyPr wrap="square">
            <a:spAutoFit/>
          </a:bodyPr>
          <a:lstStyle/>
          <a:p>
            <a:pPr algn="ctr">
              <a:defRPr sz="4400" b="1">
                <a:solidFill>
                  <a:srgbClr val="C62828"/>
                </a:solidFill>
                <a:latin typeface="Arial"/>
              </a:defRPr>
            </a:pPr>
            <a:r>
              <a:t>4 Ảnh</a:t>
            </a:r>
          </a:p>
          <a:p>
            <a:pPr algn="ctr">
              <a:defRPr sz="1700" b="1">
                <a:solidFill>
                  <a:srgbClr val="0F172A"/>
                </a:solidFill>
                <a:latin typeface="Arial"/>
              </a:defRPr>
            </a:pPr>
            <a:r>
              <a:t>Bị Loại Qua Kiểm Toán</a:t>
            </a:r>
          </a:p>
          <a:p>
            <a:pPr algn="ctr">
              <a:defRPr sz="1400">
                <a:solidFill>
                  <a:srgbClr val="475569"/>
                </a:solidFill>
                <a:latin typeface="Arial"/>
              </a:defRPr>
            </a:pPr>
            <a:r>
              <a:t>2 ảnh trùng pixel + 2 ảnh Train dính Test</a:t>
            </a:r>
          </a:p>
        </p:txBody>
      </p:sp>
      <p:sp>
        <p:nvSpPr>
          <p:cNvPr id="16" name="Rounded Rectangle 15"/>
          <p:cNvSpPr/>
          <p:nvPr/>
        </p:nvSpPr>
        <p:spPr>
          <a:xfrm>
            <a:off x="14216000" y="2150000"/>
            <a:ext cx="6442709" cy="21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366000" y="2300000"/>
            <a:ext cx="6142709" cy="1800000"/>
          </a:xfrm>
          <a:prstGeom prst="rect">
            <a:avLst/>
          </a:prstGeom>
          <a:noFill/>
        </p:spPr>
        <p:txBody>
          <a:bodyPr wrap="square">
            <a:spAutoFit/>
          </a:bodyPr>
          <a:lstStyle/>
          <a:p>
            <a:pPr algn="ctr">
              <a:defRPr sz="4400" b="1">
                <a:solidFill>
                  <a:srgbClr val="2E7D32"/>
                </a:solidFill>
                <a:latin typeface="Arial"/>
              </a:defRPr>
            </a:pPr>
            <a:r>
              <a:t>1.896</a:t>
            </a:r>
          </a:p>
          <a:p>
            <a:pPr algn="ctr">
              <a:defRPr sz="1700" b="1">
                <a:solidFill>
                  <a:srgbClr val="0F172A"/>
                </a:solidFill>
                <a:latin typeface="Arial"/>
              </a:defRPr>
            </a:pPr>
            <a:r>
              <a:t>Số Ảnh Thực Nghiệm Chuẩn</a:t>
            </a:r>
          </a:p>
          <a:p>
            <a:pPr algn="ctr">
              <a:defRPr sz="1400">
                <a:solidFill>
                  <a:srgbClr val="475569"/>
                </a:solidFill>
                <a:latin typeface="Arial"/>
              </a:defRPr>
            </a:pPr>
            <a:r>
              <a:t>1.213 Train | 303 Validation | 380 Test</a:t>
            </a:r>
          </a:p>
        </p:txBody>
      </p:sp>
      <p:graphicFrame>
        <p:nvGraphicFramePr>
          <p:cNvPr id="18" name="Table 17"/>
          <p:cNvGraphicFramePr>
            <a:graphicFrameLocks noGrp="1"/>
          </p:cNvGraphicFramePr>
          <p:nvPr/>
        </p:nvGraphicFramePr>
        <p:xfrm>
          <a:off x="1016000" y="4500000"/>
          <a:ext cx="19642709" cy="2800000"/>
        </p:xfrm>
        <a:graphic>
          <a:graphicData uri="http://schemas.openxmlformats.org/drawingml/2006/table">
            <a:tbl>
              <a:tblPr firstRow="1" bandRow="1">
                <a:tableStyleId>{5C22544A-7EE6-4342-B048-85BDC9FD1C3A}</a:tableStyleId>
              </a:tblPr>
              <a:tblGrid>
                <a:gridCol w="3600000"/>
                <a:gridCol w="4000000"/>
                <a:gridCol w="4000000"/>
                <a:gridCol w="4000000"/>
                <a:gridCol w="4042709"/>
              </a:tblGrid>
              <a:tr h="560000">
                <a:tc>
                  <a:txBody>
                    <a:bodyPr/>
                    <a:lstStyle/>
                    <a:p>
                      <a:pPr algn="ctr">
                        <a:defRPr sz="1600" b="1">
                          <a:solidFill>
                            <a:srgbClr val="FFFFFF"/>
                          </a:solidFill>
                          <a:latin typeface="Arial"/>
                        </a:defRPr>
                      </a:pPr>
                      <a:r>
                        <a:t>TẬP DỮ LIỆU</a:t>
                      </a:r>
                    </a:p>
                  </a:txBody>
                  <a:tcPr>
                    <a:solidFill>
                      <a:srgbClr val="1565C0"/>
                    </a:solidFill>
                  </a:tcPr>
                </a:tc>
                <a:tc>
                  <a:txBody>
                    <a:bodyPr/>
                    <a:lstStyle/>
                    <a:p>
                      <a:pPr algn="ctr">
                        <a:defRPr sz="1600" b="1">
                          <a:solidFill>
                            <a:srgbClr val="FFFFFF"/>
                          </a:solidFill>
                          <a:latin typeface="Arial"/>
                        </a:defRPr>
                      </a:pPr>
                      <a:r>
                        <a:t>KHÔNG CHÁY (LỚP 0)</a:t>
                      </a:r>
                    </a:p>
                  </a:txBody>
                  <a:tcPr>
                    <a:solidFill>
                      <a:srgbClr val="1565C0"/>
                    </a:solidFill>
                  </a:tcPr>
                </a:tc>
                <a:tc>
                  <a:txBody>
                    <a:bodyPr/>
                    <a:lstStyle/>
                    <a:p>
                      <a:pPr algn="ctr">
                        <a:defRPr sz="1600" b="1">
                          <a:solidFill>
                            <a:srgbClr val="FFFFFF"/>
                          </a:solidFill>
                          <a:latin typeface="Arial"/>
                        </a:defRPr>
                      </a:pPr>
                      <a:r>
                        <a:t>CHÁY (LỚP 1)</a:t>
                      </a:r>
                    </a:p>
                  </a:txBody>
                  <a:tcPr>
                    <a:solidFill>
                      <a:srgbClr val="1565C0"/>
                    </a:solidFill>
                  </a:tcPr>
                </a:tc>
                <a:tc>
                  <a:txBody>
                    <a:bodyPr/>
                    <a:lstStyle/>
                    <a:p>
                      <a:pPr algn="ctr">
                        <a:defRPr sz="1600" b="1">
                          <a:solidFill>
                            <a:srgbClr val="FFFFFF"/>
                          </a:solidFill>
                          <a:latin typeface="Arial"/>
                        </a:defRPr>
                      </a:pPr>
                      <a:r>
                        <a:t>TỔNG SỐ ẢNH</a:t>
                      </a:r>
                    </a:p>
                  </a:txBody>
                  <a:tcPr>
                    <a:solidFill>
                      <a:srgbClr val="1565C0"/>
                    </a:solidFill>
                  </a:tcPr>
                </a:tc>
                <a:tc>
                  <a:txBody>
                    <a:bodyPr/>
                    <a:lstStyle/>
                    <a:p>
                      <a:pPr algn="ctr">
                        <a:defRPr sz="1600" b="1">
                          <a:solidFill>
                            <a:srgbClr val="FFFFFF"/>
                          </a:solidFill>
                          <a:latin typeface="Arial"/>
                        </a:defRPr>
                      </a:pPr>
                      <a:r>
                        <a:t>TỶ LỆ PHÂN BỐ</a:t>
                      </a:r>
                    </a:p>
                  </a:txBody>
                  <a:tcPr>
                    <a:solidFill>
                      <a:srgbClr val="1565C0"/>
                    </a:solidFill>
                  </a:tcPr>
                </a:tc>
              </a:tr>
              <a:tr h="560000">
                <a:tc>
                  <a:txBody>
                    <a:bodyPr/>
                    <a:lstStyle/>
                    <a:p>
                      <a:pPr>
                        <a:defRPr sz="1500" b="1">
                          <a:solidFill>
                            <a:srgbClr val="0F172A"/>
                          </a:solidFill>
                          <a:latin typeface="Arial"/>
                        </a:defRPr>
                      </a:pPr>
                      <a:r>
                        <a:t>Tập Huấn luyện (Train)</a:t>
                      </a:r>
                    </a:p>
                  </a:txBody>
                  <a:tcPr>
                    <a:solidFill>
                      <a:srgbClr val="FFFFFF"/>
                    </a:solidFill>
                  </a:tcPr>
                </a:tc>
                <a:tc>
                  <a:txBody>
                    <a:bodyPr/>
                    <a:lstStyle/>
                    <a:p>
                      <a:pPr algn="ctr">
                        <a:defRPr sz="1500">
                          <a:solidFill>
                            <a:srgbClr val="0F172A"/>
                          </a:solidFill>
                          <a:latin typeface="Arial"/>
                        </a:defRPr>
                      </a:pPr>
                      <a:r>
                        <a:t>609 ảnh (50.2%)</a:t>
                      </a:r>
                    </a:p>
                  </a:txBody>
                  <a:tcPr>
                    <a:solidFill>
                      <a:srgbClr val="FFFFFF"/>
                    </a:solidFill>
                  </a:tcPr>
                </a:tc>
                <a:tc>
                  <a:txBody>
                    <a:bodyPr/>
                    <a:lstStyle/>
                    <a:p>
                      <a:pPr algn="ctr">
                        <a:defRPr sz="1500">
                          <a:solidFill>
                            <a:srgbClr val="0F172A"/>
                          </a:solidFill>
                          <a:latin typeface="Arial"/>
                        </a:defRPr>
                      </a:pPr>
                      <a:r>
                        <a:t>604 ảnh (49.8%)</a:t>
                      </a:r>
                    </a:p>
                  </a:txBody>
                  <a:tcPr>
                    <a:solidFill>
                      <a:srgbClr val="FFFFFF"/>
                    </a:solidFill>
                  </a:tcPr>
                </a:tc>
                <a:tc>
                  <a:txBody>
                    <a:bodyPr/>
                    <a:lstStyle/>
                    <a:p>
                      <a:pPr algn="ctr">
                        <a:defRPr sz="1500">
                          <a:solidFill>
                            <a:srgbClr val="0F172A"/>
                          </a:solidFill>
                          <a:latin typeface="Arial"/>
                        </a:defRPr>
                      </a:pPr>
                      <a:r>
                        <a:t>1.213 ảnh</a:t>
                      </a:r>
                    </a:p>
                  </a:txBody>
                  <a:tcPr>
                    <a:solidFill>
                      <a:srgbClr val="FFFFFF"/>
                    </a:solidFill>
                  </a:tcPr>
                </a:tc>
                <a:tc>
                  <a:txBody>
                    <a:bodyPr/>
                    <a:lstStyle/>
                    <a:p>
                      <a:pPr algn="ctr">
                        <a:defRPr sz="1500">
                          <a:solidFill>
                            <a:srgbClr val="0F172A"/>
                          </a:solidFill>
                          <a:latin typeface="Arial"/>
                        </a:defRPr>
                      </a:pPr>
                      <a:r>
                        <a:t>Cân bằng gần 1:1 (~64%)</a:t>
                      </a:r>
                    </a:p>
                  </a:txBody>
                  <a:tcPr>
                    <a:solidFill>
                      <a:srgbClr val="FFFFFF"/>
                    </a:solidFill>
                  </a:tcPr>
                </a:tc>
              </a:tr>
              <a:tr h="560000">
                <a:tc>
                  <a:txBody>
                    <a:bodyPr/>
                    <a:lstStyle/>
                    <a:p>
                      <a:pPr>
                        <a:defRPr sz="1500" b="1">
                          <a:solidFill>
                            <a:srgbClr val="0F172A"/>
                          </a:solidFill>
                          <a:latin typeface="Arial"/>
                        </a:defRPr>
                      </a:pPr>
                      <a:r>
                        <a:t>Tập Thẩm định (Validation)</a:t>
                      </a:r>
                    </a:p>
                  </a:txBody>
                  <a:tcPr>
                    <a:solidFill>
                      <a:srgbClr val="F1F5F9"/>
                    </a:solidFill>
                  </a:tcPr>
                </a:tc>
                <a:tc>
                  <a:txBody>
                    <a:bodyPr/>
                    <a:lstStyle/>
                    <a:p>
                      <a:pPr algn="ctr">
                        <a:defRPr sz="1500">
                          <a:solidFill>
                            <a:srgbClr val="0F172A"/>
                          </a:solidFill>
                          <a:latin typeface="Arial"/>
                        </a:defRPr>
                      </a:pPr>
                      <a:r>
                        <a:t>151 ảnh (49.8%)</a:t>
                      </a:r>
                    </a:p>
                  </a:txBody>
                  <a:tcPr>
                    <a:solidFill>
                      <a:srgbClr val="F1F5F9"/>
                    </a:solidFill>
                  </a:tcPr>
                </a:tc>
                <a:tc>
                  <a:txBody>
                    <a:bodyPr/>
                    <a:lstStyle/>
                    <a:p>
                      <a:pPr algn="ctr">
                        <a:defRPr sz="1500">
                          <a:solidFill>
                            <a:srgbClr val="0F172A"/>
                          </a:solidFill>
                          <a:latin typeface="Arial"/>
                        </a:defRPr>
                      </a:pPr>
                      <a:r>
                        <a:t>152 ảnh (50.2%)</a:t>
                      </a:r>
                    </a:p>
                  </a:txBody>
                  <a:tcPr>
                    <a:solidFill>
                      <a:srgbClr val="F1F5F9"/>
                    </a:solidFill>
                  </a:tcPr>
                </a:tc>
                <a:tc>
                  <a:txBody>
                    <a:bodyPr/>
                    <a:lstStyle/>
                    <a:p>
                      <a:pPr algn="ctr">
                        <a:defRPr sz="1500">
                          <a:solidFill>
                            <a:srgbClr val="0F172A"/>
                          </a:solidFill>
                          <a:latin typeface="Arial"/>
                        </a:defRPr>
                      </a:pPr>
                      <a:r>
                        <a:t>303 ảnh</a:t>
                      </a:r>
                    </a:p>
                  </a:txBody>
                  <a:tcPr>
                    <a:solidFill>
                      <a:srgbClr val="F1F5F9"/>
                    </a:solidFill>
                  </a:tcPr>
                </a:tc>
                <a:tc>
                  <a:txBody>
                    <a:bodyPr/>
                    <a:lstStyle/>
                    <a:p>
                      <a:pPr algn="ctr">
                        <a:defRPr sz="1500">
                          <a:solidFill>
                            <a:srgbClr val="0F172A"/>
                          </a:solidFill>
                          <a:latin typeface="Arial"/>
                        </a:defRPr>
                      </a:pPr>
                      <a:r>
                        <a:t>Cân bằng 1:1 (~16%)</a:t>
                      </a:r>
                    </a:p>
                  </a:txBody>
                  <a:tcPr>
                    <a:solidFill>
                      <a:srgbClr val="F1F5F9"/>
                    </a:solidFill>
                  </a:tcPr>
                </a:tc>
              </a:tr>
              <a:tr h="560000">
                <a:tc>
                  <a:txBody>
                    <a:bodyPr/>
                    <a:lstStyle/>
                    <a:p>
                      <a:pPr>
                        <a:defRPr sz="1500" b="1">
                          <a:solidFill>
                            <a:srgbClr val="0F172A"/>
                          </a:solidFill>
                          <a:latin typeface="Arial"/>
                        </a:defRPr>
                      </a:pPr>
                      <a:r>
                        <a:t>Tập Kiểm thử (Test)</a:t>
                      </a:r>
                    </a:p>
                  </a:txBody>
                  <a:tcPr>
                    <a:solidFill>
                      <a:srgbClr val="FFFFFF"/>
                    </a:solidFill>
                  </a:tcPr>
                </a:tc>
                <a:tc>
                  <a:txBody>
                    <a:bodyPr/>
                    <a:lstStyle/>
                    <a:p>
                      <a:pPr algn="ctr">
                        <a:defRPr sz="1500">
                          <a:solidFill>
                            <a:srgbClr val="0F172A"/>
                          </a:solidFill>
                          <a:latin typeface="Arial"/>
                        </a:defRPr>
                      </a:pPr>
                      <a:r>
                        <a:t>190 ảnh (50.0%)</a:t>
                      </a:r>
                    </a:p>
                  </a:txBody>
                  <a:tcPr>
                    <a:solidFill>
                      <a:srgbClr val="FFFFFF"/>
                    </a:solidFill>
                  </a:tcPr>
                </a:tc>
                <a:tc>
                  <a:txBody>
                    <a:bodyPr/>
                    <a:lstStyle/>
                    <a:p>
                      <a:pPr algn="ctr">
                        <a:defRPr sz="1500">
                          <a:solidFill>
                            <a:srgbClr val="0F172A"/>
                          </a:solidFill>
                          <a:latin typeface="Arial"/>
                        </a:defRPr>
                      </a:pPr>
                      <a:r>
                        <a:t>190 ảnh (50.0%)</a:t>
                      </a:r>
                    </a:p>
                  </a:txBody>
                  <a:tcPr>
                    <a:solidFill>
                      <a:srgbClr val="FFFFFF"/>
                    </a:solidFill>
                  </a:tcPr>
                </a:tc>
                <a:tc>
                  <a:txBody>
                    <a:bodyPr/>
                    <a:lstStyle/>
                    <a:p>
                      <a:pPr algn="ctr">
                        <a:defRPr sz="1500">
                          <a:solidFill>
                            <a:srgbClr val="0F172A"/>
                          </a:solidFill>
                          <a:latin typeface="Arial"/>
                        </a:defRPr>
                      </a:pPr>
                      <a:r>
                        <a:t>380 ảnh</a:t>
                      </a:r>
                    </a:p>
                  </a:txBody>
                  <a:tcPr>
                    <a:solidFill>
                      <a:srgbClr val="FFFFFF"/>
                    </a:solidFill>
                  </a:tcPr>
                </a:tc>
                <a:tc>
                  <a:txBody>
                    <a:bodyPr/>
                    <a:lstStyle/>
                    <a:p>
                      <a:pPr algn="ctr">
                        <a:defRPr sz="1500">
                          <a:solidFill>
                            <a:srgbClr val="0F172A"/>
                          </a:solidFill>
                          <a:latin typeface="Arial"/>
                        </a:defRPr>
                      </a:pPr>
                      <a:r>
                        <a:t>Cân bằng tuyệt đối (20%)</a:t>
                      </a:r>
                    </a:p>
                  </a:txBody>
                  <a:tcPr>
                    <a:solidFill>
                      <a:srgbClr val="FFFFFF"/>
                    </a:solidFill>
                  </a:tcPr>
                </a:tc>
              </a:tr>
              <a:tr h="560000">
                <a:tc>
                  <a:txBody>
                    <a:bodyPr/>
                    <a:lstStyle/>
                    <a:p>
                      <a:pPr>
                        <a:defRPr sz="1500" b="1">
                          <a:solidFill>
                            <a:srgbClr val="0F172A"/>
                          </a:solidFill>
                          <a:latin typeface="Arial"/>
                        </a:defRPr>
                      </a:pPr>
                      <a:r>
                        <a:t>TỔNG CỘNG THỰC DÙNG</a:t>
                      </a:r>
                    </a:p>
                  </a:txBody>
                  <a:tcPr>
                    <a:solidFill>
                      <a:srgbClr val="EEF6FF"/>
                    </a:solidFill>
                  </a:tcPr>
                </a:tc>
                <a:tc>
                  <a:txBody>
                    <a:bodyPr/>
                    <a:lstStyle/>
                    <a:p>
                      <a:pPr algn="ctr">
                        <a:defRPr sz="1500" b="1">
                          <a:solidFill>
                            <a:srgbClr val="0F172A"/>
                          </a:solidFill>
                          <a:latin typeface="Arial"/>
                        </a:defRPr>
                      </a:pPr>
                      <a:r>
                        <a:t>950 ảnh</a:t>
                      </a:r>
                    </a:p>
                  </a:txBody>
                  <a:tcPr>
                    <a:solidFill>
                      <a:srgbClr val="EEF6FF"/>
                    </a:solidFill>
                  </a:tcPr>
                </a:tc>
                <a:tc>
                  <a:txBody>
                    <a:bodyPr/>
                    <a:lstStyle/>
                    <a:p>
                      <a:pPr algn="ctr">
                        <a:defRPr sz="1500" b="1">
                          <a:solidFill>
                            <a:srgbClr val="0F172A"/>
                          </a:solidFill>
                          <a:latin typeface="Arial"/>
                        </a:defRPr>
                      </a:pPr>
                      <a:r>
                        <a:t>946 ảnh</a:t>
                      </a:r>
                    </a:p>
                  </a:txBody>
                  <a:tcPr>
                    <a:solidFill>
                      <a:srgbClr val="EEF6FF"/>
                    </a:solidFill>
                  </a:tcPr>
                </a:tc>
                <a:tc>
                  <a:txBody>
                    <a:bodyPr/>
                    <a:lstStyle/>
                    <a:p>
                      <a:pPr algn="ctr">
                        <a:defRPr sz="1500" b="1">
                          <a:solidFill>
                            <a:srgbClr val="0F172A"/>
                          </a:solidFill>
                          <a:latin typeface="Arial"/>
                        </a:defRPr>
                      </a:pPr>
                      <a:r>
                        <a:t>1.896 ảnh</a:t>
                      </a:r>
                    </a:p>
                  </a:txBody>
                  <a:tcPr>
                    <a:solidFill>
                      <a:srgbClr val="EEF6FF"/>
                    </a:solidFill>
                  </a:tcPr>
                </a:tc>
                <a:tc>
                  <a:txBody>
                    <a:bodyPr/>
                    <a:lstStyle/>
                    <a:p>
                      <a:pPr algn="ctr">
                        <a:defRPr sz="1500" b="1">
                          <a:solidFill>
                            <a:srgbClr val="0F172A"/>
                          </a:solidFill>
                          <a:latin typeface="Arial"/>
                        </a:defRPr>
                      </a:pPr>
                      <a:r>
                        <a:t>Tỷ lệ lý tưởng cho Học máy</a:t>
                      </a:r>
                    </a:p>
                  </a:txBody>
                  <a:tcPr>
                    <a:solidFill>
                      <a:srgbClr val="EEF6FF"/>
                    </a:solidFill>
                  </a:tcPr>
                </a:tc>
              </a:tr>
            </a:tbl>
          </a:graphicData>
        </a:graphic>
      </p:graphicFrame>
      <p:sp>
        <p:nvSpPr>
          <p:cNvPr id="19" name="Rounded Rectangle 18"/>
          <p:cNvSpPr/>
          <p:nvPr/>
        </p:nvSpPr>
        <p:spPr>
          <a:xfrm>
            <a:off x="1016000" y="7550000"/>
            <a:ext cx="9500000" cy="36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00000" y="7700000"/>
            <a:ext cx="9100000" cy="3300000"/>
          </a:xfrm>
          <a:prstGeom prst="rect">
            <a:avLst/>
          </a:prstGeom>
          <a:noFill/>
        </p:spPr>
        <p:txBody>
          <a:bodyPr wrap="square">
            <a:spAutoFit/>
          </a:bodyPr>
          <a:lstStyle/>
          <a:p>
            <a:pPr>
              <a:defRPr sz="1800" b="1">
                <a:solidFill>
                  <a:srgbClr val="1565C0"/>
                </a:solidFill>
                <a:latin typeface="Arial"/>
              </a:defRPr>
            </a:pPr>
            <a:r>
              <a:t>CƠ CHẾ THU THẬP &amp; GÁN NHÃN NGUỒN</a:t>
            </a:r>
          </a:p>
          <a:p>
            <a:pPr>
              <a:defRPr sz="1400">
                <a:solidFill>
                  <a:srgbClr val="0F172A"/>
                </a:solidFill>
                <a:latin typeface="Arial"/>
              </a:defRPr>
            </a:pPr>
            <a:r>
              <a:t>• Nguồn: Bộ dữ liệu DeepFire / Forest Fire Dataset của A. Khan và cộng sự (2022), phân phối trên Kaggle bởi tác giả alik05.</a:t>
            </a:r>
          </a:p>
          <a:p>
            <a:pPr>
              <a:defRPr sz="1400">
                <a:solidFill>
                  <a:srgbClr val="0F172A"/>
                </a:solidFill>
                <a:latin typeface="Arial"/>
              </a:defRPr>
            </a:pPr>
            <a:r>
              <a:t>• Cơ chế gán nhãn: Nhãn được gán chuẩn theo tiền tố file nofire_ (lớp 0) và fire_ (lớp 1) của tác giả, không phải tự động đoán.</a:t>
            </a:r>
          </a:p>
          <a:p>
            <a:pPr>
              <a:defRPr sz="1400">
                <a:solidFill>
                  <a:srgbClr val="0F172A"/>
                </a:solidFill>
                <a:latin typeface="Arial"/>
              </a:defRPr>
            </a:pPr>
            <a:r>
              <a:t>• Nhận định cân bằng: Cả lớp Cháy và Không cháy đều có 950 ảnh (1:1), do đó KHÔNG gặp hiện tượng mất cân bằng lớp và không cần SMOTE.</a:t>
            </a:r>
          </a:p>
        </p:txBody>
      </p:sp>
      <p:sp>
        <p:nvSpPr>
          <p:cNvPr id="21" name="Rounded Rectangle 20"/>
          <p:cNvSpPr/>
          <p:nvPr/>
        </p:nvSpPr>
        <p:spPr>
          <a:xfrm>
            <a:off x="10900000" y="7550000"/>
            <a:ext cx="9758709" cy="360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00000" y="7700000"/>
            <a:ext cx="9350000" cy="3300000"/>
          </a:xfrm>
          <a:prstGeom prst="rect">
            <a:avLst/>
          </a:prstGeom>
          <a:noFill/>
        </p:spPr>
        <p:txBody>
          <a:bodyPr wrap="square">
            <a:spAutoFit/>
          </a:bodyPr>
          <a:lstStyle/>
          <a:p>
            <a:pPr>
              <a:defRPr sz="1800" b="1">
                <a:solidFill>
                  <a:srgbClr val="FF6F00"/>
                </a:solidFill>
                <a:latin typeface="Arial"/>
              </a:defRPr>
            </a:pPr>
            <a:r>
              <a:t>KỸ THUẬT KIỂM TOÁN CHỐNG RÒ RỈ DỮ LIỆU (DATA LEAKAGE)</a:t>
            </a:r>
          </a:p>
          <a:p>
            <a:pPr>
              <a:defRPr sz="1400">
                <a:solidFill>
                  <a:srgbClr val="0F172A"/>
                </a:solidFill>
                <a:latin typeface="Arial"/>
              </a:defRPr>
            </a:pPr>
            <a:r>
              <a:t>• Băm SHA-256: Phát hiện và loại bỏ chính xác 2 ảnh trùng pixel hoàn toàn.</a:t>
            </a:r>
          </a:p>
          <a:p>
            <a:pPr>
              <a:defRPr sz="1400">
                <a:solidFill>
                  <a:srgbClr val="0F172A"/>
                </a:solidFill>
                <a:latin typeface="Arial"/>
              </a:defRPr>
            </a:pPr>
            <a:r>
              <a:t>• 64-bit dHash (ngưỡng Hamming &lt;= 4): Phát hiện các ảnh gần trùng (near-duplicates, chụp cùng cảnh chỉ đổi góc chụp hoặc độ sáng).</a:t>
            </a:r>
          </a:p>
          <a:p>
            <a:pPr>
              <a:defRPr sz="1400">
                <a:solidFill>
                  <a:srgbClr val="0F172A"/>
                </a:solidFill>
                <a:latin typeface="Arial"/>
              </a:defRPr>
            </a:pPr>
            <a:r>
              <a:t>• Phân tách ranh giới: Loại bỏ 2 ảnh Train dính nhóm với Test; dùng StratifiedGroupKFold để các cụm dHash không bao giờ giao nhau giữa Train/Val/Test.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Phân Tích Dữ Liệu (EDA): Phân Bố &amp; Đa Dạng Hình Ảnh</a:t>
            </a:r>
          </a:p>
          <a:p>
            <a:pPr>
              <a:defRPr sz="1600" i="1" b="1">
                <a:solidFill>
                  <a:srgbClr val="1565C0"/>
                </a:solidFill>
                <a:latin typeface="Arial"/>
              </a:defRPr>
            </a:pPr>
            <a:r>
              <a:t>Mục tiêu môn học: Mục 3.1: EDA trực quan cho dữ liệu dạng Ảnh</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4 / 18</a:t>
            </a:r>
          </a:p>
        </p:txBody>
      </p:sp>
      <p:pic>
        <p:nvPicPr>
          <p:cNvPr id="12" name="Picture 11" descr="01_class_distribution.png"/>
          <p:cNvPicPr>
            <a:picLocks noChangeAspect="1"/>
          </p:cNvPicPr>
          <p:nvPr/>
        </p:nvPicPr>
        <p:blipFill>
          <a:blip r:embed="rId2"/>
          <a:stretch>
            <a:fillRect/>
          </a:stretch>
        </p:blipFill>
        <p:spPr>
          <a:xfrm>
            <a:off x="1016000" y="2150000"/>
            <a:ext cx="9500000" cy="4800000"/>
          </a:xfrm>
          <a:prstGeom prst="rect">
            <a:avLst/>
          </a:prstGeom>
        </p:spPr>
      </p:pic>
      <p:pic>
        <p:nvPicPr>
          <p:cNvPr id="13" name="Picture 12" descr="02_samples.png"/>
          <p:cNvPicPr>
            <a:picLocks noChangeAspect="1"/>
          </p:cNvPicPr>
          <p:nvPr/>
        </p:nvPicPr>
        <p:blipFill>
          <a:blip r:embed="rId3"/>
          <a:stretch>
            <a:fillRect/>
          </a:stretch>
        </p:blipFill>
        <p:spPr>
          <a:xfrm>
            <a:off x="10900000" y="2150000"/>
            <a:ext cx="9758709" cy="4800000"/>
          </a:xfrm>
          <a:prstGeom prst="rect">
            <a:avLst/>
          </a:prstGeom>
        </p:spPr>
      </p:pic>
      <p:sp>
        <p:nvSpPr>
          <p:cNvPr id="14" name="Rounded Rectangle 13"/>
          <p:cNvSpPr/>
          <p:nvPr/>
        </p:nvSpPr>
        <p:spPr>
          <a:xfrm>
            <a:off x="1016000" y="7200000"/>
            <a:ext cx="19642709" cy="395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0000" y="7350000"/>
            <a:ext cx="19200000" cy="3650000"/>
          </a:xfrm>
          <a:prstGeom prst="rect">
            <a:avLst/>
          </a:prstGeom>
          <a:noFill/>
        </p:spPr>
        <p:txBody>
          <a:bodyPr wrap="square">
            <a:spAutoFit/>
          </a:bodyPr>
          <a:lstStyle/>
          <a:p>
            <a:pPr>
              <a:defRPr sz="1800" b="1">
                <a:solidFill>
                  <a:srgbClr val="1565C0"/>
                </a:solidFill>
                <a:latin typeface="Arial"/>
              </a:defRPr>
            </a:pPr>
            <a:r>
              <a:t>NHẬN XÉT PHÂN TÍCH KHÁM PHÁ DỮ LIỆU ẢNH (EDA INSIGHTS):</a:t>
            </a:r>
          </a:p>
          <a:p>
            <a:pPr>
              <a:defRPr sz="1500">
                <a:solidFill>
                  <a:srgbClr val="0F172A"/>
                </a:solidFill>
                <a:latin typeface="Arial"/>
              </a:defRPr>
            </a:pPr>
            <a:r>
              <a:t>1. Tính cân bằng phân bố: Biểu đồ cột bên trái khẳng định tỉ lệ lớp 0 và lớp 1 được phân bố đồng đều hoàn hảo trên cả 3 tập Train (1.213), Validation (303) và Test (380). Không có tập nào bị lệch lớp.</a:t>
            </a:r>
          </a:p>
          <a:p>
            <a:pPr>
              <a:defRPr sz="1500">
                <a:solidFill>
                  <a:srgbClr val="0F172A"/>
                </a:solidFill>
                <a:latin typeface="Arial"/>
              </a:defRPr>
            </a:pPr>
            <a:r>
              <a:t>2. Đa dạng hình thái lớp Cháy (Fire): Đám cháy trong thực tế không chỉ có một màu đỏ đồng nhất; có ảnh lửa bùng phát cao (cháy rừng ban đêm), có ảnh chỉ thấy cột khói trắng dày đặc che lấp tán cây, có ảnh lửa âm ỉ nền đất tối.</a:t>
            </a:r>
          </a:p>
          <a:p>
            <a:pPr>
              <a:defRPr sz="1500">
                <a:solidFill>
                  <a:srgbClr val="0F172A"/>
                </a:solidFill>
                <a:latin typeface="Arial"/>
              </a:defRPr>
            </a:pPr>
            <a:r>
              <a:t>3. Thách thức phân loại từ lớp Không cháy (No Fire): Xuất hiện nhiều cảnh quan phức tạp như núi đá nắng gắt, rừng rậm rạp bóng râm, cây lá vàng/đỏ mùa thu rất dễ gây nhầm lẫn với màu ngọn lửa nếu chỉ dùng quy tắc lọc màu đơn giản.</a:t>
            </a:r>
          </a:p>
          <a:p>
            <a:pPr>
              <a:defRPr sz="1500" b="1">
                <a:solidFill>
                  <a:srgbClr val="0D47A1"/>
                </a:solidFill>
                <a:latin typeface="Arial"/>
              </a:defRPr>
            </a:pPr>
            <a:r>
              <a:t>👉 KẾT LUẬN EDA 1: Không thể áp dụng phương pháp ngưỡng màu đơn biến (Thresholding). Bắt buộc phải kết hợp cả thông tin Màu Sắc (Color Histogram) và Cấu Trúc Đường Nét Cạnh (HOG) để mô hình học máy phân biệt.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EDA Chất Lượng Ảnh, Sắc Độ Màu Sắc &amp; Ảnh Trung Bình</a:t>
            </a:r>
          </a:p>
          <a:p>
            <a:pPr>
              <a:defRPr sz="1600" i="1" b="1">
                <a:solidFill>
                  <a:srgbClr val="1565C0"/>
                </a:solidFill>
                <a:latin typeface="Arial"/>
              </a:defRPr>
            </a:pPr>
            <a:r>
              <a:t>Mục tiêu môn học: Mục 3.1: Kích thước, độ sáng, độ sắc nét Laplacian, phân bố Hue/RGB</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5 / 18</a:t>
            </a:r>
          </a:p>
        </p:txBody>
      </p:sp>
      <p:pic>
        <p:nvPicPr>
          <p:cNvPr id="12" name="Picture 11" descr="03_quality.png"/>
          <p:cNvPicPr>
            <a:picLocks noChangeAspect="1"/>
          </p:cNvPicPr>
          <p:nvPr/>
        </p:nvPicPr>
        <p:blipFill>
          <a:blip r:embed="rId2"/>
          <a:stretch>
            <a:fillRect/>
          </a:stretch>
        </p:blipFill>
        <p:spPr>
          <a:xfrm>
            <a:off x="1016000" y="2150000"/>
            <a:ext cx="6200000" cy="4800000"/>
          </a:xfrm>
          <a:prstGeom prst="rect">
            <a:avLst/>
          </a:prstGeom>
        </p:spPr>
      </p:pic>
      <p:pic>
        <p:nvPicPr>
          <p:cNvPr id="13" name="Picture 12" descr="04_color.png"/>
          <p:cNvPicPr>
            <a:picLocks noChangeAspect="1"/>
          </p:cNvPicPr>
          <p:nvPr/>
        </p:nvPicPr>
        <p:blipFill>
          <a:blip r:embed="rId3"/>
          <a:stretch>
            <a:fillRect/>
          </a:stretch>
        </p:blipFill>
        <p:spPr>
          <a:xfrm>
            <a:off x="7616000" y="2150000"/>
            <a:ext cx="6800000" cy="4800000"/>
          </a:xfrm>
          <a:prstGeom prst="rect">
            <a:avLst/>
          </a:prstGeom>
        </p:spPr>
      </p:pic>
      <p:pic>
        <p:nvPicPr>
          <p:cNvPr id="14" name="Picture 13" descr="05_mean_images.png"/>
          <p:cNvPicPr>
            <a:picLocks noChangeAspect="1"/>
          </p:cNvPicPr>
          <p:nvPr/>
        </p:nvPicPr>
        <p:blipFill>
          <a:blip r:embed="rId4"/>
          <a:stretch>
            <a:fillRect/>
          </a:stretch>
        </p:blipFill>
        <p:spPr>
          <a:xfrm>
            <a:off x="14816000" y="2150000"/>
            <a:ext cx="5842709" cy="4800000"/>
          </a:xfrm>
          <a:prstGeom prst="rect">
            <a:avLst/>
          </a:prstGeom>
        </p:spPr>
      </p:pic>
      <p:sp>
        <p:nvSpPr>
          <p:cNvPr id="15" name="Rounded Rectangle 14"/>
          <p:cNvSpPr/>
          <p:nvPr/>
        </p:nvSpPr>
        <p:spPr>
          <a:xfrm>
            <a:off x="1016000" y="7200000"/>
            <a:ext cx="19642709" cy="395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0000" y="7350000"/>
            <a:ext cx="19200000" cy="3650000"/>
          </a:xfrm>
          <a:prstGeom prst="rect">
            <a:avLst/>
          </a:prstGeom>
          <a:noFill/>
        </p:spPr>
        <p:txBody>
          <a:bodyPr wrap="square">
            <a:spAutoFit/>
          </a:bodyPr>
          <a:lstStyle/>
          <a:p>
            <a:pPr>
              <a:defRPr sz="1800" b="1">
                <a:solidFill>
                  <a:srgbClr val="1565C0"/>
                </a:solidFill>
                <a:latin typeface="Arial"/>
              </a:defRPr>
            </a:pPr>
            <a:r>
              <a:t>PHÂN TÍCH ĐỊNH LƯỢNG CHỈ SỐ KỸ THUẬT CỦA ẢNH (QUANTITATIVE EDA):</a:t>
            </a:r>
          </a:p>
          <a:p>
            <a:pPr>
              <a:defRPr sz="1500">
                <a:solidFill>
                  <a:srgbClr val="0F172A"/>
                </a:solidFill>
                <a:latin typeface="Arial"/>
              </a:defRPr>
            </a:pPr>
            <a:r>
              <a:t>• Kích thước ảnh (Resolution): Trong 1.896 ảnh giữ lại, có 1.822 ảnh kích thước 250x250 (chiếm 96.1%), 1 ảnh 252x252 và 73 ảnh 256x256. Do đó, bước Resize về một kích thước chuẩn (96x96) là hoàn toàn bắt buộc.</a:t>
            </a:r>
          </a:p>
          <a:p>
            <a:pPr>
              <a:defRPr sz="1500">
                <a:solidFill>
                  <a:srgbClr val="0F172A"/>
                </a:solidFill>
                <a:latin typeface="Arial"/>
              </a:defRPr>
            </a:pPr>
            <a:r>
              <a:t>• Độ sáng &amp; Độ sắc nét (Laplacian Variance): Lớp Cháy có độ sáng trung bình 0.339 (tối hơn lớp Không cháy 0.401) do nhiều ảnh chụp lửa trong nền khói đặc hoặc ban đêm. Phương sai Laplacian đo độ sắc nét cho thấy phân bố chồng lấn lớn giữa 2 lớp.</a:t>
            </a:r>
          </a:p>
          <a:p>
            <a:pPr>
              <a:defRPr sz="1500">
                <a:solidFill>
                  <a:srgbClr val="0F172A"/>
                </a:solidFill>
                <a:latin typeface="Arial"/>
              </a:defRPr>
            </a:pPr>
            <a:r>
              <a:t>• Phân bố màu sắc Hue &amp; RGB: Lớp Cháy có đỉnh phân bố Hue tập trung rất mạnh ở vùng màu ấm (đỏ, cam, vàng). Cường độ kênh Red trung bình của lớp Cháy đạt 0.476, cao hơn hẳn mức 0.377 của lớp Không cháy.</a:t>
            </a:r>
          </a:p>
          <a:p>
            <a:pPr>
              <a:defRPr sz="1500">
                <a:solidFill>
                  <a:srgbClr val="0F172A"/>
                </a:solidFill>
                <a:latin typeface="Arial"/>
              </a:defRPr>
            </a:pPr>
            <a:r>
              <a:t>• Ảnh trung bình (Mean Images): Ảnh trung bình lớp Không cháy có sắc xanh lá và xám tán xạ đồng đều; ảnh lớp Cháy ám sắc cam nâu rực rỡ ở vùng trung tâm. Tuy nhiên, vị trí đám cháy xuất hiện ngẫu nhiên nên không thể dùng mặt nạ vị trí cố định.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Quy Trình Tiền Xử Lý Dữ Liệu &amp; Trích Xuất Đặc Trưng</a:t>
            </a:r>
          </a:p>
          <a:p>
            <a:pPr>
              <a:defRPr sz="1600" i="1" b="1">
                <a:solidFill>
                  <a:srgbClr val="1565C0"/>
                </a:solidFill>
                <a:latin typeface="Arial"/>
              </a:defRPr>
            </a:pPr>
            <a:r>
              <a:t>Mục tiêu môn học: Mục 3.2 &amp; 4: Tiền xử lý, chuẩn hóa, HSV Histogram, HOG, PCA Pipeline</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6 / 18</a:t>
            </a:r>
          </a:p>
        </p:txBody>
      </p:sp>
      <p:sp>
        <p:nvSpPr>
          <p:cNvPr id="12" name="Rounded Rectangle 11"/>
          <p:cNvSpPr/>
          <p:nvPr/>
        </p:nvSpPr>
        <p:spPr>
          <a:xfrm>
            <a:off x="1016000" y="2150000"/>
            <a:ext cx="4700000" cy="36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6000" y="2250000"/>
            <a:ext cx="4400000" cy="3300000"/>
          </a:xfrm>
          <a:prstGeom prst="rect">
            <a:avLst/>
          </a:prstGeom>
          <a:noFill/>
        </p:spPr>
        <p:txBody>
          <a:bodyPr wrap="square">
            <a:spAutoFit/>
          </a:bodyPr>
          <a:lstStyle/>
          <a:p>
            <a:pPr>
              <a:defRPr sz="1700" b="1">
                <a:solidFill>
                  <a:srgbClr val="1565C0"/>
                </a:solidFill>
                <a:latin typeface="Arial"/>
              </a:defRPr>
            </a:pPr>
            <a:r>
              <a:t>Bước 1: Chuẩn Hóa Ảnh</a:t>
            </a:r>
          </a:p>
          <a:p>
            <a:pPr>
              <a:defRPr sz="1400">
                <a:solidFill>
                  <a:srgbClr val="0F172A"/>
                </a:solidFill>
                <a:latin typeface="Arial"/>
              </a:defRPr>
            </a:pPr>
            <a:r>
              <a:t>• EXIF Transpose &amp; RGB</a:t>
            </a:r>
          </a:p>
          <a:p>
            <a:pPr>
              <a:defRPr sz="1400">
                <a:solidFill>
                  <a:srgbClr val="0F172A"/>
                </a:solidFill>
                <a:latin typeface="Arial"/>
              </a:defRPr>
            </a:pPr>
            <a:r>
              <a:t>• Resize cố định 96x96 px</a:t>
            </a:r>
          </a:p>
          <a:p>
            <a:pPr>
              <a:defRPr sz="1400">
                <a:solidFill>
                  <a:srgbClr val="0F172A"/>
                </a:solidFill>
                <a:latin typeface="Arial"/>
              </a:defRPr>
            </a:pPr>
            <a:r>
              <a:t>• Chia 255 đưa pixel về [0, 1]</a:t>
            </a:r>
          </a:p>
        </p:txBody>
      </p:sp>
      <p:sp>
        <p:nvSpPr>
          <p:cNvPr id="14" name="Rounded Rectangle 13"/>
          <p:cNvSpPr/>
          <p:nvPr/>
        </p:nvSpPr>
        <p:spPr>
          <a:xfrm>
            <a:off x="5966000" y="2150000"/>
            <a:ext cx="4700000" cy="36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16000" y="2250000"/>
            <a:ext cx="4400000" cy="3300000"/>
          </a:xfrm>
          <a:prstGeom prst="rect">
            <a:avLst/>
          </a:prstGeom>
          <a:noFill/>
        </p:spPr>
        <p:txBody>
          <a:bodyPr wrap="square">
            <a:spAutoFit/>
          </a:bodyPr>
          <a:lstStyle/>
          <a:p>
            <a:pPr>
              <a:defRPr sz="1700" b="1">
                <a:solidFill>
                  <a:srgbClr val="1565C0"/>
                </a:solidFill>
                <a:latin typeface="Arial"/>
              </a:defRPr>
            </a:pPr>
            <a:r>
              <a:t>Bước 2: Trích Màu Sắc</a:t>
            </a:r>
          </a:p>
          <a:p>
            <a:pPr>
              <a:defRPr sz="1400">
                <a:solidFill>
                  <a:srgbClr val="0F172A"/>
                </a:solidFill>
                <a:latin typeface="Arial"/>
              </a:defRPr>
            </a:pPr>
            <a:r>
              <a:t>• Color Histogram HSV</a:t>
            </a:r>
          </a:p>
          <a:p>
            <a:pPr>
              <a:defRPr sz="1400">
                <a:solidFill>
                  <a:srgbClr val="0F172A"/>
                </a:solidFill>
                <a:latin typeface="Arial"/>
              </a:defRPr>
            </a:pPr>
            <a:r>
              <a:t>• 32 bins Hue (sắc thái)</a:t>
            </a:r>
          </a:p>
          <a:p>
            <a:pPr>
              <a:defRPr sz="1400">
                <a:solidFill>
                  <a:srgbClr val="0F172A"/>
                </a:solidFill>
                <a:latin typeface="Arial"/>
              </a:defRPr>
            </a:pPr>
            <a:r>
              <a:t>• 16 bins S + 16 bins V = 64 chiều</a:t>
            </a:r>
          </a:p>
        </p:txBody>
      </p:sp>
      <p:sp>
        <p:nvSpPr>
          <p:cNvPr id="16" name="Rounded Rectangle 15"/>
          <p:cNvSpPr/>
          <p:nvPr/>
        </p:nvSpPr>
        <p:spPr>
          <a:xfrm>
            <a:off x="10916000" y="2150000"/>
            <a:ext cx="4700000" cy="36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066000" y="2250000"/>
            <a:ext cx="4400000" cy="3300000"/>
          </a:xfrm>
          <a:prstGeom prst="rect">
            <a:avLst/>
          </a:prstGeom>
          <a:noFill/>
        </p:spPr>
        <p:txBody>
          <a:bodyPr wrap="square">
            <a:spAutoFit/>
          </a:bodyPr>
          <a:lstStyle/>
          <a:p>
            <a:pPr>
              <a:defRPr sz="1700" b="1">
                <a:solidFill>
                  <a:srgbClr val="1565C0"/>
                </a:solidFill>
                <a:latin typeface="Arial"/>
              </a:defRPr>
            </a:pPr>
            <a:r>
              <a:t>Bước 3: Trích Cạnh &amp; Cấu Trúc</a:t>
            </a:r>
          </a:p>
          <a:p>
            <a:pPr>
              <a:defRPr sz="1400">
                <a:solidFill>
                  <a:srgbClr val="0F172A"/>
                </a:solidFill>
                <a:latin typeface="Arial"/>
              </a:defRPr>
            </a:pPr>
            <a:r>
              <a:t>• HOG Feature Extractor</a:t>
            </a:r>
          </a:p>
          <a:p>
            <a:pPr>
              <a:defRPr sz="1400">
                <a:solidFill>
                  <a:srgbClr val="0F172A"/>
                </a:solidFill>
                <a:latin typeface="Arial"/>
              </a:defRPr>
            </a:pPr>
            <a:r>
              <a:t>• 8 hướng gradients, cell 16x16</a:t>
            </a:r>
          </a:p>
          <a:p>
            <a:pPr>
              <a:defRPr sz="1400">
                <a:solidFill>
                  <a:srgbClr val="0F172A"/>
                </a:solidFill>
                <a:latin typeface="Arial"/>
              </a:defRPr>
            </a:pPr>
            <a:r>
              <a:t>• Khối block 2x2 = 800 chiều</a:t>
            </a:r>
          </a:p>
        </p:txBody>
      </p:sp>
      <p:sp>
        <p:nvSpPr>
          <p:cNvPr id="18" name="Rounded Rectangle 17"/>
          <p:cNvSpPr/>
          <p:nvPr/>
        </p:nvSpPr>
        <p:spPr>
          <a:xfrm>
            <a:off x="15866000" y="2150000"/>
            <a:ext cx="4700000" cy="36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16000" y="2250000"/>
            <a:ext cx="4400000" cy="3300000"/>
          </a:xfrm>
          <a:prstGeom prst="rect">
            <a:avLst/>
          </a:prstGeom>
          <a:noFill/>
        </p:spPr>
        <p:txBody>
          <a:bodyPr wrap="square">
            <a:spAutoFit/>
          </a:bodyPr>
          <a:lstStyle/>
          <a:p>
            <a:pPr>
              <a:defRPr sz="1700" b="1">
                <a:solidFill>
                  <a:srgbClr val="1565C0"/>
                </a:solidFill>
                <a:latin typeface="Arial"/>
              </a:defRPr>
            </a:pPr>
            <a:r>
              <a:t>Bước 4: Nén Chiều Pipeline</a:t>
            </a:r>
          </a:p>
          <a:p>
            <a:pPr>
              <a:defRPr sz="1400">
                <a:solidFill>
                  <a:srgbClr val="0F172A"/>
                </a:solidFill>
                <a:latin typeface="Arial"/>
              </a:defRPr>
            </a:pPr>
            <a:r>
              <a:t>• StandardScaler + PCA</a:t>
            </a:r>
          </a:p>
          <a:p>
            <a:pPr>
              <a:defRPr sz="1400">
                <a:solidFill>
                  <a:srgbClr val="0F172A"/>
                </a:solidFill>
                <a:latin typeface="Arial"/>
              </a:defRPr>
            </a:pPr>
            <a:r>
              <a:t>• Ghép vector: 864 đặc trưng</a:t>
            </a:r>
          </a:p>
          <a:p>
            <a:pPr>
              <a:defRPr sz="1400">
                <a:solidFill>
                  <a:srgbClr val="0F172A"/>
                </a:solidFill>
                <a:latin typeface="Arial"/>
              </a:defRPr>
            </a:pPr>
            <a:r>
              <a:t>• PCA giữ 95% var = 231 chiều</a:t>
            </a:r>
          </a:p>
        </p:txBody>
      </p:sp>
      <p:graphicFrame>
        <p:nvGraphicFramePr>
          <p:cNvPr id="20" name="Table 19"/>
          <p:cNvGraphicFramePr>
            <a:graphicFrameLocks noGrp="1"/>
          </p:cNvGraphicFramePr>
          <p:nvPr/>
        </p:nvGraphicFramePr>
        <p:xfrm>
          <a:off x="1016000" y="6000000"/>
          <a:ext cx="19642709" cy="3000000"/>
        </p:xfrm>
        <a:graphic>
          <a:graphicData uri="http://schemas.openxmlformats.org/drawingml/2006/table">
            <a:tbl>
              <a:tblPr firstRow="1" bandRow="1">
                <a:tableStyleId>{5C22544A-7EE6-4342-B048-85BDC9FD1C3A}</a:tableStyleId>
              </a:tblPr>
              <a:tblGrid>
                <a:gridCol w="3600000"/>
                <a:gridCol w="5000000"/>
                <a:gridCol w="5000000"/>
                <a:gridCol w="6042709"/>
              </a:tblGrid>
              <a:tr h="600000">
                <a:tc>
                  <a:txBody>
                    <a:bodyPr/>
                    <a:lstStyle/>
                    <a:p>
                      <a:pPr algn="ctr">
                        <a:defRPr sz="1500" b="1">
                          <a:solidFill>
                            <a:srgbClr val="FFFFFF"/>
                          </a:solidFill>
                          <a:latin typeface="Arial"/>
                        </a:defRPr>
                      </a:pPr>
                      <a:r>
                        <a:t>THÀNH PHẦN</a:t>
                      </a:r>
                    </a:p>
                  </a:txBody>
                  <a:tcPr>
                    <a:solidFill>
                      <a:srgbClr val="1565C0"/>
                    </a:solidFill>
                  </a:tcPr>
                </a:tc>
                <a:tc>
                  <a:txBody>
                    <a:bodyPr/>
                    <a:lstStyle/>
                    <a:p>
                      <a:pPr algn="ctr">
                        <a:defRPr sz="1500" b="1">
                          <a:solidFill>
                            <a:srgbClr val="FFFFFF"/>
                          </a:solidFill>
                          <a:latin typeface="Arial"/>
                        </a:defRPr>
                      </a:pPr>
                      <a:r>
                        <a:t>THÔNG SỐ CẤU HÌNH</a:t>
                      </a:r>
                    </a:p>
                  </a:txBody>
                  <a:tcPr>
                    <a:solidFill>
                      <a:srgbClr val="1565C0"/>
                    </a:solidFill>
                  </a:tcPr>
                </a:tc>
                <a:tc>
                  <a:txBody>
                    <a:bodyPr/>
                    <a:lstStyle/>
                    <a:p>
                      <a:pPr algn="ctr">
                        <a:defRPr sz="1500" b="1">
                          <a:solidFill>
                            <a:srgbClr val="FFFFFF"/>
                          </a:solidFill>
                          <a:latin typeface="Arial"/>
                        </a:defRPr>
                      </a:pPr>
                      <a:r>
                        <a:t>SỐ CHIỀU ĐẶC TRƯNG</a:t>
                      </a:r>
                    </a:p>
                  </a:txBody>
                  <a:tcPr>
                    <a:solidFill>
                      <a:srgbClr val="1565C0"/>
                    </a:solidFill>
                  </a:tcPr>
                </a:tc>
                <a:tc>
                  <a:txBody>
                    <a:bodyPr/>
                    <a:lstStyle/>
                    <a:p>
                      <a:pPr algn="ctr">
                        <a:defRPr sz="1500" b="1">
                          <a:solidFill>
                            <a:srgbClr val="FFFFFF"/>
                          </a:solidFill>
                          <a:latin typeface="Arial"/>
                        </a:defRPr>
                      </a:pPr>
                      <a:r>
                        <a:t>Ý NGHĨA ĐỐI VỚI BÀI TOÁN</a:t>
                      </a:r>
                    </a:p>
                  </a:txBody>
                  <a:tcPr>
                    <a:solidFill>
                      <a:srgbClr val="1565C0"/>
                    </a:solidFill>
                  </a:tcPr>
                </a:tc>
              </a:tr>
              <a:tr h="600000">
                <a:tc>
                  <a:txBody>
                    <a:bodyPr/>
                    <a:lstStyle/>
                    <a:p>
                      <a:pPr>
                        <a:defRPr sz="1400" b="1">
                          <a:solidFill>
                            <a:srgbClr val="0F172A"/>
                          </a:solidFill>
                          <a:latin typeface="Arial"/>
                        </a:defRPr>
                      </a:pPr>
                      <a:r>
                        <a:t>Histogram màu HSV</a:t>
                      </a:r>
                    </a:p>
                  </a:txBody>
                  <a:tcPr>
                    <a:solidFill>
                      <a:srgbClr val="FFFFFF"/>
                    </a:solidFill>
                  </a:tcPr>
                </a:tc>
                <a:tc>
                  <a:txBody>
                    <a:bodyPr/>
                    <a:lstStyle/>
                    <a:p>
                      <a:pPr>
                        <a:defRPr sz="1400">
                          <a:solidFill>
                            <a:srgbClr val="0F172A"/>
                          </a:solidFill>
                          <a:latin typeface="Arial"/>
                        </a:defRPr>
                      </a:pPr>
                      <a:r>
                        <a:t>Hue: 32 bins, Sat: 16 bins, Val: 16 bins</a:t>
                      </a:r>
                    </a:p>
                  </a:txBody>
                  <a:tcPr>
                    <a:solidFill>
                      <a:srgbClr val="FFFFFF"/>
                    </a:solidFill>
                  </a:tcPr>
                </a:tc>
                <a:tc>
                  <a:txBody>
                    <a:bodyPr/>
                    <a:lstStyle/>
                    <a:p>
                      <a:pPr algn="ctr">
                        <a:defRPr sz="1400" b="1">
                          <a:solidFill>
                            <a:srgbClr val="1565C0"/>
                          </a:solidFill>
                          <a:latin typeface="Arial"/>
                        </a:defRPr>
                      </a:pPr>
                      <a:r>
                        <a:t>64 chiều</a:t>
                      </a:r>
                    </a:p>
                  </a:txBody>
                  <a:tcPr>
                    <a:solidFill>
                      <a:srgbClr val="FFFFFF"/>
                    </a:solidFill>
                  </a:tcPr>
                </a:tc>
                <a:tc>
                  <a:txBody>
                    <a:bodyPr/>
                    <a:lstStyle/>
                    <a:p>
                      <a:pPr>
                        <a:defRPr sz="1400">
                          <a:solidFill>
                            <a:srgbClr val="0F172A"/>
                          </a:solidFill>
                          <a:latin typeface="Arial"/>
                        </a:defRPr>
                      </a:pPr>
                      <a:r>
                        <a:t>Nắm bắt gam màu ấm (đỏ, vàng, cam) đặc trưng của lửa và khói</a:t>
                      </a:r>
                    </a:p>
                  </a:txBody>
                  <a:tcPr>
                    <a:solidFill>
                      <a:srgbClr val="FFFFFF"/>
                    </a:solidFill>
                  </a:tcPr>
                </a:tc>
              </a:tr>
              <a:tr h="600000">
                <a:tc>
                  <a:txBody>
                    <a:bodyPr/>
                    <a:lstStyle/>
                    <a:p>
                      <a:pPr>
                        <a:defRPr sz="1400" b="1">
                          <a:solidFill>
                            <a:srgbClr val="0F172A"/>
                          </a:solidFill>
                          <a:latin typeface="Arial"/>
                        </a:defRPr>
                      </a:pPr>
                      <a:r>
                        <a:t>HOG (Histogram Gradients)</a:t>
                      </a:r>
                    </a:p>
                  </a:txBody>
                  <a:tcPr>
                    <a:solidFill>
                      <a:srgbClr val="F1F5F9"/>
                    </a:solidFill>
                  </a:tcPr>
                </a:tc>
                <a:tc>
                  <a:txBody>
                    <a:bodyPr/>
                    <a:lstStyle/>
                    <a:p>
                      <a:pPr>
                        <a:defRPr sz="1400">
                          <a:solidFill>
                            <a:srgbClr val="0F172A"/>
                          </a:solidFill>
                          <a:latin typeface="Arial"/>
                        </a:defRPr>
                      </a:pPr>
                      <a:r>
                        <a:t>orientations=8, pixels_per_cell=(16,16)</a:t>
                      </a:r>
                    </a:p>
                  </a:txBody>
                  <a:tcPr>
                    <a:solidFill>
                      <a:srgbClr val="F1F5F9"/>
                    </a:solidFill>
                  </a:tcPr>
                </a:tc>
                <a:tc>
                  <a:txBody>
                    <a:bodyPr/>
                    <a:lstStyle/>
                    <a:p>
                      <a:pPr algn="ctr">
                        <a:defRPr sz="1400" b="1">
                          <a:solidFill>
                            <a:srgbClr val="1565C0"/>
                          </a:solidFill>
                          <a:latin typeface="Arial"/>
                        </a:defRPr>
                      </a:pPr>
                      <a:r>
                        <a:t>800 chiều</a:t>
                      </a:r>
                    </a:p>
                  </a:txBody>
                  <a:tcPr>
                    <a:solidFill>
                      <a:srgbClr val="F1F5F9"/>
                    </a:solidFill>
                  </a:tcPr>
                </a:tc>
                <a:tc>
                  <a:txBody>
                    <a:bodyPr/>
                    <a:lstStyle/>
                    <a:p>
                      <a:pPr>
                        <a:defRPr sz="1400">
                          <a:solidFill>
                            <a:srgbClr val="0F172A"/>
                          </a:solidFill>
                          <a:latin typeface="Arial"/>
                        </a:defRPr>
                      </a:pPr>
                      <a:r>
                        <a:t>Mô tả cấu trúc đường viền đám khói, tán cây và kết cấu mặt đất</a:t>
                      </a:r>
                    </a:p>
                  </a:txBody>
                  <a:tcPr>
                    <a:solidFill>
                      <a:srgbClr val="F1F5F9"/>
                    </a:solidFill>
                  </a:tcPr>
                </a:tc>
              </a:tr>
              <a:tr h="600000">
                <a:tc>
                  <a:txBody>
                    <a:bodyPr/>
                    <a:lstStyle/>
                    <a:p>
                      <a:pPr>
                        <a:defRPr sz="1400" b="1">
                          <a:solidFill>
                            <a:srgbClr val="0F172A"/>
                          </a:solidFill>
                          <a:latin typeface="Arial"/>
                        </a:defRPr>
                      </a:pPr>
                      <a:r>
                        <a:t>Ghép đặc trưng (Concat)</a:t>
                      </a:r>
                    </a:p>
                  </a:txBody>
                  <a:tcPr>
                    <a:solidFill>
                      <a:srgbClr val="FFFFFF"/>
                    </a:solidFill>
                  </a:tcPr>
                </a:tc>
                <a:tc>
                  <a:txBody>
                    <a:bodyPr/>
                    <a:lstStyle/>
                    <a:p>
                      <a:pPr>
                        <a:defRPr sz="1400">
                          <a:solidFill>
                            <a:srgbClr val="0F172A"/>
                          </a:solidFill>
                          <a:latin typeface="Arial"/>
                        </a:defRPr>
                      </a:pPr>
                      <a:r>
                        <a:t>Vector ghép trực tiếp HSV + HOG</a:t>
                      </a:r>
                    </a:p>
                  </a:txBody>
                  <a:tcPr>
                    <a:solidFill>
                      <a:srgbClr val="FFFFFF"/>
                    </a:solidFill>
                  </a:tcPr>
                </a:tc>
                <a:tc>
                  <a:txBody>
                    <a:bodyPr/>
                    <a:lstStyle/>
                    <a:p>
                      <a:pPr algn="ctr">
                        <a:defRPr sz="1400" b="1">
                          <a:solidFill>
                            <a:srgbClr val="1565C0"/>
                          </a:solidFill>
                          <a:latin typeface="Arial"/>
                        </a:defRPr>
                      </a:pPr>
                      <a:r>
                        <a:t>864 chiều</a:t>
                      </a:r>
                    </a:p>
                  </a:txBody>
                  <a:tcPr>
                    <a:solidFill>
                      <a:srgbClr val="FFFFFF"/>
                    </a:solidFill>
                  </a:tcPr>
                </a:tc>
                <a:tc>
                  <a:txBody>
                    <a:bodyPr/>
                    <a:lstStyle/>
                    <a:p>
                      <a:pPr>
                        <a:defRPr sz="1400">
                          <a:solidFill>
                            <a:srgbClr val="0F172A"/>
                          </a:solidFill>
                          <a:latin typeface="Arial"/>
                        </a:defRPr>
                      </a:pPr>
                      <a:r>
                        <a:t>Biểu diễn đầy đủ thông tin màu sắc và hình thái học của ảnh</a:t>
                      </a:r>
                    </a:p>
                  </a:txBody>
                  <a:tcPr>
                    <a:solidFill>
                      <a:srgbClr val="FFFFFF"/>
                    </a:solidFill>
                  </a:tcPr>
                </a:tc>
              </a:tr>
              <a:tr h="600000">
                <a:tc>
                  <a:txBody>
                    <a:bodyPr/>
                    <a:lstStyle/>
                    <a:p>
                      <a:pPr>
                        <a:defRPr sz="1400" b="1">
                          <a:solidFill>
                            <a:srgbClr val="0F172A"/>
                          </a:solidFill>
                          <a:latin typeface="Arial"/>
                        </a:defRPr>
                      </a:pPr>
                      <a:r>
                        <a:t>PCA Giữ 95% Phương Sai</a:t>
                      </a:r>
                    </a:p>
                  </a:txBody>
                  <a:tcPr>
                    <a:solidFill>
                      <a:srgbClr val="F1F5F9"/>
                    </a:solidFill>
                  </a:tcPr>
                </a:tc>
                <a:tc>
                  <a:txBody>
                    <a:bodyPr/>
                    <a:lstStyle/>
                    <a:p>
                      <a:pPr>
                        <a:defRPr sz="1400">
                          <a:solidFill>
                            <a:srgbClr val="0F172A"/>
                          </a:solidFill>
                          <a:latin typeface="Arial"/>
                        </a:defRPr>
                      </a:pPr>
                      <a:r>
                        <a:t>Incremental fit trong từng fold train</a:t>
                      </a:r>
                    </a:p>
                  </a:txBody>
                  <a:tcPr>
                    <a:solidFill>
                      <a:srgbClr val="F1F5F9"/>
                    </a:solidFill>
                  </a:tcPr>
                </a:tc>
                <a:tc>
                  <a:txBody>
                    <a:bodyPr/>
                    <a:lstStyle/>
                    <a:p>
                      <a:pPr algn="ctr">
                        <a:defRPr sz="1400" b="1">
                          <a:solidFill>
                            <a:srgbClr val="1565C0"/>
                          </a:solidFill>
                          <a:latin typeface="Arial"/>
                        </a:defRPr>
                      </a:pPr>
                      <a:r>
                        <a:t>231 chiều (fit toàn train)</a:t>
                      </a:r>
                    </a:p>
                  </a:txBody>
                  <a:tcPr>
                    <a:solidFill>
                      <a:srgbClr val="F1F5F9"/>
                    </a:solidFill>
                  </a:tcPr>
                </a:tc>
                <a:tc>
                  <a:txBody>
                    <a:bodyPr/>
                    <a:lstStyle/>
                    <a:p>
                      <a:pPr>
                        <a:defRPr sz="1400">
                          <a:solidFill>
                            <a:srgbClr val="0F172A"/>
                          </a:solidFill>
                          <a:latin typeface="Arial"/>
                        </a:defRPr>
                      </a:pPr>
                      <a:r>
                        <a:t>Loại bỏ đa cộng tuyến, giảm 73% số chiều, tăng tốc độ huấn luyện</a:t>
                      </a:r>
                    </a:p>
                  </a:txBody>
                  <a:tcPr>
                    <a:solidFill>
                      <a:srgbClr val="F1F5F9"/>
                    </a:solidFill>
                  </a:tcPr>
                </a:tc>
              </a:tr>
            </a:tbl>
          </a:graphicData>
        </a:graphic>
      </p:graphicFrame>
      <p:sp>
        <p:nvSpPr>
          <p:cNvPr id="21" name="Rounded Rectangle 20"/>
          <p:cNvSpPr/>
          <p:nvPr/>
        </p:nvSpPr>
        <p:spPr>
          <a:xfrm>
            <a:off x="1016000" y="9250000"/>
            <a:ext cx="19642709" cy="190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00000" y="9350000"/>
            <a:ext cx="19200000" cy="1700000"/>
          </a:xfrm>
          <a:prstGeom prst="rect">
            <a:avLst/>
          </a:prstGeom>
          <a:noFill/>
        </p:spPr>
        <p:txBody>
          <a:bodyPr wrap="square">
            <a:spAutoFit/>
          </a:bodyPr>
          <a:lstStyle/>
          <a:p>
            <a:pPr>
              <a:defRPr sz="1600" b="1">
                <a:solidFill>
                  <a:srgbClr val="FF6F00"/>
                </a:solidFill>
                <a:latin typeface="Arial"/>
              </a:defRPr>
            </a:pPr>
            <a:r>
              <a:t>NGUYÊN TẮC THIẾT KẾ PIPELINE CHỐNG RÒ RỈ THÔNG TIN (DATA LEAKAGE):</a:t>
            </a:r>
          </a:p>
          <a:p>
            <a:pPr>
              <a:defRPr sz="1400">
                <a:solidFill>
                  <a:srgbClr val="0F172A"/>
                </a:solidFill>
                <a:latin typeface="Arial"/>
              </a:defRPr>
            </a:pPr>
            <a:r>
              <a:t>Cả StandardScaler và PCA đều được đóng gói bên trong sklearn.pipeline.Pipeline. Trong quá trình Cross-Validation, các bộ biến đổi này CHỈ ĐƯỢC FIT trên fold Train và chỉ transform sang fold Validation. Tập Test hoàn toàn giữ kín, chỉ transform ở bước cuối cùng.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Bốn Mô Hình Machine Learning &amp; Không Gian Siêu Tham Số</a:t>
            </a:r>
          </a:p>
          <a:p>
            <a:pPr>
              <a:defRPr sz="1600" i="1" b="1">
                <a:solidFill>
                  <a:srgbClr val="1565C0"/>
                </a:solidFill>
                <a:latin typeface="Arial"/>
              </a:defRPr>
            </a:pPr>
            <a:r>
              <a:t>Mục tiêu môn học: Mục 3.3 &amp; 5: Cài đặt ít nhất 3 mô hình cơ bản và tìm thông số tối ưu</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7 / 18</a:t>
            </a:r>
          </a:p>
        </p:txBody>
      </p:sp>
      <p:sp>
        <p:nvSpPr>
          <p:cNvPr id="12" name="Rounded Rectangle 11"/>
          <p:cNvSpPr/>
          <p:nvPr/>
        </p:nvSpPr>
        <p:spPr>
          <a:xfrm>
            <a:off x="1016000" y="2150000"/>
            <a:ext cx="9600000" cy="34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6000" y="2300000"/>
            <a:ext cx="9300000" cy="3100000"/>
          </a:xfrm>
          <a:prstGeom prst="rect">
            <a:avLst/>
          </a:prstGeom>
          <a:noFill/>
        </p:spPr>
        <p:txBody>
          <a:bodyPr wrap="square">
            <a:spAutoFit/>
          </a:bodyPr>
          <a:lstStyle/>
          <a:p>
            <a:pPr>
              <a:defRPr sz="1800" b="1">
                <a:solidFill>
                  <a:srgbClr val="1565C0"/>
                </a:solidFill>
                <a:latin typeface="Arial"/>
              </a:defRPr>
            </a:pPr>
            <a:r>
              <a:t>1. Logistic Regression</a:t>
            </a:r>
          </a:p>
          <a:p>
            <a:pPr>
              <a:defRPr sz="1400">
                <a:solidFill>
                  <a:srgbClr val="0D47A1"/>
                </a:solidFill>
                <a:latin typeface="Arial"/>
              </a:defRPr>
            </a:pPr>
            <a:r>
              <a:t>• Vai trò: Mô hình phân loại tuyến tính đối chứng cơ sở (Baseline).</a:t>
            </a:r>
          </a:p>
          <a:p>
            <a:pPr>
              <a:defRPr sz="1400" b="1">
                <a:solidFill>
                  <a:srgbClr val="0F172A"/>
                </a:solidFill>
                <a:latin typeface="Arial"/>
              </a:defRPr>
            </a:pPr>
            <a:r>
              <a:t>• Lưới tham số (Grid): C in {0.1, 1, 10}, solver='lbfgs', max_iter=3000</a:t>
            </a:r>
          </a:p>
          <a:p>
            <a:pPr>
              <a:defRPr sz="1300">
                <a:solidFill>
                  <a:srgbClr val="475569"/>
                </a:solidFill>
                <a:latin typeface="Arial"/>
              </a:defRPr>
            </a:pPr>
            <a:r>
              <a:t>• Cơ chế: Tối ưu hóa hàm mất mát log-loss, tìm tổ hợp trọng số tuyến tính các thành phần PCA.</a:t>
            </a:r>
          </a:p>
        </p:txBody>
      </p:sp>
      <p:sp>
        <p:nvSpPr>
          <p:cNvPr id="14" name="Rounded Rectangle 13"/>
          <p:cNvSpPr/>
          <p:nvPr/>
        </p:nvSpPr>
        <p:spPr>
          <a:xfrm>
            <a:off x="10916000" y="2150000"/>
            <a:ext cx="9600000" cy="34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6000" y="2300000"/>
            <a:ext cx="9300000" cy="3100000"/>
          </a:xfrm>
          <a:prstGeom prst="rect">
            <a:avLst/>
          </a:prstGeom>
          <a:noFill/>
        </p:spPr>
        <p:txBody>
          <a:bodyPr wrap="square">
            <a:spAutoFit/>
          </a:bodyPr>
          <a:lstStyle/>
          <a:p>
            <a:pPr>
              <a:defRPr sz="1800" b="1">
                <a:solidFill>
                  <a:srgbClr val="1565C0"/>
                </a:solidFill>
                <a:latin typeface="Arial"/>
              </a:defRPr>
            </a:pPr>
            <a:r>
              <a:t>2. K-Nearest Neighbors</a:t>
            </a:r>
          </a:p>
          <a:p>
            <a:pPr>
              <a:defRPr sz="1400">
                <a:solidFill>
                  <a:srgbClr val="0D47A1"/>
                </a:solidFill>
                <a:latin typeface="Arial"/>
              </a:defRPr>
            </a:pPr>
            <a:r>
              <a:t>• Vai trò: Mô hình học theo bộ nhớ (Instance-based learning).</a:t>
            </a:r>
          </a:p>
          <a:p>
            <a:pPr>
              <a:defRPr sz="1400" b="1">
                <a:solidFill>
                  <a:srgbClr val="0F172A"/>
                </a:solidFill>
                <a:latin typeface="Arial"/>
              </a:defRPr>
            </a:pPr>
            <a:r>
              <a:t>• Lưới tham số (Grid): k in {3, 5, 9}, weights in {'uniform', 'distance'}</a:t>
            </a:r>
          </a:p>
          <a:p>
            <a:pPr>
              <a:defRPr sz="1300">
                <a:solidFill>
                  <a:srgbClr val="475569"/>
                </a:solidFill>
                <a:latin typeface="Arial"/>
              </a:defRPr>
            </a:pPr>
            <a:r>
              <a:t>• Cơ chế: Bỏ phiếu nhãn dựa trên khoảng cách Euclidean trong không gian đặc trưng sau PCA.</a:t>
            </a:r>
          </a:p>
        </p:txBody>
      </p:sp>
      <p:sp>
        <p:nvSpPr>
          <p:cNvPr id="16" name="Rounded Rectangle 15"/>
          <p:cNvSpPr/>
          <p:nvPr/>
        </p:nvSpPr>
        <p:spPr>
          <a:xfrm>
            <a:off x="1016000" y="5750000"/>
            <a:ext cx="9600000" cy="34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6000" y="5900000"/>
            <a:ext cx="9300000" cy="3100000"/>
          </a:xfrm>
          <a:prstGeom prst="rect">
            <a:avLst/>
          </a:prstGeom>
          <a:noFill/>
        </p:spPr>
        <p:txBody>
          <a:bodyPr wrap="square">
            <a:spAutoFit/>
          </a:bodyPr>
          <a:lstStyle/>
          <a:p>
            <a:pPr>
              <a:defRPr sz="1800" b="1">
                <a:solidFill>
                  <a:srgbClr val="1565C0"/>
                </a:solidFill>
                <a:latin typeface="Arial"/>
              </a:defRPr>
            </a:pPr>
            <a:r>
              <a:t>3. Support Vector Machine</a:t>
            </a:r>
          </a:p>
          <a:p>
            <a:pPr>
              <a:defRPr sz="1400">
                <a:solidFill>
                  <a:srgbClr val="0D47A1"/>
                </a:solidFill>
                <a:latin typeface="Arial"/>
              </a:defRPr>
            </a:pPr>
            <a:r>
              <a:t>• Vai trò: Mô hình tìm siêu phẳng phân cách với biên cực đại.</a:t>
            </a:r>
          </a:p>
          <a:p>
            <a:pPr>
              <a:defRPr sz="1400" b="1">
                <a:solidFill>
                  <a:srgbClr val="0F172A"/>
                </a:solidFill>
                <a:latin typeface="Arial"/>
              </a:defRPr>
            </a:pPr>
            <a:r>
              <a:t>• Lưới tham số (Grid): C in {1, 10}, kernel in {'linear', 'rbf'}, gamma='scale'</a:t>
            </a:r>
          </a:p>
          <a:p>
            <a:pPr>
              <a:defRPr sz="1300">
                <a:solidFill>
                  <a:srgbClr val="475569"/>
                </a:solidFill>
                <a:latin typeface="Arial"/>
              </a:defRPr>
            </a:pPr>
            <a:r>
              <a:t>• Cơ chế: Kernel RBF ánh xạ đặc trưng sang không gian phi tuyến vô hạn chiều để phân tách lửa.</a:t>
            </a:r>
          </a:p>
        </p:txBody>
      </p:sp>
      <p:sp>
        <p:nvSpPr>
          <p:cNvPr id="18" name="Rounded Rectangle 17"/>
          <p:cNvSpPr/>
          <p:nvPr/>
        </p:nvSpPr>
        <p:spPr>
          <a:xfrm>
            <a:off x="10916000" y="5750000"/>
            <a:ext cx="9600000" cy="34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6000" y="5900000"/>
            <a:ext cx="9300000" cy="3100000"/>
          </a:xfrm>
          <a:prstGeom prst="rect">
            <a:avLst/>
          </a:prstGeom>
          <a:noFill/>
        </p:spPr>
        <p:txBody>
          <a:bodyPr wrap="square">
            <a:spAutoFit/>
          </a:bodyPr>
          <a:lstStyle/>
          <a:p>
            <a:pPr>
              <a:defRPr sz="1800" b="1">
                <a:solidFill>
                  <a:srgbClr val="1565C0"/>
                </a:solidFill>
                <a:latin typeface="Arial"/>
              </a:defRPr>
            </a:pPr>
            <a:r>
              <a:t>4. Random Forest</a:t>
            </a:r>
          </a:p>
          <a:p>
            <a:pPr>
              <a:defRPr sz="1400">
                <a:solidFill>
                  <a:srgbClr val="0D47A1"/>
                </a:solidFill>
                <a:latin typeface="Arial"/>
              </a:defRPr>
            </a:pPr>
            <a:r>
              <a:t>• Vai trò: Mô hình tập hợp đa cây quyết định (Bagging Ensemble).</a:t>
            </a:r>
          </a:p>
          <a:p>
            <a:pPr>
              <a:defRPr sz="1400" b="1">
                <a:solidFill>
                  <a:srgbClr val="0F172A"/>
                </a:solidFill>
                <a:latin typeface="Arial"/>
              </a:defRPr>
            </a:pPr>
            <a:r>
              <a:t>• Lưới tham số (Grid): n_estimators=150, max_depth in {12, None}, min_samples_leaf in {1, 2}</a:t>
            </a:r>
          </a:p>
          <a:p>
            <a:pPr>
              <a:defRPr sz="1300">
                <a:solidFill>
                  <a:srgbClr val="475569"/>
                </a:solidFill>
                <a:latin typeface="Arial"/>
              </a:defRPr>
            </a:pPr>
            <a:r>
              <a:t>• Cơ chế: Kết hợp 150 cây học trên tập con dữ liệu để giảm phương sai và chống quá khớp.</a:t>
            </a:r>
          </a:p>
        </p:txBody>
      </p:sp>
      <p:sp>
        <p:nvSpPr>
          <p:cNvPr id="20" name="Rounded Rectangle 19"/>
          <p:cNvSpPr/>
          <p:nvPr/>
        </p:nvSpPr>
        <p:spPr>
          <a:xfrm>
            <a:off x="1016000" y="9550000"/>
            <a:ext cx="19642709" cy="165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00000" y="9650000"/>
            <a:ext cx="19200000" cy="1450000"/>
          </a:xfrm>
          <a:prstGeom prst="rect">
            <a:avLst/>
          </a:prstGeom>
          <a:noFill/>
        </p:spPr>
        <p:txBody>
          <a:bodyPr wrap="square">
            <a:spAutoFit/>
          </a:bodyPr>
          <a:lstStyle/>
          <a:p>
            <a:pPr>
              <a:defRPr sz="1600" b="1">
                <a:solidFill>
                  <a:srgbClr val="1565C0"/>
                </a:solidFill>
                <a:latin typeface="Arial"/>
              </a:defRPr>
            </a:pPr>
            <a:r>
              <a:t>CƠ CHẾ TÌM THAM SỐ (HYPERPARAMETER TUNING) BẰNG 3-FOLD STRATIFIED GROUP K-FOLD:</a:t>
            </a:r>
          </a:p>
          <a:p>
            <a:pPr>
              <a:defRPr sz="1400">
                <a:solidFill>
                  <a:srgbClr val="0F172A"/>
                </a:solidFill>
                <a:latin typeface="Arial"/>
              </a:defRPr>
            </a:pPr>
            <a:r>
              <a:t>Thực hiện tìm kiếm tham số bằng GridSearchCV trên 1.213 ảnh Train. Chia 3 folds đảm bảo phân bố nhãn cân bằng và các cụm ảnh gần trùng (dHash) không bị cắt đôi. Tiêu chí chọn tham số tối ưu là F1-Score trung bình của lớp Cháy qua 3 folds.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Kết Quả Cross-Validation &amp; Khóa Mô Hình Trên Validation</a:t>
            </a:r>
          </a:p>
          <a:p>
            <a:pPr>
              <a:defRPr sz="1600" i="1" b="1">
                <a:solidFill>
                  <a:srgbClr val="1565C0"/>
                </a:solidFill>
                <a:latin typeface="Arial"/>
              </a:defRPr>
            </a:pPr>
            <a:r>
              <a:t>Mục tiêu môn học: Mục 5: So sánh kết quả CV và quyết định chọn mô hình tối ưu</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8 / 18</a:t>
            </a:r>
          </a:p>
        </p:txBody>
      </p:sp>
      <p:graphicFrame>
        <p:nvGraphicFramePr>
          <p:cNvPr id="12" name="Table 11"/>
          <p:cNvGraphicFramePr>
            <a:graphicFrameLocks noGrp="1"/>
          </p:cNvGraphicFramePr>
          <p:nvPr/>
        </p:nvGraphicFramePr>
        <p:xfrm>
          <a:off x="1016000" y="2150000"/>
          <a:ext cx="19642709" cy="3200000"/>
        </p:xfrm>
        <a:graphic>
          <a:graphicData uri="http://schemas.openxmlformats.org/drawingml/2006/table">
            <a:tbl>
              <a:tblPr firstRow="1" bandRow="1">
                <a:tableStyleId>{5C22544A-7EE6-4342-B048-85BDC9FD1C3A}</a:tableStyleId>
              </a:tblPr>
              <a:tblGrid>
                <a:gridCol w="4500000"/>
                <a:gridCol w="4500000"/>
                <a:gridCol w="3500000"/>
                <a:gridCol w="3500000"/>
                <a:gridCol w="3642709"/>
              </a:tblGrid>
              <a:tr h="640000">
                <a:tc>
                  <a:txBody>
                    <a:bodyPr/>
                    <a:lstStyle/>
                    <a:p>
                      <a:pPr algn="ctr">
                        <a:defRPr sz="1500" b="1">
                          <a:solidFill>
                            <a:srgbClr val="FFFFFF"/>
                          </a:solidFill>
                          <a:latin typeface="Arial"/>
                        </a:defRPr>
                      </a:pPr>
                      <a:r>
                        <a:t>MÔ HÌNH</a:t>
                      </a:r>
                    </a:p>
                  </a:txBody>
                  <a:tcPr>
                    <a:solidFill>
                      <a:srgbClr val="1565C0"/>
                    </a:solidFill>
                  </a:tcPr>
                </a:tc>
                <a:tc>
                  <a:txBody>
                    <a:bodyPr/>
                    <a:lstStyle/>
                    <a:p>
                      <a:pPr algn="ctr">
                        <a:defRPr sz="1500" b="1">
                          <a:solidFill>
                            <a:srgbClr val="FFFFFF"/>
                          </a:solidFill>
                          <a:latin typeface="Arial"/>
                        </a:defRPr>
                      </a:pPr>
                      <a:r>
                        <a:t>THAM SỐ TỐI ƯU ĐƯỢC CHỌN</a:t>
                      </a:r>
                    </a:p>
                  </a:txBody>
                  <a:tcPr>
                    <a:solidFill>
                      <a:srgbClr val="1565C0"/>
                    </a:solidFill>
                  </a:tcPr>
                </a:tc>
                <a:tc>
                  <a:txBody>
                    <a:bodyPr/>
                    <a:lstStyle/>
                    <a:p>
                      <a:pPr algn="ctr">
                        <a:defRPr sz="1500" b="1">
                          <a:solidFill>
                            <a:srgbClr val="FFFFFF"/>
                          </a:solidFill>
                          <a:latin typeface="Arial"/>
                        </a:defRPr>
                      </a:pPr>
                      <a:r>
                        <a:t>F1 CV TRUNG BÌNH</a:t>
                      </a:r>
                    </a:p>
                  </a:txBody>
                  <a:tcPr>
                    <a:solidFill>
                      <a:srgbClr val="1565C0"/>
                    </a:solidFill>
                  </a:tcPr>
                </a:tc>
                <a:tc>
                  <a:txBody>
                    <a:bodyPr/>
                    <a:lstStyle/>
                    <a:p>
                      <a:pPr algn="ctr">
                        <a:defRPr sz="1500" b="1">
                          <a:solidFill>
                            <a:srgbClr val="FFFFFF"/>
                          </a:solidFill>
                          <a:latin typeface="Arial"/>
                        </a:defRPr>
                      </a:pPr>
                      <a:r>
                        <a:t>ĐỘ LỆCH CHUẨN (STD)</a:t>
                      </a:r>
                    </a:p>
                  </a:txBody>
                  <a:tcPr>
                    <a:solidFill>
                      <a:srgbClr val="1565C0"/>
                    </a:solidFill>
                  </a:tcPr>
                </a:tc>
                <a:tc>
                  <a:txBody>
                    <a:bodyPr/>
                    <a:lstStyle/>
                    <a:p>
                      <a:pPr algn="ctr">
                        <a:defRPr sz="1500" b="1">
                          <a:solidFill>
                            <a:srgbClr val="FFFFFF"/>
                          </a:solidFill>
                          <a:latin typeface="Arial"/>
                        </a:defRPr>
                      </a:pPr>
                      <a:r>
                        <a:t>THỜI GIAN TÌM KIẾM</a:t>
                      </a:r>
                    </a:p>
                  </a:txBody>
                  <a:tcPr>
                    <a:solidFill>
                      <a:srgbClr val="1565C0"/>
                    </a:solidFill>
                  </a:tcPr>
                </a:tc>
              </a:tr>
              <a:tr h="640000">
                <a:tc>
                  <a:txBody>
                    <a:bodyPr/>
                    <a:lstStyle/>
                    <a:p>
                      <a:pPr>
                        <a:defRPr sz="1500" b="1">
                          <a:solidFill>
                            <a:srgbClr val="0F172A"/>
                          </a:solidFill>
                          <a:latin typeface="Arial"/>
                        </a:defRPr>
                      </a:pPr>
                      <a:r>
                        <a:t>Logistic Regression</a:t>
                      </a:r>
                    </a:p>
                  </a:txBody>
                  <a:tcPr>
                    <a:solidFill>
                      <a:srgbClr val="FFFFFF"/>
                    </a:solidFill>
                  </a:tcPr>
                </a:tc>
                <a:tc>
                  <a:txBody>
                    <a:bodyPr/>
                    <a:lstStyle/>
                    <a:p>
                      <a:pPr>
                        <a:defRPr sz="1500">
                          <a:solidFill>
                            <a:srgbClr val="0F172A"/>
                          </a:solidFill>
                          <a:latin typeface="Arial"/>
                        </a:defRPr>
                      </a:pPr>
                      <a:r>
                        <a:t>C = 1, solver='lbfgs'</a:t>
                      </a:r>
                    </a:p>
                  </a:txBody>
                  <a:tcPr>
                    <a:solidFill>
                      <a:srgbClr val="FFFFFF"/>
                    </a:solidFill>
                  </a:tcPr>
                </a:tc>
                <a:tc>
                  <a:txBody>
                    <a:bodyPr/>
                    <a:lstStyle/>
                    <a:p>
                      <a:pPr algn="ctr">
                        <a:defRPr sz="1500">
                          <a:solidFill>
                            <a:srgbClr val="0F172A"/>
                          </a:solidFill>
                          <a:latin typeface="Arial"/>
                        </a:defRPr>
                      </a:pPr>
                      <a:r>
                        <a:t>93,79%</a:t>
                      </a:r>
                    </a:p>
                  </a:txBody>
                  <a:tcPr>
                    <a:solidFill>
                      <a:srgbClr val="FFFFFF"/>
                    </a:solidFill>
                  </a:tcPr>
                </a:tc>
                <a:tc>
                  <a:txBody>
                    <a:bodyPr/>
                    <a:lstStyle/>
                    <a:p>
                      <a:pPr algn="ctr">
                        <a:defRPr sz="1500">
                          <a:solidFill>
                            <a:srgbClr val="0F172A"/>
                          </a:solidFill>
                          <a:latin typeface="Arial"/>
                        </a:defRPr>
                      </a:pPr>
                      <a:r>
                        <a:t>+/- 1,06%</a:t>
                      </a:r>
                    </a:p>
                  </a:txBody>
                  <a:tcPr>
                    <a:solidFill>
                      <a:srgbClr val="FFFFFF"/>
                    </a:solidFill>
                  </a:tcPr>
                </a:tc>
                <a:tc>
                  <a:txBody>
                    <a:bodyPr/>
                    <a:lstStyle/>
                    <a:p>
                      <a:pPr algn="ctr">
                        <a:defRPr sz="1500">
                          <a:solidFill>
                            <a:srgbClr val="0F172A"/>
                          </a:solidFill>
                          <a:latin typeface="Arial"/>
                        </a:defRPr>
                      </a:pPr>
                      <a:r>
                        <a:t>4.1 giây</a:t>
                      </a:r>
                    </a:p>
                  </a:txBody>
                  <a:tcPr>
                    <a:solidFill>
                      <a:srgbClr val="FFFFFF"/>
                    </a:solidFill>
                  </a:tcPr>
                </a:tc>
              </a:tr>
              <a:tr h="640000">
                <a:tc>
                  <a:txBody>
                    <a:bodyPr/>
                    <a:lstStyle/>
                    <a:p>
                      <a:pPr>
                        <a:defRPr sz="1500" b="1">
                          <a:solidFill>
                            <a:srgbClr val="0F172A"/>
                          </a:solidFill>
                          <a:latin typeface="Arial"/>
                        </a:defRPr>
                      </a:pPr>
                      <a:r>
                        <a:t>KNN</a:t>
                      </a:r>
                    </a:p>
                  </a:txBody>
                  <a:tcPr>
                    <a:solidFill>
                      <a:srgbClr val="F1F5F9"/>
                    </a:solidFill>
                  </a:tcPr>
                </a:tc>
                <a:tc>
                  <a:txBody>
                    <a:bodyPr/>
                    <a:lstStyle/>
                    <a:p>
                      <a:pPr>
                        <a:defRPr sz="1500">
                          <a:solidFill>
                            <a:srgbClr val="0F172A"/>
                          </a:solidFill>
                          <a:latin typeface="Arial"/>
                        </a:defRPr>
                      </a:pPr>
                      <a:r>
                        <a:t>k = 3, weights='uniform'</a:t>
                      </a:r>
                    </a:p>
                  </a:txBody>
                  <a:tcPr>
                    <a:solidFill>
                      <a:srgbClr val="F1F5F9"/>
                    </a:solidFill>
                  </a:tcPr>
                </a:tc>
                <a:tc>
                  <a:txBody>
                    <a:bodyPr/>
                    <a:lstStyle/>
                    <a:p>
                      <a:pPr algn="ctr">
                        <a:defRPr sz="1500">
                          <a:solidFill>
                            <a:srgbClr val="0F172A"/>
                          </a:solidFill>
                          <a:latin typeface="Arial"/>
                        </a:defRPr>
                      </a:pPr>
                      <a:r>
                        <a:t>75,05%</a:t>
                      </a:r>
                    </a:p>
                  </a:txBody>
                  <a:tcPr>
                    <a:solidFill>
                      <a:srgbClr val="F1F5F9"/>
                    </a:solidFill>
                  </a:tcPr>
                </a:tc>
                <a:tc>
                  <a:txBody>
                    <a:bodyPr/>
                    <a:lstStyle/>
                    <a:p>
                      <a:pPr algn="ctr">
                        <a:defRPr sz="1500">
                          <a:solidFill>
                            <a:srgbClr val="0F172A"/>
                          </a:solidFill>
                          <a:latin typeface="Arial"/>
                        </a:defRPr>
                      </a:pPr>
                      <a:r>
                        <a:t>+/- 2,93%</a:t>
                      </a:r>
                    </a:p>
                  </a:txBody>
                  <a:tcPr>
                    <a:solidFill>
                      <a:srgbClr val="F1F5F9"/>
                    </a:solidFill>
                  </a:tcPr>
                </a:tc>
                <a:tc>
                  <a:txBody>
                    <a:bodyPr/>
                    <a:lstStyle/>
                    <a:p>
                      <a:pPr algn="ctr">
                        <a:defRPr sz="1500">
                          <a:solidFill>
                            <a:srgbClr val="0F172A"/>
                          </a:solidFill>
                          <a:latin typeface="Arial"/>
                        </a:defRPr>
                      </a:pPr>
                      <a:r>
                        <a:t>5.7 giây</a:t>
                      </a:r>
                    </a:p>
                  </a:txBody>
                  <a:tcPr>
                    <a:solidFill>
                      <a:srgbClr val="F1F5F9"/>
                    </a:solidFill>
                  </a:tcPr>
                </a:tc>
              </a:tr>
              <a:tr h="640000">
                <a:tc>
                  <a:txBody>
                    <a:bodyPr/>
                    <a:lstStyle/>
                    <a:p>
                      <a:pPr>
                        <a:defRPr sz="1500" b="1">
                          <a:solidFill>
                            <a:srgbClr val="0F172A"/>
                          </a:solidFill>
                          <a:latin typeface="Arial"/>
                        </a:defRPr>
                      </a:pPr>
                      <a:r>
                        <a:t>SVM (Tối ưu)</a:t>
                      </a:r>
                    </a:p>
                  </a:txBody>
                  <a:tcPr>
                    <a:solidFill>
                      <a:srgbClr val="EEF6FF"/>
                    </a:solidFill>
                  </a:tcPr>
                </a:tc>
                <a:tc>
                  <a:txBody>
                    <a:bodyPr/>
                    <a:lstStyle/>
                    <a:p>
                      <a:pPr>
                        <a:defRPr sz="1500" b="1">
                          <a:solidFill>
                            <a:srgbClr val="0F172A"/>
                          </a:solidFill>
                          <a:latin typeface="Arial"/>
                        </a:defRPr>
                      </a:pPr>
                      <a:r>
                        <a:t>C = 10, kernel='rbf', gamma='scale'</a:t>
                      </a:r>
                    </a:p>
                  </a:txBody>
                  <a:tcPr>
                    <a:solidFill>
                      <a:srgbClr val="EEF6FF"/>
                    </a:solidFill>
                  </a:tcPr>
                </a:tc>
                <a:tc>
                  <a:txBody>
                    <a:bodyPr/>
                    <a:lstStyle/>
                    <a:p>
                      <a:pPr algn="ctr">
                        <a:defRPr sz="1500" b="1">
                          <a:solidFill>
                            <a:srgbClr val="2E7D32"/>
                          </a:solidFill>
                          <a:latin typeface="Arial"/>
                        </a:defRPr>
                      </a:pPr>
                      <a:r>
                        <a:t>93,66%</a:t>
                      </a:r>
                    </a:p>
                  </a:txBody>
                  <a:tcPr>
                    <a:solidFill>
                      <a:srgbClr val="EEF6FF"/>
                    </a:solidFill>
                  </a:tcPr>
                </a:tc>
                <a:tc>
                  <a:txBody>
                    <a:bodyPr/>
                    <a:lstStyle/>
                    <a:p>
                      <a:pPr algn="ctr">
                        <a:defRPr sz="1500" b="1">
                          <a:solidFill>
                            <a:srgbClr val="0F172A"/>
                          </a:solidFill>
                          <a:latin typeface="Arial"/>
                        </a:defRPr>
                      </a:pPr>
                      <a:r>
                        <a:t>+/- 0,46% (Ổn định nhất)</a:t>
                      </a:r>
                    </a:p>
                  </a:txBody>
                  <a:tcPr>
                    <a:solidFill>
                      <a:srgbClr val="EEF6FF"/>
                    </a:solidFill>
                  </a:tcPr>
                </a:tc>
                <a:tc>
                  <a:txBody>
                    <a:bodyPr/>
                    <a:lstStyle/>
                    <a:p>
                      <a:pPr algn="ctr">
                        <a:defRPr sz="1500" b="1">
                          <a:solidFill>
                            <a:srgbClr val="0F172A"/>
                          </a:solidFill>
                          <a:latin typeface="Arial"/>
                        </a:defRPr>
                      </a:pPr>
                      <a:r>
                        <a:t>4.2 giây</a:t>
                      </a:r>
                    </a:p>
                  </a:txBody>
                  <a:tcPr>
                    <a:solidFill>
                      <a:srgbClr val="EEF6FF"/>
                    </a:solidFill>
                  </a:tcPr>
                </a:tc>
              </a:tr>
              <a:tr h="640000">
                <a:tc>
                  <a:txBody>
                    <a:bodyPr/>
                    <a:lstStyle/>
                    <a:p>
                      <a:pPr>
                        <a:defRPr sz="1500" b="1">
                          <a:solidFill>
                            <a:srgbClr val="0F172A"/>
                          </a:solidFill>
                          <a:latin typeface="Arial"/>
                        </a:defRPr>
                      </a:pPr>
                      <a:r>
                        <a:t>Random Forest</a:t>
                      </a:r>
                    </a:p>
                  </a:txBody>
                  <a:tcPr>
                    <a:solidFill>
                      <a:srgbClr val="F1F5F9"/>
                    </a:solidFill>
                  </a:tcPr>
                </a:tc>
                <a:tc>
                  <a:txBody>
                    <a:bodyPr/>
                    <a:lstStyle/>
                    <a:p>
                      <a:pPr>
                        <a:defRPr sz="1500">
                          <a:solidFill>
                            <a:srgbClr val="0F172A"/>
                          </a:solidFill>
                          <a:latin typeface="Arial"/>
                        </a:defRPr>
                      </a:pPr>
                      <a:r>
                        <a:t>n_estimators=150, max_depth=None</a:t>
                      </a:r>
                    </a:p>
                  </a:txBody>
                  <a:tcPr>
                    <a:solidFill>
                      <a:srgbClr val="F1F5F9"/>
                    </a:solidFill>
                  </a:tcPr>
                </a:tc>
                <a:tc>
                  <a:txBody>
                    <a:bodyPr/>
                    <a:lstStyle/>
                    <a:p>
                      <a:pPr algn="ctr">
                        <a:defRPr sz="1500">
                          <a:solidFill>
                            <a:srgbClr val="0F172A"/>
                          </a:solidFill>
                          <a:latin typeface="Arial"/>
                        </a:defRPr>
                      </a:pPr>
                      <a:r>
                        <a:t>88,36%</a:t>
                      </a:r>
                    </a:p>
                  </a:txBody>
                  <a:tcPr>
                    <a:solidFill>
                      <a:srgbClr val="F1F5F9"/>
                    </a:solidFill>
                  </a:tcPr>
                </a:tc>
                <a:tc>
                  <a:txBody>
                    <a:bodyPr/>
                    <a:lstStyle/>
                    <a:p>
                      <a:pPr algn="ctr">
                        <a:defRPr sz="1500">
                          <a:solidFill>
                            <a:srgbClr val="0F172A"/>
                          </a:solidFill>
                          <a:latin typeface="Arial"/>
                        </a:defRPr>
                      </a:pPr>
                      <a:r>
                        <a:t>+/- 1,57%</a:t>
                      </a:r>
                    </a:p>
                  </a:txBody>
                  <a:tcPr>
                    <a:solidFill>
                      <a:srgbClr val="F1F5F9"/>
                    </a:solidFill>
                  </a:tcPr>
                </a:tc>
                <a:tc>
                  <a:txBody>
                    <a:bodyPr/>
                    <a:lstStyle/>
                    <a:p>
                      <a:pPr algn="ctr">
                        <a:defRPr sz="1500">
                          <a:solidFill>
                            <a:srgbClr val="0F172A"/>
                          </a:solidFill>
                          <a:latin typeface="Arial"/>
                        </a:defRPr>
                      </a:pPr>
                      <a:r>
                        <a:t>21.3 giây</a:t>
                      </a:r>
                    </a:p>
                  </a:txBody>
                  <a:tcPr>
                    <a:solidFill>
                      <a:srgbClr val="F1F5F9"/>
                    </a:solidFill>
                  </a:tcPr>
                </a:tc>
              </a:tr>
            </a:tbl>
          </a:graphicData>
        </a:graphic>
      </p:graphicFrame>
      <p:sp>
        <p:nvSpPr>
          <p:cNvPr id="13" name="Rounded Rectangle 12"/>
          <p:cNvSpPr/>
          <p:nvPr/>
        </p:nvSpPr>
        <p:spPr>
          <a:xfrm>
            <a:off x="1016000" y="5600000"/>
            <a:ext cx="9500000" cy="55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0000" y="5750000"/>
            <a:ext cx="9100000" cy="5200000"/>
          </a:xfrm>
          <a:prstGeom prst="rect">
            <a:avLst/>
          </a:prstGeom>
          <a:noFill/>
        </p:spPr>
        <p:txBody>
          <a:bodyPr wrap="square">
            <a:spAutoFit/>
          </a:bodyPr>
          <a:lstStyle/>
          <a:p>
            <a:pPr>
              <a:defRPr sz="1800" b="1">
                <a:solidFill>
                  <a:srgbClr val="1565C0"/>
                </a:solidFill>
                <a:latin typeface="Arial"/>
              </a:defRPr>
            </a:pPr>
            <a:r>
              <a:t>KẾT QUẢ TRÊN TẬP VALIDATION (303 ẢNH)</a:t>
            </a:r>
          </a:p>
          <a:p>
            <a:pPr>
              <a:defRPr sz="1500" b="1">
                <a:solidFill>
                  <a:srgbClr val="0D47A1"/>
                </a:solidFill>
                <a:latin typeface="Arial"/>
              </a:defRPr>
            </a:pPr>
            <a:r>
              <a:t>SVM (Lựa chọn số 1):</a:t>
            </a:r>
          </a:p>
          <a:p>
            <a:pPr>
              <a:defRPr sz="1300">
                <a:solidFill>
                  <a:srgbClr val="0F172A"/>
                </a:solidFill>
                <a:latin typeface="Arial"/>
              </a:defRPr>
            </a:pPr>
            <a:r>
              <a:t>• F1 Validation = 94,19% | Recall = 95,39% - Đạt F1 cao nhất toàn diện, độ ổn định CV vượt trội.</a:t>
            </a:r>
          </a:p>
          <a:p>
            <a:pPr>
              <a:defRPr sz="1500" b="1">
                <a:solidFill>
                  <a:srgbClr val="0D47A1"/>
                </a:solidFill>
                <a:latin typeface="Arial"/>
              </a:defRPr>
            </a:pPr>
            <a:r>
              <a:t>Logistic Regression:</a:t>
            </a:r>
          </a:p>
          <a:p>
            <a:pPr>
              <a:defRPr sz="1300">
                <a:solidFill>
                  <a:srgbClr val="0F172A"/>
                </a:solidFill>
                <a:latin typeface="Arial"/>
              </a:defRPr>
            </a:pPr>
            <a:r>
              <a:t>• F1 Validation = 93,42% | Recall = 93,42% - Kém SVM 0.77 điểm phần trăm trên tập validation.</a:t>
            </a:r>
          </a:p>
          <a:p>
            <a:pPr>
              <a:defRPr sz="1500" b="1">
                <a:solidFill>
                  <a:srgbClr val="0D47A1"/>
                </a:solidFill>
                <a:latin typeface="Arial"/>
              </a:defRPr>
            </a:pPr>
            <a:r>
              <a:t>Random Forest:</a:t>
            </a:r>
          </a:p>
          <a:p>
            <a:pPr>
              <a:defRPr sz="1300">
                <a:solidFill>
                  <a:srgbClr val="0F172A"/>
                </a:solidFill>
                <a:latin typeface="Arial"/>
              </a:defRPr>
            </a:pPr>
            <a:r>
              <a:t>• F1 Validation = 86,45% | Recall = 88,16% - Kém SVM 7.74 điểm phần trăm, dấu hiệu giảm hiệu năng do PCA.</a:t>
            </a:r>
          </a:p>
          <a:p>
            <a:pPr>
              <a:defRPr sz="1500" b="1">
                <a:solidFill>
                  <a:srgbClr val="0D47A1"/>
                </a:solidFill>
                <a:latin typeface="Arial"/>
              </a:defRPr>
            </a:pPr>
            <a:r>
              <a:t>KNN:</a:t>
            </a:r>
          </a:p>
          <a:p>
            <a:pPr>
              <a:defRPr sz="1300">
                <a:solidFill>
                  <a:srgbClr val="0F172A"/>
                </a:solidFill>
                <a:latin typeface="Arial"/>
              </a:defRPr>
            </a:pPr>
            <a:r>
              <a:t>• F1 Validation = 71,54% | Recall = 59,21% - Hiệu năng thấp nhất, khoảng cách đa chiều bị nhiễu.</a:t>
            </a:r>
          </a:p>
        </p:txBody>
      </p:sp>
      <p:sp>
        <p:nvSpPr>
          <p:cNvPr id="15" name="Rounded Rectangle 14"/>
          <p:cNvSpPr/>
          <p:nvPr/>
        </p:nvSpPr>
        <p:spPr>
          <a:xfrm>
            <a:off x="10900000" y="5600000"/>
            <a:ext cx="9758709" cy="550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100000" y="5750000"/>
            <a:ext cx="9350000" cy="5200000"/>
          </a:xfrm>
          <a:prstGeom prst="rect">
            <a:avLst/>
          </a:prstGeom>
          <a:noFill/>
        </p:spPr>
        <p:txBody>
          <a:bodyPr wrap="square">
            <a:spAutoFit/>
          </a:bodyPr>
          <a:lstStyle/>
          <a:p>
            <a:pPr>
              <a:defRPr sz="1800" b="1">
                <a:solidFill>
                  <a:srgbClr val="FF6F00"/>
                </a:solidFill>
                <a:latin typeface="Arial"/>
              </a:defRPr>
            </a:pPr>
            <a:r>
              <a:t>NGUYÊN TẮC KHÓA LỰA CHỌN (SELECTION BEFORE TEST)</a:t>
            </a:r>
          </a:p>
          <a:p>
            <a:pPr>
              <a:defRPr sz="1500">
                <a:solidFill>
                  <a:srgbClr val="0F172A"/>
                </a:solidFill>
                <a:latin typeface="Arial"/>
              </a:defRPr>
            </a:pPr>
            <a:r>
              <a:t>• Tiêu chí tiên quyết: Chọn mô hình dựa hoàn toàn trên F1 lớp Cháy của tập Validation. Nếu hòa điểm F1 thì xét chỉ số Recall (ưu tiên cứu rừng).</a:t>
            </a:r>
          </a:p>
          <a:p>
            <a:pPr>
              <a:defRPr sz="1500">
                <a:solidFill>
                  <a:srgbClr val="0F172A"/>
                </a:solidFill>
                <a:latin typeface="Arial"/>
              </a:defRPr>
            </a:pPr>
            <a:r>
              <a:t>• Khóa quyết định vào file JSON: Quyết định chọn SVM được ghi nhận vào file results/selection_before_test.json TRƯỚC KHI nạp dữ liệu Test vào tính toán.</a:t>
            </a:r>
          </a:p>
          <a:p>
            <a:pPr>
              <a:defRPr sz="1500" b="1">
                <a:solidFill>
                  <a:srgbClr val="0D47A1"/>
                </a:solidFill>
                <a:latin typeface="Arial"/>
              </a:defRPr>
            </a:pPr>
            <a:r>
              <a:t>• Ý nghĩa học thuật: Tuyệt đối không dùng kết quả Test để quay ngược lại tinh chỉnh siêu tham số (Data snooping / Cherry-picking). Đảm bảo kết quả kiểm thử hoàn toàn khách quan và trung thực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Đánh Giá Hiệu Năng 4 Mô Hình Trên Tập Test (380 Ảnh)</a:t>
            </a:r>
          </a:p>
          <a:p>
            <a:pPr>
              <a:defRPr sz="1600" i="1" b="1">
                <a:solidFill>
                  <a:srgbClr val="1565C0"/>
                </a:solidFill>
                <a:latin typeface="Arial"/>
              </a:defRPr>
            </a:pPr>
            <a:r>
              <a:t>Mục tiêu môn học: Mục 3.4 &amp; 6: Accuracy, Precision, Recall, F1-Score trên 380 ảnh Test độc lập</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9 / 18</a:t>
            </a:r>
          </a:p>
        </p:txBody>
      </p:sp>
      <p:sp>
        <p:nvSpPr>
          <p:cNvPr id="12" name="Rounded Rectangle 11"/>
          <p:cNvSpPr/>
          <p:nvPr/>
        </p:nvSpPr>
        <p:spPr>
          <a:xfrm>
            <a:off x="1016000" y="2150000"/>
            <a:ext cx="4600000" cy="20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6000" y="2300000"/>
            <a:ext cx="4300000" cy="1700000"/>
          </a:xfrm>
          <a:prstGeom prst="rect">
            <a:avLst/>
          </a:prstGeom>
          <a:noFill/>
        </p:spPr>
        <p:txBody>
          <a:bodyPr wrap="square">
            <a:spAutoFit/>
          </a:bodyPr>
          <a:lstStyle/>
          <a:p>
            <a:pPr algn="ctr">
              <a:defRPr sz="4400" b="1">
                <a:solidFill>
                  <a:srgbClr val="1565C0"/>
                </a:solidFill>
                <a:latin typeface="Arial"/>
              </a:defRPr>
            </a:pPr>
            <a:r>
              <a:t>93,95%</a:t>
            </a:r>
          </a:p>
          <a:p>
            <a:pPr algn="ctr">
              <a:defRPr sz="1700" b="1">
                <a:solidFill>
                  <a:srgbClr val="0F172A"/>
                </a:solidFill>
                <a:latin typeface="Arial"/>
              </a:defRPr>
            </a:pPr>
            <a:r>
              <a:t>Accuracy (Độ chính xác)</a:t>
            </a:r>
          </a:p>
          <a:p>
            <a:pPr algn="ctr">
              <a:defRPr sz="1400">
                <a:solidFill>
                  <a:srgbClr val="475569"/>
                </a:solidFill>
                <a:latin typeface="Arial"/>
              </a:defRPr>
            </a:pPr>
            <a:r>
              <a:t>SVM đúng 357/380 ảnh Test</a:t>
            </a:r>
          </a:p>
        </p:txBody>
      </p:sp>
      <p:sp>
        <p:nvSpPr>
          <p:cNvPr id="14" name="Rounded Rectangle 13"/>
          <p:cNvSpPr/>
          <p:nvPr/>
        </p:nvSpPr>
        <p:spPr>
          <a:xfrm>
            <a:off x="6020000" y="2150000"/>
            <a:ext cx="4600000" cy="20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0000" y="2300000"/>
            <a:ext cx="4300000" cy="1700000"/>
          </a:xfrm>
          <a:prstGeom prst="rect">
            <a:avLst/>
          </a:prstGeom>
          <a:noFill/>
        </p:spPr>
        <p:txBody>
          <a:bodyPr wrap="square">
            <a:spAutoFit/>
          </a:bodyPr>
          <a:lstStyle/>
          <a:p>
            <a:pPr algn="ctr">
              <a:defRPr sz="4400" b="1">
                <a:solidFill>
                  <a:srgbClr val="1565C0"/>
                </a:solidFill>
                <a:latin typeface="Arial"/>
              </a:defRPr>
            </a:pPr>
            <a:r>
              <a:t>92,82%</a:t>
            </a:r>
          </a:p>
          <a:p>
            <a:pPr algn="ctr">
              <a:defRPr sz="1700" b="1">
                <a:solidFill>
                  <a:srgbClr val="0F172A"/>
                </a:solidFill>
                <a:latin typeface="Arial"/>
              </a:defRPr>
            </a:pPr>
            <a:r>
              <a:t>Precision Lớp Cháy</a:t>
            </a:r>
          </a:p>
          <a:p>
            <a:pPr algn="ctr">
              <a:defRPr sz="1400">
                <a:solidFill>
                  <a:srgbClr val="475569"/>
                </a:solidFill>
                <a:latin typeface="Arial"/>
              </a:defRPr>
            </a:pPr>
            <a:r>
              <a:t>Báo 195 ảnh, đúng 181 ảnh</a:t>
            </a:r>
          </a:p>
        </p:txBody>
      </p:sp>
      <p:sp>
        <p:nvSpPr>
          <p:cNvPr id="16" name="Rounded Rectangle 15"/>
          <p:cNvSpPr/>
          <p:nvPr/>
        </p:nvSpPr>
        <p:spPr>
          <a:xfrm>
            <a:off x="11024000" y="2150000"/>
            <a:ext cx="4600000" cy="20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174000" y="2300000"/>
            <a:ext cx="4300000" cy="1700000"/>
          </a:xfrm>
          <a:prstGeom prst="rect">
            <a:avLst/>
          </a:prstGeom>
          <a:noFill/>
        </p:spPr>
        <p:txBody>
          <a:bodyPr wrap="square">
            <a:spAutoFit/>
          </a:bodyPr>
          <a:lstStyle/>
          <a:p>
            <a:pPr algn="ctr">
              <a:defRPr sz="4400" b="1">
                <a:solidFill>
                  <a:srgbClr val="2E7D32"/>
                </a:solidFill>
                <a:latin typeface="Arial"/>
              </a:defRPr>
            </a:pPr>
            <a:r>
              <a:t>95,26%</a:t>
            </a:r>
          </a:p>
          <a:p>
            <a:pPr algn="ctr">
              <a:defRPr sz="1700" b="1">
                <a:solidFill>
                  <a:srgbClr val="0F172A"/>
                </a:solidFill>
                <a:latin typeface="Arial"/>
              </a:defRPr>
            </a:pPr>
            <a:r>
              <a:t>Recall Lớp Cháy</a:t>
            </a:r>
          </a:p>
          <a:p>
            <a:pPr algn="ctr">
              <a:defRPr sz="1400">
                <a:solidFill>
                  <a:srgbClr val="475569"/>
                </a:solidFill>
                <a:latin typeface="Arial"/>
              </a:defRPr>
            </a:pPr>
            <a:r>
              <a:t>Chỉ bỏ sót 9/190 vụ cháy thật</a:t>
            </a:r>
          </a:p>
        </p:txBody>
      </p:sp>
      <p:sp>
        <p:nvSpPr>
          <p:cNvPr id="18" name="Rounded Rectangle 17"/>
          <p:cNvSpPr/>
          <p:nvPr/>
        </p:nvSpPr>
        <p:spPr>
          <a:xfrm>
            <a:off x="16028000" y="2150000"/>
            <a:ext cx="4630709" cy="20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178000" y="2300000"/>
            <a:ext cx="4330709" cy="1700000"/>
          </a:xfrm>
          <a:prstGeom prst="rect">
            <a:avLst/>
          </a:prstGeom>
          <a:noFill/>
        </p:spPr>
        <p:txBody>
          <a:bodyPr wrap="square">
            <a:spAutoFit/>
          </a:bodyPr>
          <a:lstStyle/>
          <a:p>
            <a:pPr algn="ctr">
              <a:defRPr sz="4400" b="1">
                <a:solidFill>
                  <a:srgbClr val="2E7D32"/>
                </a:solidFill>
                <a:latin typeface="Arial"/>
              </a:defRPr>
            </a:pPr>
            <a:r>
              <a:t>94,03%</a:t>
            </a:r>
          </a:p>
          <a:p>
            <a:pPr algn="ctr">
              <a:defRPr sz="1700" b="1">
                <a:solidFill>
                  <a:srgbClr val="0F172A"/>
                </a:solidFill>
                <a:latin typeface="Arial"/>
              </a:defRPr>
            </a:pPr>
            <a:r>
              <a:t>F1-Score Lớp Cháy</a:t>
            </a:r>
          </a:p>
          <a:p>
            <a:pPr algn="ctr">
              <a:defRPr sz="1400">
                <a:solidFill>
                  <a:srgbClr val="475569"/>
                </a:solidFill>
                <a:latin typeface="Arial"/>
              </a:defRPr>
            </a:pPr>
            <a:r>
              <a:t>Cân bằng hoàn hảo P &amp; R</a:t>
            </a:r>
          </a:p>
        </p:txBody>
      </p:sp>
      <p:graphicFrame>
        <p:nvGraphicFramePr>
          <p:cNvPr id="20" name="Table 19"/>
          <p:cNvGraphicFramePr>
            <a:graphicFrameLocks noGrp="1"/>
          </p:cNvGraphicFramePr>
          <p:nvPr/>
        </p:nvGraphicFramePr>
        <p:xfrm>
          <a:off x="1016000" y="4350000"/>
          <a:ext cx="10500000" cy="3600000"/>
        </p:xfrm>
        <a:graphic>
          <a:graphicData uri="http://schemas.openxmlformats.org/drawingml/2006/table">
            <a:tbl>
              <a:tblPr firstRow="1" bandRow="1">
                <a:tableStyleId>{5C22544A-7EE6-4342-B048-85BDC9FD1C3A}</a:tableStyleId>
              </a:tblPr>
              <a:tblGrid>
                <a:gridCol w="3300000"/>
                <a:gridCol w="1800000"/>
                <a:gridCol w="1800000"/>
                <a:gridCol w="1800000"/>
                <a:gridCol w="1800000"/>
              </a:tblGrid>
              <a:tr h="720000">
                <a:tc>
                  <a:txBody>
                    <a:bodyPr/>
                    <a:lstStyle/>
                    <a:p>
                      <a:pPr algn="ctr">
                        <a:defRPr sz="1500" b="1">
                          <a:solidFill>
                            <a:srgbClr val="FFFFFF"/>
                          </a:solidFill>
                          <a:latin typeface="Arial"/>
                        </a:defRPr>
                      </a:pPr>
                      <a:r>
                        <a:t>MÔ HÌNH</a:t>
                      </a:r>
                    </a:p>
                  </a:txBody>
                  <a:tcPr>
                    <a:solidFill>
                      <a:srgbClr val="1565C0"/>
                    </a:solidFill>
                  </a:tcPr>
                </a:tc>
                <a:tc>
                  <a:txBody>
                    <a:bodyPr/>
                    <a:lstStyle/>
                    <a:p>
                      <a:pPr algn="ctr">
                        <a:defRPr sz="1500" b="1">
                          <a:solidFill>
                            <a:srgbClr val="FFFFFF"/>
                          </a:solidFill>
                          <a:latin typeface="Arial"/>
                        </a:defRPr>
                      </a:pPr>
                      <a:r>
                        <a:t>ACCURACY</a:t>
                      </a:r>
                    </a:p>
                  </a:txBody>
                  <a:tcPr>
                    <a:solidFill>
                      <a:srgbClr val="1565C0"/>
                    </a:solidFill>
                  </a:tcPr>
                </a:tc>
                <a:tc>
                  <a:txBody>
                    <a:bodyPr/>
                    <a:lstStyle/>
                    <a:p>
                      <a:pPr algn="ctr">
                        <a:defRPr sz="1500" b="1">
                          <a:solidFill>
                            <a:srgbClr val="FFFFFF"/>
                          </a:solidFill>
                          <a:latin typeface="Arial"/>
                        </a:defRPr>
                      </a:pPr>
                      <a:r>
                        <a:t>PRECISION</a:t>
                      </a:r>
                    </a:p>
                  </a:txBody>
                  <a:tcPr>
                    <a:solidFill>
                      <a:srgbClr val="1565C0"/>
                    </a:solidFill>
                  </a:tcPr>
                </a:tc>
                <a:tc>
                  <a:txBody>
                    <a:bodyPr/>
                    <a:lstStyle/>
                    <a:p>
                      <a:pPr algn="ctr">
                        <a:defRPr sz="1500" b="1">
                          <a:solidFill>
                            <a:srgbClr val="FFFFFF"/>
                          </a:solidFill>
                          <a:latin typeface="Arial"/>
                        </a:defRPr>
                      </a:pPr>
                      <a:r>
                        <a:t>RECALL</a:t>
                      </a:r>
                    </a:p>
                  </a:txBody>
                  <a:tcPr>
                    <a:solidFill>
                      <a:srgbClr val="1565C0"/>
                    </a:solidFill>
                  </a:tcPr>
                </a:tc>
                <a:tc>
                  <a:txBody>
                    <a:bodyPr/>
                    <a:lstStyle/>
                    <a:p>
                      <a:pPr algn="ctr">
                        <a:defRPr sz="1500" b="1">
                          <a:solidFill>
                            <a:srgbClr val="FFFFFF"/>
                          </a:solidFill>
                          <a:latin typeface="Arial"/>
                        </a:defRPr>
                      </a:pPr>
                      <a:r>
                        <a:t>F1-SCORE</a:t>
                      </a:r>
                    </a:p>
                  </a:txBody>
                  <a:tcPr>
                    <a:solidFill>
                      <a:srgbClr val="1565C0"/>
                    </a:solidFill>
                  </a:tcPr>
                </a:tc>
              </a:tr>
              <a:tr h="720000">
                <a:tc>
                  <a:txBody>
                    <a:bodyPr/>
                    <a:lstStyle/>
                    <a:p>
                      <a:pPr>
                        <a:defRPr sz="1500" b="1">
                          <a:solidFill>
                            <a:srgbClr val="0F172A"/>
                          </a:solidFill>
                          <a:latin typeface="Arial"/>
                        </a:defRPr>
                      </a:pPr>
                      <a:r>
                        <a:t>Logistic Regression</a:t>
                      </a:r>
                    </a:p>
                  </a:txBody>
                  <a:tcPr>
                    <a:solidFill>
                      <a:srgbClr val="FFFFFF"/>
                    </a:solidFill>
                  </a:tcPr>
                </a:tc>
                <a:tc>
                  <a:txBody>
                    <a:bodyPr/>
                    <a:lstStyle/>
                    <a:p>
                      <a:pPr algn="ctr">
                        <a:defRPr sz="1500">
                          <a:solidFill>
                            <a:srgbClr val="0F172A"/>
                          </a:solidFill>
                          <a:latin typeface="Arial"/>
                        </a:defRPr>
                      </a:pPr>
                      <a:r>
                        <a:t>92,63%</a:t>
                      </a:r>
                    </a:p>
                  </a:txBody>
                  <a:tcPr>
                    <a:solidFill>
                      <a:srgbClr val="FFFFFF"/>
                    </a:solidFill>
                  </a:tcPr>
                </a:tc>
                <a:tc>
                  <a:txBody>
                    <a:bodyPr/>
                    <a:lstStyle/>
                    <a:p>
                      <a:pPr algn="ctr">
                        <a:defRPr sz="1500">
                          <a:solidFill>
                            <a:srgbClr val="0F172A"/>
                          </a:solidFill>
                          <a:latin typeface="Arial"/>
                        </a:defRPr>
                      </a:pPr>
                      <a:r>
                        <a:t>92,19%</a:t>
                      </a:r>
                    </a:p>
                  </a:txBody>
                  <a:tcPr>
                    <a:solidFill>
                      <a:srgbClr val="FFFFFF"/>
                    </a:solidFill>
                  </a:tcPr>
                </a:tc>
                <a:tc>
                  <a:txBody>
                    <a:bodyPr/>
                    <a:lstStyle/>
                    <a:p>
                      <a:pPr algn="ctr">
                        <a:defRPr sz="1500">
                          <a:solidFill>
                            <a:srgbClr val="0F172A"/>
                          </a:solidFill>
                          <a:latin typeface="Arial"/>
                        </a:defRPr>
                      </a:pPr>
                      <a:r>
                        <a:t>93,16%</a:t>
                      </a:r>
                    </a:p>
                  </a:txBody>
                  <a:tcPr>
                    <a:solidFill>
                      <a:srgbClr val="FFFFFF"/>
                    </a:solidFill>
                  </a:tcPr>
                </a:tc>
                <a:tc>
                  <a:txBody>
                    <a:bodyPr/>
                    <a:lstStyle/>
                    <a:p>
                      <a:pPr algn="ctr">
                        <a:defRPr sz="1500">
                          <a:solidFill>
                            <a:srgbClr val="0F172A"/>
                          </a:solidFill>
                          <a:latin typeface="Arial"/>
                        </a:defRPr>
                      </a:pPr>
                      <a:r>
                        <a:t>92,67%</a:t>
                      </a:r>
                    </a:p>
                  </a:txBody>
                  <a:tcPr>
                    <a:solidFill>
                      <a:srgbClr val="FFFFFF"/>
                    </a:solidFill>
                  </a:tcPr>
                </a:tc>
              </a:tr>
              <a:tr h="720000">
                <a:tc>
                  <a:txBody>
                    <a:bodyPr/>
                    <a:lstStyle/>
                    <a:p>
                      <a:pPr>
                        <a:defRPr sz="1500" b="1">
                          <a:solidFill>
                            <a:srgbClr val="0F172A"/>
                          </a:solidFill>
                          <a:latin typeface="Arial"/>
                        </a:defRPr>
                      </a:pPr>
                      <a:r>
                        <a:t>KNN</a:t>
                      </a:r>
                    </a:p>
                  </a:txBody>
                  <a:tcPr>
                    <a:solidFill>
                      <a:srgbClr val="F1F5F9"/>
                    </a:solidFill>
                  </a:tcPr>
                </a:tc>
                <a:tc>
                  <a:txBody>
                    <a:bodyPr/>
                    <a:lstStyle/>
                    <a:p>
                      <a:pPr algn="ctr">
                        <a:defRPr sz="1500">
                          <a:solidFill>
                            <a:srgbClr val="0F172A"/>
                          </a:solidFill>
                          <a:latin typeface="Arial"/>
                        </a:defRPr>
                      </a:pPr>
                      <a:r>
                        <a:t>74,47%</a:t>
                      </a:r>
                    </a:p>
                  </a:txBody>
                  <a:tcPr>
                    <a:solidFill>
                      <a:srgbClr val="F1F5F9"/>
                    </a:solidFill>
                  </a:tcPr>
                </a:tc>
                <a:tc>
                  <a:txBody>
                    <a:bodyPr/>
                    <a:lstStyle/>
                    <a:p>
                      <a:pPr algn="ctr">
                        <a:defRPr sz="1500">
                          <a:solidFill>
                            <a:srgbClr val="0F172A"/>
                          </a:solidFill>
                          <a:latin typeface="Arial"/>
                        </a:defRPr>
                      </a:pPr>
                      <a:r>
                        <a:t>92,66%</a:t>
                      </a:r>
                    </a:p>
                  </a:txBody>
                  <a:tcPr>
                    <a:solidFill>
                      <a:srgbClr val="F1F5F9"/>
                    </a:solidFill>
                  </a:tcPr>
                </a:tc>
                <a:tc>
                  <a:txBody>
                    <a:bodyPr/>
                    <a:lstStyle/>
                    <a:p>
                      <a:pPr algn="ctr">
                        <a:defRPr sz="1500">
                          <a:solidFill>
                            <a:srgbClr val="0F172A"/>
                          </a:solidFill>
                          <a:latin typeface="Arial"/>
                        </a:defRPr>
                      </a:pPr>
                      <a:r>
                        <a:t>53,16%</a:t>
                      </a:r>
                    </a:p>
                  </a:txBody>
                  <a:tcPr>
                    <a:solidFill>
                      <a:srgbClr val="F1F5F9"/>
                    </a:solidFill>
                  </a:tcPr>
                </a:tc>
                <a:tc>
                  <a:txBody>
                    <a:bodyPr/>
                    <a:lstStyle/>
                    <a:p>
                      <a:pPr algn="ctr">
                        <a:defRPr sz="1500">
                          <a:solidFill>
                            <a:srgbClr val="0F172A"/>
                          </a:solidFill>
                          <a:latin typeface="Arial"/>
                        </a:defRPr>
                      </a:pPr>
                      <a:r>
                        <a:t>67,56%</a:t>
                      </a:r>
                    </a:p>
                  </a:txBody>
                  <a:tcPr>
                    <a:solidFill>
                      <a:srgbClr val="F1F5F9"/>
                    </a:solidFill>
                  </a:tcPr>
                </a:tc>
              </a:tr>
              <a:tr h="720000">
                <a:tc>
                  <a:txBody>
                    <a:bodyPr/>
                    <a:lstStyle/>
                    <a:p>
                      <a:pPr>
                        <a:defRPr sz="1500" b="1">
                          <a:solidFill>
                            <a:srgbClr val="0F172A"/>
                          </a:solidFill>
                          <a:latin typeface="Arial"/>
                        </a:defRPr>
                      </a:pPr>
                      <a:r>
                        <a:t>SVM (Tối ưu nhất)</a:t>
                      </a:r>
                    </a:p>
                  </a:txBody>
                  <a:tcPr>
                    <a:solidFill>
                      <a:srgbClr val="EEF6FF"/>
                    </a:solidFill>
                  </a:tcPr>
                </a:tc>
                <a:tc>
                  <a:txBody>
                    <a:bodyPr/>
                    <a:lstStyle/>
                    <a:p>
                      <a:pPr algn="ctr">
                        <a:defRPr sz="1500" b="1">
                          <a:solidFill>
                            <a:srgbClr val="0F172A"/>
                          </a:solidFill>
                          <a:latin typeface="Arial"/>
                        </a:defRPr>
                      </a:pPr>
                      <a:r>
                        <a:t>93,95%</a:t>
                      </a:r>
                    </a:p>
                  </a:txBody>
                  <a:tcPr>
                    <a:solidFill>
                      <a:srgbClr val="EEF6FF"/>
                    </a:solidFill>
                  </a:tcPr>
                </a:tc>
                <a:tc>
                  <a:txBody>
                    <a:bodyPr/>
                    <a:lstStyle/>
                    <a:p>
                      <a:pPr algn="ctr">
                        <a:defRPr sz="1500" b="1">
                          <a:solidFill>
                            <a:srgbClr val="0F172A"/>
                          </a:solidFill>
                          <a:latin typeface="Arial"/>
                        </a:defRPr>
                      </a:pPr>
                      <a:r>
                        <a:t>92,82%</a:t>
                      </a:r>
                    </a:p>
                  </a:txBody>
                  <a:tcPr>
                    <a:solidFill>
                      <a:srgbClr val="EEF6FF"/>
                    </a:solidFill>
                  </a:tcPr>
                </a:tc>
                <a:tc>
                  <a:txBody>
                    <a:bodyPr/>
                    <a:lstStyle/>
                    <a:p>
                      <a:pPr algn="ctr">
                        <a:defRPr sz="1500" b="1">
                          <a:solidFill>
                            <a:srgbClr val="0F172A"/>
                          </a:solidFill>
                          <a:latin typeface="Arial"/>
                        </a:defRPr>
                      </a:pPr>
                      <a:r>
                        <a:t>95,26%</a:t>
                      </a:r>
                    </a:p>
                  </a:txBody>
                  <a:tcPr>
                    <a:solidFill>
                      <a:srgbClr val="EEF6FF"/>
                    </a:solidFill>
                  </a:tcPr>
                </a:tc>
                <a:tc>
                  <a:txBody>
                    <a:bodyPr/>
                    <a:lstStyle/>
                    <a:p>
                      <a:pPr algn="ctr">
                        <a:defRPr sz="1500" b="1">
                          <a:solidFill>
                            <a:srgbClr val="2E7D32"/>
                          </a:solidFill>
                          <a:latin typeface="Arial"/>
                        </a:defRPr>
                      </a:pPr>
                      <a:r>
                        <a:t>94,03%</a:t>
                      </a:r>
                    </a:p>
                  </a:txBody>
                  <a:tcPr>
                    <a:solidFill>
                      <a:srgbClr val="EEF6FF"/>
                    </a:solidFill>
                  </a:tcPr>
                </a:tc>
              </a:tr>
              <a:tr h="720000">
                <a:tc>
                  <a:txBody>
                    <a:bodyPr/>
                    <a:lstStyle/>
                    <a:p>
                      <a:pPr>
                        <a:defRPr sz="1500" b="1">
                          <a:solidFill>
                            <a:srgbClr val="0F172A"/>
                          </a:solidFill>
                          <a:latin typeface="Arial"/>
                        </a:defRPr>
                      </a:pPr>
                      <a:r>
                        <a:t>Random Forest</a:t>
                      </a:r>
                    </a:p>
                  </a:txBody>
                  <a:tcPr>
                    <a:solidFill>
                      <a:srgbClr val="F1F5F9"/>
                    </a:solidFill>
                  </a:tcPr>
                </a:tc>
                <a:tc>
                  <a:txBody>
                    <a:bodyPr/>
                    <a:lstStyle/>
                    <a:p>
                      <a:pPr algn="ctr">
                        <a:defRPr sz="1500">
                          <a:solidFill>
                            <a:srgbClr val="0F172A"/>
                          </a:solidFill>
                          <a:latin typeface="Arial"/>
                        </a:defRPr>
                      </a:pPr>
                      <a:r>
                        <a:t>87,63%</a:t>
                      </a:r>
                    </a:p>
                  </a:txBody>
                  <a:tcPr>
                    <a:solidFill>
                      <a:srgbClr val="F1F5F9"/>
                    </a:solidFill>
                  </a:tcPr>
                </a:tc>
                <a:tc>
                  <a:txBody>
                    <a:bodyPr/>
                    <a:lstStyle/>
                    <a:p>
                      <a:pPr algn="ctr">
                        <a:defRPr sz="1500">
                          <a:solidFill>
                            <a:srgbClr val="0F172A"/>
                          </a:solidFill>
                          <a:latin typeface="Arial"/>
                        </a:defRPr>
                      </a:pPr>
                      <a:r>
                        <a:t>88,65%</a:t>
                      </a:r>
                    </a:p>
                  </a:txBody>
                  <a:tcPr>
                    <a:solidFill>
                      <a:srgbClr val="F1F5F9"/>
                    </a:solidFill>
                  </a:tcPr>
                </a:tc>
                <a:tc>
                  <a:txBody>
                    <a:bodyPr/>
                    <a:lstStyle/>
                    <a:p>
                      <a:pPr algn="ctr">
                        <a:defRPr sz="1500">
                          <a:solidFill>
                            <a:srgbClr val="0F172A"/>
                          </a:solidFill>
                          <a:latin typeface="Arial"/>
                        </a:defRPr>
                      </a:pPr>
                      <a:r>
                        <a:t>86,32%</a:t>
                      </a:r>
                    </a:p>
                  </a:txBody>
                  <a:tcPr>
                    <a:solidFill>
                      <a:srgbClr val="F1F5F9"/>
                    </a:solidFill>
                  </a:tcPr>
                </a:tc>
                <a:tc>
                  <a:txBody>
                    <a:bodyPr/>
                    <a:lstStyle/>
                    <a:p>
                      <a:pPr algn="ctr">
                        <a:defRPr sz="1500">
                          <a:solidFill>
                            <a:srgbClr val="0F172A"/>
                          </a:solidFill>
                          <a:latin typeface="Arial"/>
                        </a:defRPr>
                      </a:pPr>
                      <a:r>
                        <a:t>87,47%</a:t>
                      </a:r>
                    </a:p>
                  </a:txBody>
                  <a:tcPr>
                    <a:solidFill>
                      <a:srgbClr val="F1F5F9"/>
                    </a:solidFill>
                  </a:tcPr>
                </a:tc>
              </a:tr>
            </a:tbl>
          </a:graphicData>
        </a:graphic>
      </p:graphicFrame>
      <p:pic>
        <p:nvPicPr>
          <p:cNvPr id="21" name="Picture 20" descr="07_model_comparison.png"/>
          <p:cNvPicPr>
            <a:picLocks noChangeAspect="1"/>
          </p:cNvPicPr>
          <p:nvPr/>
        </p:nvPicPr>
        <p:blipFill>
          <a:blip r:embed="rId2"/>
          <a:stretch>
            <a:fillRect/>
          </a:stretch>
        </p:blipFill>
        <p:spPr>
          <a:xfrm>
            <a:off x="11800000" y="4350000"/>
            <a:ext cx="8858709" cy="3600000"/>
          </a:xfrm>
          <a:prstGeom prst="rect">
            <a:avLst/>
          </a:prstGeom>
        </p:spPr>
      </p:pic>
      <p:sp>
        <p:nvSpPr>
          <p:cNvPr id="22" name="Rounded Rectangle 21"/>
          <p:cNvSpPr/>
          <p:nvPr/>
        </p:nvSpPr>
        <p:spPr>
          <a:xfrm>
            <a:off x="1016000" y="8150000"/>
            <a:ext cx="19642709" cy="30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00000" y="8250000"/>
            <a:ext cx="19200000" cy="2800000"/>
          </a:xfrm>
          <a:prstGeom prst="rect">
            <a:avLst/>
          </a:prstGeom>
          <a:noFill/>
        </p:spPr>
        <p:txBody>
          <a:bodyPr wrap="square">
            <a:spAutoFit/>
          </a:bodyPr>
          <a:lstStyle/>
          <a:p>
            <a:pPr>
              <a:defRPr sz="1700" b="1">
                <a:solidFill>
                  <a:srgbClr val="1565C0"/>
                </a:solidFill>
                <a:latin typeface="Arial"/>
              </a:defRPr>
            </a:pPr>
            <a:r>
              <a:t>PHÂN TÍCH CHUYÊN SÂU CÁC METRICS TRÊN TẬP TEST ĐỘC LẬP:</a:t>
            </a:r>
          </a:p>
          <a:p>
            <a:pPr>
              <a:defRPr sz="1400">
                <a:solidFill>
                  <a:srgbClr val="0F172A"/>
                </a:solidFill>
                <a:latin typeface="Arial"/>
              </a:defRPr>
            </a:pPr>
            <a:r>
              <a:t>• SVM đạt quán quân toàn diện: Accuracy đạt 93.95% (357/380 ảnh đúng), F1 đạt 94.03%. Đặc biệt Recall lớp Cháy đạt 95.26%, chỉ để lọt 9 đám cháy trong tổng số 190 ảnh cháy thử nghiệm.</a:t>
            </a:r>
          </a:p>
          <a:p>
            <a:pPr>
              <a:defRPr sz="1400">
                <a:solidFill>
                  <a:srgbClr val="0F172A"/>
                </a:solidFill>
                <a:latin typeface="Arial"/>
              </a:defRPr>
            </a:pPr>
            <a:r>
              <a:t>• Logistic Regression là đối chứng rất mạnh: Đạt F1 92.67%, chỉ kém SVM 1.36 điểm phần trăm. Điều này chứng minh không gian đặc trưng HSV + HOG sau PCA đã có độ phân tách tuyến tính rất tốt.</a:t>
            </a:r>
          </a:p>
          <a:p>
            <a:pPr>
              <a:defRPr sz="1400">
                <a:solidFill>
                  <a:srgbClr val="0F172A"/>
                </a:solidFill>
                <a:latin typeface="Arial"/>
              </a:defRPr>
            </a:pPr>
            <a:r>
              <a:t>• Thất bại của KNN (Recall chỉ 53.16%): Mặc dù Precision cao (92.66%), nhưng KNN bỏ sót tới gần 47% số vụ cháy. Hiện tượng khoảng cách Euclidean bị bão hòa trong không gian 231 chiều khiến KNN không thể phát hiện hiệu quả.</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Báo Cáo Phân Loại Chi Tiết Cả Hai Lớp (Classification Report)</a:t>
            </a:r>
          </a:p>
          <a:p>
            <a:pPr>
              <a:defRPr sz="1600" i="1" b="1">
                <a:solidFill>
                  <a:srgbClr val="1565C0"/>
                </a:solidFill>
                <a:latin typeface="Arial"/>
              </a:defRPr>
            </a:pPr>
            <a:r>
              <a:t>Mục tiêu môn học: Mục 6: Bổ sung đầy đủ các Report theo yêu cầu của Thầy</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10 / 18</a:t>
            </a:r>
          </a:p>
        </p:txBody>
      </p:sp>
      <p:graphicFrame>
        <p:nvGraphicFramePr>
          <p:cNvPr id="12" name="Table 11"/>
          <p:cNvGraphicFramePr>
            <a:graphicFrameLocks noGrp="1"/>
          </p:cNvGraphicFramePr>
          <p:nvPr/>
        </p:nvGraphicFramePr>
        <p:xfrm>
          <a:off x="1016000" y="2150000"/>
          <a:ext cx="19642709" cy="6200000"/>
        </p:xfrm>
        <a:graphic>
          <a:graphicData uri="http://schemas.openxmlformats.org/drawingml/2006/table">
            <a:tbl>
              <a:tblPr firstRow="1" bandRow="1">
                <a:tableStyleId>{5C22544A-7EE6-4342-B048-85BDC9FD1C3A}</a:tableStyleId>
              </a:tblPr>
              <a:tblGrid>
                <a:gridCol w="4600000"/>
                <a:gridCol w="3000000"/>
                <a:gridCol w="3000000"/>
                <a:gridCol w="3000000"/>
                <a:gridCol w="3000000"/>
                <a:gridCol w="3042709"/>
              </a:tblGrid>
              <a:tr h="476923">
                <a:tc>
                  <a:txBody>
                    <a:bodyPr/>
                    <a:lstStyle/>
                    <a:p>
                      <a:pPr algn="ctr">
                        <a:defRPr sz="1500" b="1">
                          <a:solidFill>
                            <a:srgbClr val="FFFFFF"/>
                          </a:solidFill>
                          <a:latin typeface="Arial"/>
                        </a:defRPr>
                      </a:pPr>
                      <a:r>
                        <a:t>MÔ HÌNH</a:t>
                      </a:r>
                    </a:p>
                  </a:txBody>
                  <a:tcPr>
                    <a:solidFill>
                      <a:srgbClr val="1565C0"/>
                    </a:solidFill>
                  </a:tcPr>
                </a:tc>
                <a:tc>
                  <a:txBody>
                    <a:bodyPr/>
                    <a:lstStyle/>
                    <a:p>
                      <a:pPr algn="ctr">
                        <a:defRPr sz="1500" b="1">
                          <a:solidFill>
                            <a:srgbClr val="FFFFFF"/>
                          </a:solidFill>
                          <a:latin typeface="Arial"/>
                        </a:defRPr>
                      </a:pPr>
                      <a:r>
                        <a:t>LỚP DỰ ĐOÁN</a:t>
                      </a:r>
                    </a:p>
                  </a:txBody>
                  <a:tcPr>
                    <a:solidFill>
                      <a:srgbClr val="1565C0"/>
                    </a:solidFill>
                  </a:tcPr>
                </a:tc>
                <a:tc>
                  <a:txBody>
                    <a:bodyPr/>
                    <a:lstStyle/>
                    <a:p>
                      <a:pPr algn="ctr">
                        <a:defRPr sz="1500" b="1">
                          <a:solidFill>
                            <a:srgbClr val="FFFFFF"/>
                          </a:solidFill>
                          <a:latin typeface="Arial"/>
                        </a:defRPr>
                      </a:pPr>
                      <a:r>
                        <a:t>PRECISION</a:t>
                      </a:r>
                    </a:p>
                  </a:txBody>
                  <a:tcPr>
                    <a:solidFill>
                      <a:srgbClr val="1565C0"/>
                    </a:solidFill>
                  </a:tcPr>
                </a:tc>
                <a:tc>
                  <a:txBody>
                    <a:bodyPr/>
                    <a:lstStyle/>
                    <a:p>
                      <a:pPr algn="ctr">
                        <a:defRPr sz="1500" b="1">
                          <a:solidFill>
                            <a:srgbClr val="FFFFFF"/>
                          </a:solidFill>
                          <a:latin typeface="Arial"/>
                        </a:defRPr>
                      </a:pPr>
                      <a:r>
                        <a:t>RECALL</a:t>
                      </a:r>
                    </a:p>
                  </a:txBody>
                  <a:tcPr>
                    <a:solidFill>
                      <a:srgbClr val="1565C0"/>
                    </a:solidFill>
                  </a:tcPr>
                </a:tc>
                <a:tc>
                  <a:txBody>
                    <a:bodyPr/>
                    <a:lstStyle/>
                    <a:p>
                      <a:pPr algn="ctr">
                        <a:defRPr sz="1500" b="1">
                          <a:solidFill>
                            <a:srgbClr val="FFFFFF"/>
                          </a:solidFill>
                          <a:latin typeface="Arial"/>
                        </a:defRPr>
                      </a:pPr>
                      <a:r>
                        <a:t>F1-SCORE</a:t>
                      </a:r>
                    </a:p>
                  </a:txBody>
                  <a:tcPr>
                    <a:solidFill>
                      <a:srgbClr val="1565C0"/>
                    </a:solidFill>
                  </a:tcPr>
                </a:tc>
                <a:tc>
                  <a:txBody>
                    <a:bodyPr/>
                    <a:lstStyle/>
                    <a:p>
                      <a:pPr algn="ctr">
                        <a:defRPr sz="1500" b="1">
                          <a:solidFill>
                            <a:srgbClr val="FFFFFF"/>
                          </a:solidFill>
                          <a:latin typeface="Arial"/>
                        </a:defRPr>
                      </a:pPr>
                      <a:r>
                        <a:t>SUPPORT (MẪU)</a:t>
                      </a:r>
                    </a:p>
                  </a:txBody>
                  <a:tcPr>
                    <a:solidFill>
                      <a:srgbClr val="1565C0"/>
                    </a:solidFill>
                  </a:tcPr>
                </a:tc>
              </a:tr>
              <a:tr h="476923">
                <a:tc>
                  <a:txBody>
                    <a:bodyPr/>
                    <a:lstStyle/>
                    <a:p>
                      <a:pPr>
                        <a:defRPr sz="1400" b="1">
                          <a:solidFill>
                            <a:srgbClr val="0F172A"/>
                          </a:solidFill>
                          <a:latin typeface="Arial"/>
                        </a:defRPr>
                      </a:pPr>
                      <a:r>
                        <a:t>SVM (Tối ưu)</a:t>
                      </a:r>
                    </a:p>
                  </a:txBody>
                  <a:tcPr>
                    <a:solidFill>
                      <a:srgbClr val="EEF6FF"/>
                    </a:solidFill>
                  </a:tcPr>
                </a:tc>
                <a:tc>
                  <a:txBody>
                    <a:bodyPr/>
                    <a:lstStyle/>
                    <a:p>
                      <a:pPr>
                        <a:defRPr sz="1400">
                          <a:solidFill>
                            <a:srgbClr val="0F172A"/>
                          </a:solidFill>
                          <a:latin typeface="Arial"/>
                        </a:defRPr>
                      </a:pPr>
                      <a:r>
                        <a:t>Không cháy (Lớp 0)</a:t>
                      </a:r>
                    </a:p>
                  </a:txBody>
                  <a:tcPr>
                    <a:solidFill>
                      <a:srgbClr val="EEF6FF"/>
                    </a:solidFill>
                  </a:tcPr>
                </a:tc>
                <a:tc>
                  <a:txBody>
                    <a:bodyPr/>
                    <a:lstStyle/>
                    <a:p>
                      <a:pPr algn="ctr">
                        <a:defRPr sz="1400">
                          <a:solidFill>
                            <a:srgbClr val="0F172A"/>
                          </a:solidFill>
                          <a:latin typeface="Arial"/>
                        </a:defRPr>
                      </a:pPr>
                      <a:r>
                        <a:t>95,14%</a:t>
                      </a:r>
                    </a:p>
                  </a:txBody>
                  <a:tcPr>
                    <a:solidFill>
                      <a:srgbClr val="EEF6FF"/>
                    </a:solidFill>
                  </a:tcPr>
                </a:tc>
                <a:tc>
                  <a:txBody>
                    <a:bodyPr/>
                    <a:lstStyle/>
                    <a:p>
                      <a:pPr algn="ctr">
                        <a:defRPr sz="1400">
                          <a:solidFill>
                            <a:srgbClr val="0F172A"/>
                          </a:solidFill>
                          <a:latin typeface="Arial"/>
                        </a:defRPr>
                      </a:pPr>
                      <a:r>
                        <a:t>92,63%</a:t>
                      </a:r>
                    </a:p>
                  </a:txBody>
                  <a:tcPr>
                    <a:solidFill>
                      <a:srgbClr val="EEF6FF"/>
                    </a:solidFill>
                  </a:tcPr>
                </a:tc>
                <a:tc>
                  <a:txBody>
                    <a:bodyPr/>
                    <a:lstStyle/>
                    <a:p>
                      <a:pPr algn="ctr">
                        <a:defRPr sz="1400" b="1">
                          <a:solidFill>
                            <a:srgbClr val="2E7D32"/>
                          </a:solidFill>
                          <a:latin typeface="Arial"/>
                        </a:defRPr>
                      </a:pPr>
                      <a:r>
                        <a:t>93,87%</a:t>
                      </a:r>
                    </a:p>
                  </a:txBody>
                  <a:tcPr>
                    <a:solidFill>
                      <a:srgbClr val="EEF6FF"/>
                    </a:solidFill>
                  </a:tcPr>
                </a:tc>
                <a:tc>
                  <a:txBody>
                    <a:bodyPr/>
                    <a:lstStyle/>
                    <a:p>
                      <a:pPr algn="ctr">
                        <a:defRPr sz="1400">
                          <a:solidFill>
                            <a:srgbClr val="0F172A"/>
                          </a:solidFill>
                          <a:latin typeface="Arial"/>
                        </a:defRPr>
                      </a:pPr>
                      <a:r>
                        <a:t>190 ảnh</a:t>
                      </a:r>
                    </a:p>
                  </a:txBody>
                  <a:tcPr>
                    <a:solidFill>
                      <a:srgbClr val="EEF6FF"/>
                    </a:solidFill>
                  </a:tcPr>
                </a:tc>
              </a:tr>
              <a:tr h="476923">
                <a:tc>
                  <a:txBody>
                    <a:bodyPr/>
                    <a:lstStyle/>
                    <a:p>
                      <a:pPr>
                        <a:defRPr sz="1400" b="1">
                          <a:solidFill>
                            <a:srgbClr val="0F172A"/>
                          </a:solidFill>
                          <a:latin typeface="Arial"/>
                        </a:defRPr>
                      </a:pPr>
                      <a:r>
                        <a:t>SVM (Tối ưu)</a:t>
                      </a:r>
                    </a:p>
                  </a:txBody>
                  <a:tcPr>
                    <a:solidFill>
                      <a:srgbClr val="EEF6FF"/>
                    </a:solidFill>
                  </a:tcPr>
                </a:tc>
                <a:tc>
                  <a:txBody>
                    <a:bodyPr/>
                    <a:lstStyle/>
                    <a:p>
                      <a:pPr>
                        <a:defRPr sz="1400">
                          <a:solidFill>
                            <a:srgbClr val="0F172A"/>
                          </a:solidFill>
                          <a:latin typeface="Arial"/>
                        </a:defRPr>
                      </a:pPr>
                      <a:r>
                        <a:t>Cháy (Lớp 1)</a:t>
                      </a:r>
                    </a:p>
                  </a:txBody>
                  <a:tcPr>
                    <a:solidFill>
                      <a:srgbClr val="EEF6FF"/>
                    </a:solidFill>
                  </a:tcPr>
                </a:tc>
                <a:tc>
                  <a:txBody>
                    <a:bodyPr/>
                    <a:lstStyle/>
                    <a:p>
                      <a:pPr algn="ctr">
                        <a:defRPr sz="1400">
                          <a:solidFill>
                            <a:srgbClr val="0F172A"/>
                          </a:solidFill>
                          <a:latin typeface="Arial"/>
                        </a:defRPr>
                      </a:pPr>
                      <a:r>
                        <a:t>92,82%</a:t>
                      </a:r>
                    </a:p>
                  </a:txBody>
                  <a:tcPr>
                    <a:solidFill>
                      <a:srgbClr val="EEF6FF"/>
                    </a:solidFill>
                  </a:tcPr>
                </a:tc>
                <a:tc>
                  <a:txBody>
                    <a:bodyPr/>
                    <a:lstStyle/>
                    <a:p>
                      <a:pPr algn="ctr">
                        <a:defRPr sz="1400">
                          <a:solidFill>
                            <a:srgbClr val="0F172A"/>
                          </a:solidFill>
                          <a:latin typeface="Arial"/>
                        </a:defRPr>
                      </a:pPr>
                      <a:r>
                        <a:t>95,26%</a:t>
                      </a:r>
                    </a:p>
                  </a:txBody>
                  <a:tcPr>
                    <a:solidFill>
                      <a:srgbClr val="EEF6FF"/>
                    </a:solidFill>
                  </a:tcPr>
                </a:tc>
                <a:tc>
                  <a:txBody>
                    <a:bodyPr/>
                    <a:lstStyle/>
                    <a:p>
                      <a:pPr algn="ctr">
                        <a:defRPr sz="1400" b="1">
                          <a:solidFill>
                            <a:srgbClr val="2E7D32"/>
                          </a:solidFill>
                          <a:latin typeface="Arial"/>
                        </a:defRPr>
                      </a:pPr>
                      <a:r>
                        <a:t>94,03%</a:t>
                      </a:r>
                    </a:p>
                  </a:txBody>
                  <a:tcPr>
                    <a:solidFill>
                      <a:srgbClr val="EEF6FF"/>
                    </a:solidFill>
                  </a:tcPr>
                </a:tc>
                <a:tc>
                  <a:txBody>
                    <a:bodyPr/>
                    <a:lstStyle/>
                    <a:p>
                      <a:pPr algn="ctr">
                        <a:defRPr sz="1400">
                          <a:solidFill>
                            <a:srgbClr val="0F172A"/>
                          </a:solidFill>
                          <a:latin typeface="Arial"/>
                        </a:defRPr>
                      </a:pPr>
                      <a:r>
                        <a:t>190 ảnh</a:t>
                      </a:r>
                    </a:p>
                  </a:txBody>
                  <a:tcPr>
                    <a:solidFill>
                      <a:srgbClr val="EEF6FF"/>
                    </a:solidFill>
                  </a:tcPr>
                </a:tc>
              </a:tr>
              <a:tr h="476923">
                <a:tc>
                  <a:txBody>
                    <a:bodyPr/>
                    <a:lstStyle/>
                    <a:p>
                      <a:pPr>
                        <a:defRPr sz="1400" b="1">
                          <a:solidFill>
                            <a:srgbClr val="0F172A"/>
                          </a:solidFill>
                          <a:latin typeface="Arial"/>
                        </a:defRPr>
                      </a:pPr>
                      <a:r>
                        <a:t>SVM (Tối ưu)</a:t>
                      </a:r>
                    </a:p>
                  </a:txBody>
                  <a:tcPr>
                    <a:solidFill>
                      <a:srgbClr val="EEF6FF"/>
                    </a:solidFill>
                  </a:tcPr>
                </a:tc>
                <a:tc>
                  <a:txBody>
                    <a:bodyPr/>
                    <a:lstStyle/>
                    <a:p>
                      <a:pPr>
                        <a:defRPr sz="1400" b="1">
                          <a:solidFill>
                            <a:srgbClr val="0F172A"/>
                          </a:solidFill>
                          <a:latin typeface="Arial"/>
                        </a:defRPr>
                      </a:pPr>
                      <a:r>
                        <a:t>Macro Avg / Weighted Avg</a:t>
                      </a:r>
                    </a:p>
                  </a:txBody>
                  <a:tcPr>
                    <a:solidFill>
                      <a:srgbClr val="EEF6FF"/>
                    </a:solidFill>
                  </a:tcPr>
                </a:tc>
                <a:tc>
                  <a:txBody>
                    <a:bodyPr/>
                    <a:lstStyle/>
                    <a:p>
                      <a:pPr algn="ctr">
                        <a:defRPr sz="1400" b="1">
                          <a:solidFill>
                            <a:srgbClr val="0F172A"/>
                          </a:solidFill>
                          <a:latin typeface="Arial"/>
                        </a:defRPr>
                      </a:pPr>
                      <a:r>
                        <a:t>93,98%</a:t>
                      </a:r>
                    </a:p>
                  </a:txBody>
                  <a:tcPr>
                    <a:solidFill>
                      <a:srgbClr val="EEF6FF"/>
                    </a:solidFill>
                  </a:tcPr>
                </a:tc>
                <a:tc>
                  <a:txBody>
                    <a:bodyPr/>
                    <a:lstStyle/>
                    <a:p>
                      <a:pPr algn="ctr">
                        <a:defRPr sz="1400" b="1">
                          <a:solidFill>
                            <a:srgbClr val="0F172A"/>
                          </a:solidFill>
                          <a:latin typeface="Arial"/>
                        </a:defRPr>
                      </a:pPr>
                      <a:r>
                        <a:t>93,95%</a:t>
                      </a:r>
                    </a:p>
                  </a:txBody>
                  <a:tcPr>
                    <a:solidFill>
                      <a:srgbClr val="EEF6FF"/>
                    </a:solidFill>
                  </a:tcPr>
                </a:tc>
                <a:tc>
                  <a:txBody>
                    <a:bodyPr/>
                    <a:lstStyle/>
                    <a:p>
                      <a:pPr algn="ctr">
                        <a:defRPr sz="1400" b="1">
                          <a:solidFill>
                            <a:srgbClr val="2E7D32"/>
                          </a:solidFill>
                          <a:latin typeface="Arial"/>
                        </a:defRPr>
                      </a:pPr>
                      <a:r>
                        <a:t>93,95%</a:t>
                      </a:r>
                    </a:p>
                  </a:txBody>
                  <a:tcPr>
                    <a:solidFill>
                      <a:srgbClr val="EEF6FF"/>
                    </a:solidFill>
                  </a:tcPr>
                </a:tc>
                <a:tc>
                  <a:txBody>
                    <a:bodyPr/>
                    <a:lstStyle/>
                    <a:p>
                      <a:pPr algn="ctr">
                        <a:defRPr sz="1400" b="1">
                          <a:solidFill>
                            <a:srgbClr val="0F172A"/>
                          </a:solidFill>
                          <a:latin typeface="Arial"/>
                        </a:defRPr>
                      </a:pPr>
                      <a:r>
                        <a:t>380 ảnh</a:t>
                      </a:r>
                    </a:p>
                  </a:txBody>
                  <a:tcPr>
                    <a:solidFill>
                      <a:srgbClr val="EEF6FF"/>
                    </a:solidFill>
                  </a:tcPr>
                </a:tc>
              </a:tr>
              <a:tr h="476923">
                <a:tc>
                  <a:txBody>
                    <a:bodyPr/>
                    <a:lstStyle/>
                    <a:p>
                      <a:pPr>
                        <a:defRPr sz="1400" b="1">
                          <a:solidFill>
                            <a:srgbClr val="0F172A"/>
                          </a:solidFill>
                          <a:latin typeface="Arial"/>
                        </a:defRPr>
                      </a:pPr>
                      <a:r>
                        <a:t>Logistic Regression</a:t>
                      </a:r>
                    </a:p>
                  </a:txBody>
                  <a:tcPr>
                    <a:solidFill>
                      <a:srgbClr val="F8FAFC"/>
                    </a:solidFill>
                  </a:tcPr>
                </a:tc>
                <a:tc>
                  <a:txBody>
                    <a:bodyPr/>
                    <a:lstStyle/>
                    <a:p>
                      <a:pPr>
                        <a:defRPr sz="1400">
                          <a:solidFill>
                            <a:srgbClr val="0F172A"/>
                          </a:solidFill>
                          <a:latin typeface="Arial"/>
                        </a:defRPr>
                      </a:pPr>
                      <a:r>
                        <a:t>Không cháy (Lớp 0)</a:t>
                      </a:r>
                    </a:p>
                  </a:txBody>
                  <a:tcPr>
                    <a:solidFill>
                      <a:srgbClr val="F8FAFC"/>
                    </a:solidFill>
                  </a:tcPr>
                </a:tc>
                <a:tc>
                  <a:txBody>
                    <a:bodyPr/>
                    <a:lstStyle/>
                    <a:p>
                      <a:pPr algn="ctr">
                        <a:defRPr sz="1400">
                          <a:solidFill>
                            <a:srgbClr val="0F172A"/>
                          </a:solidFill>
                          <a:latin typeface="Arial"/>
                        </a:defRPr>
                      </a:pPr>
                      <a:r>
                        <a:t>93,09%</a:t>
                      </a:r>
                    </a:p>
                  </a:txBody>
                  <a:tcPr>
                    <a:solidFill>
                      <a:srgbClr val="F8FAFC"/>
                    </a:solidFill>
                  </a:tcPr>
                </a:tc>
                <a:tc>
                  <a:txBody>
                    <a:bodyPr/>
                    <a:lstStyle/>
                    <a:p>
                      <a:pPr algn="ctr">
                        <a:defRPr sz="1400">
                          <a:solidFill>
                            <a:srgbClr val="0F172A"/>
                          </a:solidFill>
                          <a:latin typeface="Arial"/>
                        </a:defRPr>
                      </a:pPr>
                      <a:r>
                        <a:t>92,11%</a:t>
                      </a:r>
                    </a:p>
                  </a:txBody>
                  <a:tcPr>
                    <a:solidFill>
                      <a:srgbClr val="F8FAFC"/>
                    </a:solidFill>
                  </a:tcPr>
                </a:tc>
                <a:tc>
                  <a:txBody>
                    <a:bodyPr/>
                    <a:lstStyle/>
                    <a:p>
                      <a:pPr algn="ctr">
                        <a:defRPr sz="1400">
                          <a:solidFill>
                            <a:srgbClr val="0F172A"/>
                          </a:solidFill>
                          <a:latin typeface="Arial"/>
                        </a:defRPr>
                      </a:pPr>
                      <a:r>
                        <a:t>92,59%</a:t>
                      </a:r>
                    </a:p>
                  </a:txBody>
                  <a:tcPr>
                    <a:solidFill>
                      <a:srgbClr val="F8FAFC"/>
                    </a:solidFill>
                  </a:tcPr>
                </a:tc>
                <a:tc>
                  <a:txBody>
                    <a:bodyPr/>
                    <a:lstStyle/>
                    <a:p>
                      <a:pPr algn="ctr">
                        <a:defRPr sz="1400">
                          <a:solidFill>
                            <a:srgbClr val="0F172A"/>
                          </a:solidFill>
                          <a:latin typeface="Arial"/>
                        </a:defRPr>
                      </a:pPr>
                      <a:r>
                        <a:t>190 ảnh</a:t>
                      </a:r>
                    </a:p>
                  </a:txBody>
                  <a:tcPr>
                    <a:solidFill>
                      <a:srgbClr val="F8FAFC"/>
                    </a:solidFill>
                  </a:tcPr>
                </a:tc>
              </a:tr>
              <a:tr h="476923">
                <a:tc>
                  <a:txBody>
                    <a:bodyPr/>
                    <a:lstStyle/>
                    <a:p>
                      <a:pPr>
                        <a:defRPr sz="1400" b="1">
                          <a:solidFill>
                            <a:srgbClr val="0F172A"/>
                          </a:solidFill>
                          <a:latin typeface="Arial"/>
                        </a:defRPr>
                      </a:pPr>
                      <a:r>
                        <a:t>Logistic Regression</a:t>
                      </a:r>
                    </a:p>
                  </a:txBody>
                  <a:tcPr>
                    <a:solidFill>
                      <a:srgbClr val="F8FAFC"/>
                    </a:solidFill>
                  </a:tcPr>
                </a:tc>
                <a:tc>
                  <a:txBody>
                    <a:bodyPr/>
                    <a:lstStyle/>
                    <a:p>
                      <a:pPr>
                        <a:defRPr sz="1400">
                          <a:solidFill>
                            <a:srgbClr val="0F172A"/>
                          </a:solidFill>
                          <a:latin typeface="Arial"/>
                        </a:defRPr>
                      </a:pPr>
                      <a:r>
                        <a:t>Cháy (Lớp 1)</a:t>
                      </a:r>
                    </a:p>
                  </a:txBody>
                  <a:tcPr>
                    <a:solidFill>
                      <a:srgbClr val="F8FAFC"/>
                    </a:solidFill>
                  </a:tcPr>
                </a:tc>
                <a:tc>
                  <a:txBody>
                    <a:bodyPr/>
                    <a:lstStyle/>
                    <a:p>
                      <a:pPr algn="ctr">
                        <a:defRPr sz="1400">
                          <a:solidFill>
                            <a:srgbClr val="0F172A"/>
                          </a:solidFill>
                          <a:latin typeface="Arial"/>
                        </a:defRPr>
                      </a:pPr>
                      <a:r>
                        <a:t>92,19%</a:t>
                      </a:r>
                    </a:p>
                  </a:txBody>
                  <a:tcPr>
                    <a:solidFill>
                      <a:srgbClr val="F8FAFC"/>
                    </a:solidFill>
                  </a:tcPr>
                </a:tc>
                <a:tc>
                  <a:txBody>
                    <a:bodyPr/>
                    <a:lstStyle/>
                    <a:p>
                      <a:pPr algn="ctr">
                        <a:defRPr sz="1400">
                          <a:solidFill>
                            <a:srgbClr val="0F172A"/>
                          </a:solidFill>
                          <a:latin typeface="Arial"/>
                        </a:defRPr>
                      </a:pPr>
                      <a:r>
                        <a:t>93,16%</a:t>
                      </a:r>
                    </a:p>
                  </a:txBody>
                  <a:tcPr>
                    <a:solidFill>
                      <a:srgbClr val="F8FAFC"/>
                    </a:solidFill>
                  </a:tcPr>
                </a:tc>
                <a:tc>
                  <a:txBody>
                    <a:bodyPr/>
                    <a:lstStyle/>
                    <a:p>
                      <a:pPr algn="ctr">
                        <a:defRPr sz="1400">
                          <a:solidFill>
                            <a:srgbClr val="0F172A"/>
                          </a:solidFill>
                          <a:latin typeface="Arial"/>
                        </a:defRPr>
                      </a:pPr>
                      <a:r>
                        <a:t>92,67%</a:t>
                      </a:r>
                    </a:p>
                  </a:txBody>
                  <a:tcPr>
                    <a:solidFill>
                      <a:srgbClr val="F8FAFC"/>
                    </a:solidFill>
                  </a:tcPr>
                </a:tc>
                <a:tc>
                  <a:txBody>
                    <a:bodyPr/>
                    <a:lstStyle/>
                    <a:p>
                      <a:pPr algn="ctr">
                        <a:defRPr sz="1400">
                          <a:solidFill>
                            <a:srgbClr val="0F172A"/>
                          </a:solidFill>
                          <a:latin typeface="Arial"/>
                        </a:defRPr>
                      </a:pPr>
                      <a:r>
                        <a:t>190 ảnh</a:t>
                      </a:r>
                    </a:p>
                  </a:txBody>
                  <a:tcPr>
                    <a:solidFill>
                      <a:srgbClr val="F8FAFC"/>
                    </a:solidFill>
                  </a:tcPr>
                </a:tc>
              </a:tr>
              <a:tr h="476923">
                <a:tc>
                  <a:txBody>
                    <a:bodyPr/>
                    <a:lstStyle/>
                    <a:p>
                      <a:pPr>
                        <a:defRPr sz="1400" b="1">
                          <a:solidFill>
                            <a:srgbClr val="0F172A"/>
                          </a:solidFill>
                          <a:latin typeface="Arial"/>
                        </a:defRPr>
                      </a:pPr>
                      <a:r>
                        <a:t>Logistic Regression</a:t>
                      </a:r>
                    </a:p>
                  </a:txBody>
                  <a:tcPr>
                    <a:solidFill>
                      <a:srgbClr val="EAEEF4"/>
                    </a:solidFill>
                  </a:tcPr>
                </a:tc>
                <a:tc>
                  <a:txBody>
                    <a:bodyPr/>
                    <a:lstStyle/>
                    <a:p>
                      <a:pPr>
                        <a:defRPr sz="1400" b="1">
                          <a:solidFill>
                            <a:srgbClr val="0F172A"/>
                          </a:solidFill>
                          <a:latin typeface="Arial"/>
                        </a:defRPr>
                      </a:pPr>
                      <a:r>
                        <a:t>Macro Avg / Weighted Avg</a:t>
                      </a:r>
                    </a:p>
                  </a:txBody>
                  <a:tcPr>
                    <a:solidFill>
                      <a:srgbClr val="EAEEF4"/>
                    </a:solidFill>
                  </a:tcPr>
                </a:tc>
                <a:tc>
                  <a:txBody>
                    <a:bodyPr/>
                    <a:lstStyle/>
                    <a:p>
                      <a:pPr algn="ctr">
                        <a:defRPr sz="1400" b="1">
                          <a:solidFill>
                            <a:srgbClr val="0F172A"/>
                          </a:solidFill>
                          <a:latin typeface="Arial"/>
                        </a:defRPr>
                      </a:pPr>
                      <a:r>
                        <a:t>92,64%</a:t>
                      </a:r>
                    </a:p>
                  </a:txBody>
                  <a:tcPr>
                    <a:solidFill>
                      <a:srgbClr val="EAEEF4"/>
                    </a:solidFill>
                  </a:tcPr>
                </a:tc>
                <a:tc>
                  <a:txBody>
                    <a:bodyPr/>
                    <a:lstStyle/>
                    <a:p>
                      <a:pPr algn="ctr">
                        <a:defRPr sz="1400" b="1">
                          <a:solidFill>
                            <a:srgbClr val="0F172A"/>
                          </a:solidFill>
                          <a:latin typeface="Arial"/>
                        </a:defRPr>
                      </a:pPr>
                      <a:r>
                        <a:t>92,63%</a:t>
                      </a:r>
                    </a:p>
                  </a:txBody>
                  <a:tcPr>
                    <a:solidFill>
                      <a:srgbClr val="EAEEF4"/>
                    </a:solidFill>
                  </a:tcPr>
                </a:tc>
                <a:tc>
                  <a:txBody>
                    <a:bodyPr/>
                    <a:lstStyle/>
                    <a:p>
                      <a:pPr algn="ctr">
                        <a:defRPr sz="1400" b="1">
                          <a:solidFill>
                            <a:srgbClr val="0F172A"/>
                          </a:solidFill>
                          <a:latin typeface="Arial"/>
                        </a:defRPr>
                      </a:pPr>
                      <a:r>
                        <a:t>92,63%</a:t>
                      </a:r>
                    </a:p>
                  </a:txBody>
                  <a:tcPr>
                    <a:solidFill>
                      <a:srgbClr val="EAEEF4"/>
                    </a:solidFill>
                  </a:tcPr>
                </a:tc>
                <a:tc>
                  <a:txBody>
                    <a:bodyPr/>
                    <a:lstStyle/>
                    <a:p>
                      <a:pPr algn="ctr">
                        <a:defRPr sz="1400" b="1">
                          <a:solidFill>
                            <a:srgbClr val="0F172A"/>
                          </a:solidFill>
                          <a:latin typeface="Arial"/>
                        </a:defRPr>
                      </a:pPr>
                      <a:r>
                        <a:t>380 ảnh</a:t>
                      </a:r>
                    </a:p>
                  </a:txBody>
                  <a:tcPr>
                    <a:solidFill>
                      <a:srgbClr val="EAEEF4"/>
                    </a:solidFill>
                  </a:tcPr>
                </a:tc>
              </a:tr>
              <a:tr h="476923">
                <a:tc>
                  <a:txBody>
                    <a:bodyPr/>
                    <a:lstStyle/>
                    <a:p>
                      <a:pPr>
                        <a:defRPr sz="1400" b="1">
                          <a:solidFill>
                            <a:srgbClr val="0F172A"/>
                          </a:solidFill>
                          <a:latin typeface="Arial"/>
                        </a:defRPr>
                      </a:pPr>
                      <a:r>
                        <a:t>Random Forest</a:t>
                      </a:r>
                    </a:p>
                  </a:txBody>
                  <a:tcPr>
                    <a:solidFill>
                      <a:srgbClr val="FFFFFF"/>
                    </a:solidFill>
                  </a:tcPr>
                </a:tc>
                <a:tc>
                  <a:txBody>
                    <a:bodyPr/>
                    <a:lstStyle/>
                    <a:p>
                      <a:pPr>
                        <a:defRPr sz="1400">
                          <a:solidFill>
                            <a:srgbClr val="0F172A"/>
                          </a:solidFill>
                          <a:latin typeface="Arial"/>
                        </a:defRPr>
                      </a:pPr>
                      <a:r>
                        <a:t>Không cháy (Lớp 0)</a:t>
                      </a:r>
                    </a:p>
                  </a:txBody>
                  <a:tcPr>
                    <a:solidFill>
                      <a:srgbClr val="FFFFFF"/>
                    </a:solidFill>
                  </a:tcPr>
                </a:tc>
                <a:tc>
                  <a:txBody>
                    <a:bodyPr/>
                    <a:lstStyle/>
                    <a:p>
                      <a:pPr algn="ctr">
                        <a:defRPr sz="1400">
                          <a:solidFill>
                            <a:srgbClr val="0F172A"/>
                          </a:solidFill>
                          <a:latin typeface="Arial"/>
                        </a:defRPr>
                      </a:pPr>
                      <a:r>
                        <a:t>86,67%</a:t>
                      </a:r>
                    </a:p>
                  </a:txBody>
                  <a:tcPr>
                    <a:solidFill>
                      <a:srgbClr val="FFFFFF"/>
                    </a:solidFill>
                  </a:tcPr>
                </a:tc>
                <a:tc>
                  <a:txBody>
                    <a:bodyPr/>
                    <a:lstStyle/>
                    <a:p>
                      <a:pPr algn="ctr">
                        <a:defRPr sz="1400">
                          <a:solidFill>
                            <a:srgbClr val="0F172A"/>
                          </a:solidFill>
                          <a:latin typeface="Arial"/>
                        </a:defRPr>
                      </a:pPr>
                      <a:r>
                        <a:t>88,95%</a:t>
                      </a:r>
                    </a:p>
                  </a:txBody>
                  <a:tcPr>
                    <a:solidFill>
                      <a:srgbClr val="FFFFFF"/>
                    </a:solidFill>
                  </a:tcPr>
                </a:tc>
                <a:tc>
                  <a:txBody>
                    <a:bodyPr/>
                    <a:lstStyle/>
                    <a:p>
                      <a:pPr algn="ctr">
                        <a:defRPr sz="1400">
                          <a:solidFill>
                            <a:srgbClr val="0F172A"/>
                          </a:solidFill>
                          <a:latin typeface="Arial"/>
                        </a:defRPr>
                      </a:pPr>
                      <a:r>
                        <a:t>87,79%</a:t>
                      </a:r>
                    </a:p>
                  </a:txBody>
                  <a:tcPr>
                    <a:solidFill>
                      <a:srgbClr val="FFFFFF"/>
                    </a:solidFill>
                  </a:tcPr>
                </a:tc>
                <a:tc>
                  <a:txBody>
                    <a:bodyPr/>
                    <a:lstStyle/>
                    <a:p>
                      <a:pPr algn="ctr">
                        <a:defRPr sz="1400">
                          <a:solidFill>
                            <a:srgbClr val="0F172A"/>
                          </a:solidFill>
                          <a:latin typeface="Arial"/>
                        </a:defRPr>
                      </a:pPr>
                      <a:r>
                        <a:t>190 ảnh</a:t>
                      </a:r>
                    </a:p>
                  </a:txBody>
                  <a:tcPr>
                    <a:solidFill>
                      <a:srgbClr val="FFFFFF"/>
                    </a:solidFill>
                  </a:tcPr>
                </a:tc>
              </a:tr>
              <a:tr h="476923">
                <a:tc>
                  <a:txBody>
                    <a:bodyPr/>
                    <a:lstStyle/>
                    <a:p>
                      <a:pPr>
                        <a:defRPr sz="1400" b="1">
                          <a:solidFill>
                            <a:srgbClr val="0F172A"/>
                          </a:solidFill>
                          <a:latin typeface="Arial"/>
                        </a:defRPr>
                      </a:pPr>
                      <a:r>
                        <a:t>Random Forest</a:t>
                      </a:r>
                    </a:p>
                  </a:txBody>
                  <a:tcPr>
                    <a:solidFill>
                      <a:srgbClr val="FFFFFF"/>
                    </a:solidFill>
                  </a:tcPr>
                </a:tc>
                <a:tc>
                  <a:txBody>
                    <a:bodyPr/>
                    <a:lstStyle/>
                    <a:p>
                      <a:pPr>
                        <a:defRPr sz="1400">
                          <a:solidFill>
                            <a:srgbClr val="0F172A"/>
                          </a:solidFill>
                          <a:latin typeface="Arial"/>
                        </a:defRPr>
                      </a:pPr>
                      <a:r>
                        <a:t>Cháy (Lớp 1)</a:t>
                      </a:r>
                    </a:p>
                  </a:txBody>
                  <a:tcPr>
                    <a:solidFill>
                      <a:srgbClr val="FFFFFF"/>
                    </a:solidFill>
                  </a:tcPr>
                </a:tc>
                <a:tc>
                  <a:txBody>
                    <a:bodyPr/>
                    <a:lstStyle/>
                    <a:p>
                      <a:pPr algn="ctr">
                        <a:defRPr sz="1400">
                          <a:solidFill>
                            <a:srgbClr val="0F172A"/>
                          </a:solidFill>
                          <a:latin typeface="Arial"/>
                        </a:defRPr>
                      </a:pPr>
                      <a:r>
                        <a:t>88,65%</a:t>
                      </a:r>
                    </a:p>
                  </a:txBody>
                  <a:tcPr>
                    <a:solidFill>
                      <a:srgbClr val="FFFFFF"/>
                    </a:solidFill>
                  </a:tcPr>
                </a:tc>
                <a:tc>
                  <a:txBody>
                    <a:bodyPr/>
                    <a:lstStyle/>
                    <a:p>
                      <a:pPr algn="ctr">
                        <a:defRPr sz="1400">
                          <a:solidFill>
                            <a:srgbClr val="0F172A"/>
                          </a:solidFill>
                          <a:latin typeface="Arial"/>
                        </a:defRPr>
                      </a:pPr>
                      <a:r>
                        <a:t>86,32%</a:t>
                      </a:r>
                    </a:p>
                  </a:txBody>
                  <a:tcPr>
                    <a:solidFill>
                      <a:srgbClr val="FFFFFF"/>
                    </a:solidFill>
                  </a:tcPr>
                </a:tc>
                <a:tc>
                  <a:txBody>
                    <a:bodyPr/>
                    <a:lstStyle/>
                    <a:p>
                      <a:pPr algn="ctr">
                        <a:defRPr sz="1400">
                          <a:solidFill>
                            <a:srgbClr val="0F172A"/>
                          </a:solidFill>
                          <a:latin typeface="Arial"/>
                        </a:defRPr>
                      </a:pPr>
                      <a:r>
                        <a:t>87,47%</a:t>
                      </a:r>
                    </a:p>
                  </a:txBody>
                  <a:tcPr>
                    <a:solidFill>
                      <a:srgbClr val="FFFFFF"/>
                    </a:solidFill>
                  </a:tcPr>
                </a:tc>
                <a:tc>
                  <a:txBody>
                    <a:bodyPr/>
                    <a:lstStyle/>
                    <a:p>
                      <a:pPr algn="ctr">
                        <a:defRPr sz="1400">
                          <a:solidFill>
                            <a:srgbClr val="0F172A"/>
                          </a:solidFill>
                          <a:latin typeface="Arial"/>
                        </a:defRPr>
                      </a:pPr>
                      <a:r>
                        <a:t>190 ảnh</a:t>
                      </a:r>
                    </a:p>
                  </a:txBody>
                  <a:tcPr>
                    <a:solidFill>
                      <a:srgbClr val="FFFFFF"/>
                    </a:solidFill>
                  </a:tcPr>
                </a:tc>
              </a:tr>
              <a:tr h="476923">
                <a:tc>
                  <a:txBody>
                    <a:bodyPr/>
                    <a:lstStyle/>
                    <a:p>
                      <a:pPr>
                        <a:defRPr sz="1400" b="1">
                          <a:solidFill>
                            <a:srgbClr val="0F172A"/>
                          </a:solidFill>
                          <a:latin typeface="Arial"/>
                        </a:defRPr>
                      </a:pPr>
                      <a:r>
                        <a:t>Random Forest</a:t>
                      </a:r>
                    </a:p>
                  </a:txBody>
                  <a:tcPr>
                    <a:solidFill>
                      <a:srgbClr val="EAEEF4"/>
                    </a:solidFill>
                  </a:tcPr>
                </a:tc>
                <a:tc>
                  <a:txBody>
                    <a:bodyPr/>
                    <a:lstStyle/>
                    <a:p>
                      <a:pPr>
                        <a:defRPr sz="1400" b="1">
                          <a:solidFill>
                            <a:srgbClr val="0F172A"/>
                          </a:solidFill>
                          <a:latin typeface="Arial"/>
                        </a:defRPr>
                      </a:pPr>
                      <a:r>
                        <a:t>Macro Avg / Weighted Avg</a:t>
                      </a:r>
                    </a:p>
                  </a:txBody>
                  <a:tcPr>
                    <a:solidFill>
                      <a:srgbClr val="EAEEF4"/>
                    </a:solidFill>
                  </a:tcPr>
                </a:tc>
                <a:tc>
                  <a:txBody>
                    <a:bodyPr/>
                    <a:lstStyle/>
                    <a:p>
                      <a:pPr algn="ctr">
                        <a:defRPr sz="1400" b="1">
                          <a:solidFill>
                            <a:srgbClr val="0F172A"/>
                          </a:solidFill>
                          <a:latin typeface="Arial"/>
                        </a:defRPr>
                      </a:pPr>
                      <a:r>
                        <a:t>87,66%</a:t>
                      </a:r>
                    </a:p>
                  </a:txBody>
                  <a:tcPr>
                    <a:solidFill>
                      <a:srgbClr val="EAEEF4"/>
                    </a:solidFill>
                  </a:tcPr>
                </a:tc>
                <a:tc>
                  <a:txBody>
                    <a:bodyPr/>
                    <a:lstStyle/>
                    <a:p>
                      <a:pPr algn="ctr">
                        <a:defRPr sz="1400" b="1">
                          <a:solidFill>
                            <a:srgbClr val="0F172A"/>
                          </a:solidFill>
                          <a:latin typeface="Arial"/>
                        </a:defRPr>
                      </a:pPr>
                      <a:r>
                        <a:t>87,63%</a:t>
                      </a:r>
                    </a:p>
                  </a:txBody>
                  <a:tcPr>
                    <a:solidFill>
                      <a:srgbClr val="EAEEF4"/>
                    </a:solidFill>
                  </a:tcPr>
                </a:tc>
                <a:tc>
                  <a:txBody>
                    <a:bodyPr/>
                    <a:lstStyle/>
                    <a:p>
                      <a:pPr algn="ctr">
                        <a:defRPr sz="1400" b="1">
                          <a:solidFill>
                            <a:srgbClr val="0F172A"/>
                          </a:solidFill>
                          <a:latin typeface="Arial"/>
                        </a:defRPr>
                      </a:pPr>
                      <a:r>
                        <a:t>87,63%</a:t>
                      </a:r>
                    </a:p>
                  </a:txBody>
                  <a:tcPr>
                    <a:solidFill>
                      <a:srgbClr val="EAEEF4"/>
                    </a:solidFill>
                  </a:tcPr>
                </a:tc>
                <a:tc>
                  <a:txBody>
                    <a:bodyPr/>
                    <a:lstStyle/>
                    <a:p>
                      <a:pPr algn="ctr">
                        <a:defRPr sz="1400" b="1">
                          <a:solidFill>
                            <a:srgbClr val="0F172A"/>
                          </a:solidFill>
                          <a:latin typeface="Arial"/>
                        </a:defRPr>
                      </a:pPr>
                      <a:r>
                        <a:t>380 ảnh</a:t>
                      </a:r>
                    </a:p>
                  </a:txBody>
                  <a:tcPr>
                    <a:solidFill>
                      <a:srgbClr val="EAEEF4"/>
                    </a:solidFill>
                  </a:tcPr>
                </a:tc>
              </a:tr>
              <a:tr h="476923">
                <a:tc>
                  <a:txBody>
                    <a:bodyPr/>
                    <a:lstStyle/>
                    <a:p>
                      <a:pPr>
                        <a:defRPr sz="1400" b="1">
                          <a:solidFill>
                            <a:srgbClr val="0F172A"/>
                          </a:solidFill>
                          <a:latin typeface="Arial"/>
                        </a:defRPr>
                      </a:pPr>
                      <a:r>
                        <a:t>KNN</a:t>
                      </a:r>
                    </a:p>
                  </a:txBody>
                  <a:tcPr>
                    <a:solidFill>
                      <a:srgbClr val="F8FAFC"/>
                    </a:solidFill>
                  </a:tcPr>
                </a:tc>
                <a:tc>
                  <a:txBody>
                    <a:bodyPr/>
                    <a:lstStyle/>
                    <a:p>
                      <a:pPr>
                        <a:defRPr sz="1400">
                          <a:solidFill>
                            <a:srgbClr val="0F172A"/>
                          </a:solidFill>
                          <a:latin typeface="Arial"/>
                        </a:defRPr>
                      </a:pPr>
                      <a:r>
                        <a:t>Không cháy (Lớp 0)</a:t>
                      </a:r>
                    </a:p>
                  </a:txBody>
                  <a:tcPr>
                    <a:solidFill>
                      <a:srgbClr val="F8FAFC"/>
                    </a:solidFill>
                  </a:tcPr>
                </a:tc>
                <a:tc>
                  <a:txBody>
                    <a:bodyPr/>
                    <a:lstStyle/>
                    <a:p>
                      <a:pPr algn="ctr">
                        <a:defRPr sz="1400">
                          <a:solidFill>
                            <a:srgbClr val="0F172A"/>
                          </a:solidFill>
                          <a:latin typeface="Arial"/>
                        </a:defRPr>
                      </a:pPr>
                      <a:r>
                        <a:t>67,16%</a:t>
                      </a:r>
                    </a:p>
                  </a:txBody>
                  <a:tcPr>
                    <a:solidFill>
                      <a:srgbClr val="F8FAFC"/>
                    </a:solidFill>
                  </a:tcPr>
                </a:tc>
                <a:tc>
                  <a:txBody>
                    <a:bodyPr/>
                    <a:lstStyle/>
                    <a:p>
                      <a:pPr algn="ctr">
                        <a:defRPr sz="1400">
                          <a:solidFill>
                            <a:srgbClr val="0F172A"/>
                          </a:solidFill>
                          <a:latin typeface="Arial"/>
                        </a:defRPr>
                      </a:pPr>
                      <a:r>
                        <a:t>95,79%</a:t>
                      </a:r>
                    </a:p>
                  </a:txBody>
                  <a:tcPr>
                    <a:solidFill>
                      <a:srgbClr val="F8FAFC"/>
                    </a:solidFill>
                  </a:tcPr>
                </a:tc>
                <a:tc>
                  <a:txBody>
                    <a:bodyPr/>
                    <a:lstStyle/>
                    <a:p>
                      <a:pPr algn="ctr">
                        <a:defRPr sz="1400">
                          <a:solidFill>
                            <a:srgbClr val="0F172A"/>
                          </a:solidFill>
                          <a:latin typeface="Arial"/>
                        </a:defRPr>
                      </a:pPr>
                      <a:r>
                        <a:t>78,96%</a:t>
                      </a:r>
                    </a:p>
                  </a:txBody>
                  <a:tcPr>
                    <a:solidFill>
                      <a:srgbClr val="F8FAFC"/>
                    </a:solidFill>
                  </a:tcPr>
                </a:tc>
                <a:tc>
                  <a:txBody>
                    <a:bodyPr/>
                    <a:lstStyle/>
                    <a:p>
                      <a:pPr algn="ctr">
                        <a:defRPr sz="1400">
                          <a:solidFill>
                            <a:srgbClr val="0F172A"/>
                          </a:solidFill>
                          <a:latin typeface="Arial"/>
                        </a:defRPr>
                      </a:pPr>
                      <a:r>
                        <a:t>190 ảnh</a:t>
                      </a:r>
                    </a:p>
                  </a:txBody>
                  <a:tcPr>
                    <a:solidFill>
                      <a:srgbClr val="F8FAFC"/>
                    </a:solidFill>
                  </a:tcPr>
                </a:tc>
              </a:tr>
              <a:tr h="476923">
                <a:tc>
                  <a:txBody>
                    <a:bodyPr/>
                    <a:lstStyle/>
                    <a:p>
                      <a:pPr>
                        <a:defRPr sz="1400" b="1">
                          <a:solidFill>
                            <a:srgbClr val="0F172A"/>
                          </a:solidFill>
                          <a:latin typeface="Arial"/>
                        </a:defRPr>
                      </a:pPr>
                      <a:r>
                        <a:t>KNN</a:t>
                      </a:r>
                    </a:p>
                  </a:txBody>
                  <a:tcPr>
                    <a:solidFill>
                      <a:srgbClr val="F8FAFC"/>
                    </a:solidFill>
                  </a:tcPr>
                </a:tc>
                <a:tc>
                  <a:txBody>
                    <a:bodyPr/>
                    <a:lstStyle/>
                    <a:p>
                      <a:pPr>
                        <a:defRPr sz="1400">
                          <a:solidFill>
                            <a:srgbClr val="0F172A"/>
                          </a:solidFill>
                          <a:latin typeface="Arial"/>
                        </a:defRPr>
                      </a:pPr>
                      <a:r>
                        <a:t>Cháy (Lớp 1)</a:t>
                      </a:r>
                    </a:p>
                  </a:txBody>
                  <a:tcPr>
                    <a:solidFill>
                      <a:srgbClr val="F8FAFC"/>
                    </a:solidFill>
                  </a:tcPr>
                </a:tc>
                <a:tc>
                  <a:txBody>
                    <a:bodyPr/>
                    <a:lstStyle/>
                    <a:p>
                      <a:pPr algn="ctr">
                        <a:defRPr sz="1400">
                          <a:solidFill>
                            <a:srgbClr val="0F172A"/>
                          </a:solidFill>
                          <a:latin typeface="Arial"/>
                        </a:defRPr>
                      </a:pPr>
                      <a:r>
                        <a:t>92,66%</a:t>
                      </a:r>
                    </a:p>
                  </a:txBody>
                  <a:tcPr>
                    <a:solidFill>
                      <a:srgbClr val="F8FAFC"/>
                    </a:solidFill>
                  </a:tcPr>
                </a:tc>
                <a:tc>
                  <a:txBody>
                    <a:bodyPr/>
                    <a:lstStyle/>
                    <a:p>
                      <a:pPr algn="ctr">
                        <a:defRPr sz="1400">
                          <a:solidFill>
                            <a:srgbClr val="0F172A"/>
                          </a:solidFill>
                          <a:latin typeface="Arial"/>
                        </a:defRPr>
                      </a:pPr>
                      <a:r>
                        <a:t>53,16%</a:t>
                      </a:r>
                    </a:p>
                  </a:txBody>
                  <a:tcPr>
                    <a:solidFill>
                      <a:srgbClr val="F8FAFC"/>
                    </a:solidFill>
                  </a:tcPr>
                </a:tc>
                <a:tc>
                  <a:txBody>
                    <a:bodyPr/>
                    <a:lstStyle/>
                    <a:p>
                      <a:pPr algn="ctr">
                        <a:defRPr sz="1400">
                          <a:solidFill>
                            <a:srgbClr val="0F172A"/>
                          </a:solidFill>
                          <a:latin typeface="Arial"/>
                        </a:defRPr>
                      </a:pPr>
                      <a:r>
                        <a:t>67,56%</a:t>
                      </a:r>
                    </a:p>
                  </a:txBody>
                  <a:tcPr>
                    <a:solidFill>
                      <a:srgbClr val="F8FAFC"/>
                    </a:solidFill>
                  </a:tcPr>
                </a:tc>
                <a:tc>
                  <a:txBody>
                    <a:bodyPr/>
                    <a:lstStyle/>
                    <a:p>
                      <a:pPr algn="ctr">
                        <a:defRPr sz="1400">
                          <a:solidFill>
                            <a:srgbClr val="0F172A"/>
                          </a:solidFill>
                          <a:latin typeface="Arial"/>
                        </a:defRPr>
                      </a:pPr>
                      <a:r>
                        <a:t>190 ảnh</a:t>
                      </a:r>
                    </a:p>
                  </a:txBody>
                  <a:tcPr>
                    <a:solidFill>
                      <a:srgbClr val="F8FAFC"/>
                    </a:solidFill>
                  </a:tcPr>
                </a:tc>
              </a:tr>
              <a:tr h="476924">
                <a:tc>
                  <a:txBody>
                    <a:bodyPr/>
                    <a:lstStyle/>
                    <a:p>
                      <a:pPr>
                        <a:defRPr sz="1400" b="1">
                          <a:solidFill>
                            <a:srgbClr val="0F172A"/>
                          </a:solidFill>
                          <a:latin typeface="Arial"/>
                        </a:defRPr>
                      </a:pPr>
                      <a:r>
                        <a:t>KNN</a:t>
                      </a:r>
                    </a:p>
                  </a:txBody>
                  <a:tcPr>
                    <a:solidFill>
                      <a:srgbClr val="EAEEF4"/>
                    </a:solidFill>
                  </a:tcPr>
                </a:tc>
                <a:tc>
                  <a:txBody>
                    <a:bodyPr/>
                    <a:lstStyle/>
                    <a:p>
                      <a:pPr>
                        <a:defRPr sz="1400" b="1">
                          <a:solidFill>
                            <a:srgbClr val="0F172A"/>
                          </a:solidFill>
                          <a:latin typeface="Arial"/>
                        </a:defRPr>
                      </a:pPr>
                      <a:r>
                        <a:t>Macro Avg / Weighted Avg</a:t>
                      </a:r>
                    </a:p>
                  </a:txBody>
                  <a:tcPr>
                    <a:solidFill>
                      <a:srgbClr val="EAEEF4"/>
                    </a:solidFill>
                  </a:tcPr>
                </a:tc>
                <a:tc>
                  <a:txBody>
                    <a:bodyPr/>
                    <a:lstStyle/>
                    <a:p>
                      <a:pPr algn="ctr">
                        <a:defRPr sz="1400" b="1">
                          <a:solidFill>
                            <a:srgbClr val="0F172A"/>
                          </a:solidFill>
                          <a:latin typeface="Arial"/>
                        </a:defRPr>
                      </a:pPr>
                      <a:r>
                        <a:t>79,91%</a:t>
                      </a:r>
                    </a:p>
                  </a:txBody>
                  <a:tcPr>
                    <a:solidFill>
                      <a:srgbClr val="EAEEF4"/>
                    </a:solidFill>
                  </a:tcPr>
                </a:tc>
                <a:tc>
                  <a:txBody>
                    <a:bodyPr/>
                    <a:lstStyle/>
                    <a:p>
                      <a:pPr algn="ctr">
                        <a:defRPr sz="1400" b="1">
                          <a:solidFill>
                            <a:srgbClr val="0F172A"/>
                          </a:solidFill>
                          <a:latin typeface="Arial"/>
                        </a:defRPr>
                      </a:pPr>
                      <a:r>
                        <a:t>74,47%</a:t>
                      </a:r>
                    </a:p>
                  </a:txBody>
                  <a:tcPr>
                    <a:solidFill>
                      <a:srgbClr val="EAEEF4"/>
                    </a:solidFill>
                  </a:tcPr>
                </a:tc>
                <a:tc>
                  <a:txBody>
                    <a:bodyPr/>
                    <a:lstStyle/>
                    <a:p>
                      <a:pPr algn="ctr">
                        <a:defRPr sz="1400" b="1">
                          <a:solidFill>
                            <a:srgbClr val="0F172A"/>
                          </a:solidFill>
                          <a:latin typeface="Arial"/>
                        </a:defRPr>
                      </a:pPr>
                      <a:r>
                        <a:t>73,26%</a:t>
                      </a:r>
                    </a:p>
                  </a:txBody>
                  <a:tcPr>
                    <a:solidFill>
                      <a:srgbClr val="EAEEF4"/>
                    </a:solidFill>
                  </a:tcPr>
                </a:tc>
                <a:tc>
                  <a:txBody>
                    <a:bodyPr/>
                    <a:lstStyle/>
                    <a:p>
                      <a:pPr algn="ctr">
                        <a:defRPr sz="1400" b="1">
                          <a:solidFill>
                            <a:srgbClr val="0F172A"/>
                          </a:solidFill>
                          <a:latin typeface="Arial"/>
                        </a:defRPr>
                      </a:pPr>
                      <a:r>
                        <a:t>380 ảnh</a:t>
                      </a:r>
                    </a:p>
                  </a:txBody>
                  <a:tcPr>
                    <a:solidFill>
                      <a:srgbClr val="EAEEF4"/>
                    </a:solidFill>
                  </a:tcPr>
                </a:tc>
              </a:tr>
            </a:tbl>
          </a:graphicData>
        </a:graphic>
      </p:graphicFrame>
      <p:sp>
        <p:nvSpPr>
          <p:cNvPr id="13" name="Rounded Rectangle 12"/>
          <p:cNvSpPr/>
          <p:nvPr/>
        </p:nvSpPr>
        <p:spPr>
          <a:xfrm>
            <a:off x="1016000" y="8550000"/>
            <a:ext cx="19642709" cy="265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0000" y="8650000"/>
            <a:ext cx="19200000" cy="2450000"/>
          </a:xfrm>
          <a:prstGeom prst="rect">
            <a:avLst/>
          </a:prstGeom>
          <a:noFill/>
        </p:spPr>
        <p:txBody>
          <a:bodyPr wrap="square">
            <a:spAutoFit/>
          </a:bodyPr>
          <a:lstStyle/>
          <a:p>
            <a:pPr>
              <a:defRPr sz="1700" b="1">
                <a:solidFill>
                  <a:srgbClr val="FF6F00"/>
                </a:solidFill>
                <a:latin typeface="Arial"/>
              </a:defRPr>
            </a:pPr>
            <a:r>
              <a:t>Ý NGHĨA KHOA HỌC TỪ BẢNG CLASSIFICATION REPORT:</a:t>
            </a:r>
          </a:p>
          <a:p>
            <a:pPr>
              <a:defRPr sz="1400">
                <a:solidFill>
                  <a:srgbClr val="0F172A"/>
                </a:solidFill>
                <a:latin typeface="Arial"/>
              </a:defRPr>
            </a:pPr>
            <a:r>
              <a:t>• SVM đạt sự cân bằng tối ưu giữa 2 lớp: F1 lớp Không cháy đạt 93.87% và F1 lớp Cháy đạt 94.03%. Mô hình không bị thiên vị sang bất kỳ lớp nào (Macro Avg = Weighted Avg = 93.95%).</a:t>
            </a:r>
          </a:p>
          <a:p>
            <a:pPr>
              <a:defRPr sz="1400">
                <a:solidFill>
                  <a:srgbClr val="0F172A"/>
                </a:solidFill>
                <a:latin typeface="Arial"/>
              </a:defRPr>
            </a:pPr>
            <a:r>
              <a:t>• Sự mất cân bằng nghiêm trọng của KNN: F1 giữa 2 lớp chênh lệch tới 11.4 điểm phần trăm (78.96% vs 67.56%). KNN có xu hướng gán nhãn về lớp Không cháy để an toàn (Recall lớp 0 lên đến 95.79%), dẫn đến bỏ sót thảm họa cháy rừng.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Phân Tích Ma Trận Nhầm Lẫn (Confusion Matrix)</a:t>
            </a:r>
          </a:p>
          <a:p>
            <a:pPr>
              <a:defRPr sz="1600" i="1" b="1">
                <a:solidFill>
                  <a:srgbClr val="1565C0"/>
                </a:solidFill>
                <a:latin typeface="Arial"/>
              </a:defRPr>
            </a:pPr>
            <a:r>
              <a:t>Mục tiêu môn học: Mục 3.4 &amp; 3.5: Model hay nhầm class nào? Báo nhầm (FP) vs Bỏ sót (FN)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11 / 18</a:t>
            </a:r>
          </a:p>
        </p:txBody>
      </p:sp>
      <p:pic>
        <p:nvPicPr>
          <p:cNvPr id="12" name="Picture 11" descr="06_confusion_matrices.png"/>
          <p:cNvPicPr>
            <a:picLocks noChangeAspect="1"/>
          </p:cNvPicPr>
          <p:nvPr/>
        </p:nvPicPr>
        <p:blipFill>
          <a:blip r:embed="rId2"/>
          <a:stretch>
            <a:fillRect/>
          </a:stretch>
        </p:blipFill>
        <p:spPr>
          <a:xfrm>
            <a:off x="1016000" y="2150000"/>
            <a:ext cx="9500000" cy="5600000"/>
          </a:xfrm>
          <a:prstGeom prst="rect">
            <a:avLst/>
          </a:prstGeom>
        </p:spPr>
      </p:pic>
      <p:graphicFrame>
        <p:nvGraphicFramePr>
          <p:cNvPr id="13" name="Table 12"/>
          <p:cNvGraphicFramePr>
            <a:graphicFrameLocks noGrp="1"/>
          </p:cNvGraphicFramePr>
          <p:nvPr/>
        </p:nvGraphicFramePr>
        <p:xfrm>
          <a:off x="10900000" y="2150000"/>
          <a:ext cx="9758709" cy="5600000"/>
        </p:xfrm>
        <a:graphic>
          <a:graphicData uri="http://schemas.openxmlformats.org/drawingml/2006/table">
            <a:tbl>
              <a:tblPr firstRow="1" bandRow="1">
                <a:tableStyleId>{5C22544A-7EE6-4342-B048-85BDC9FD1C3A}</a:tableStyleId>
              </a:tblPr>
              <a:tblGrid>
                <a:gridCol w="2558709"/>
                <a:gridCol w="1800000"/>
                <a:gridCol w="1800000"/>
                <a:gridCol w="1800000"/>
                <a:gridCol w="1800000"/>
              </a:tblGrid>
              <a:tr h="1120000">
                <a:tc>
                  <a:txBody>
                    <a:bodyPr/>
                    <a:lstStyle/>
                    <a:p>
                      <a:pPr algn="ctr">
                        <a:defRPr sz="1300" b="1">
                          <a:solidFill>
                            <a:srgbClr val="FFFFFF"/>
                          </a:solidFill>
                          <a:latin typeface="Arial"/>
                        </a:defRPr>
                      </a:pPr>
                      <a:r>
                        <a:t>MÔ HÌNH</a:t>
                      </a:r>
                    </a:p>
                  </a:txBody>
                  <a:tcPr>
                    <a:solidFill>
                      <a:srgbClr val="1565C0"/>
                    </a:solidFill>
                  </a:tcPr>
                </a:tc>
                <a:tc>
                  <a:txBody>
                    <a:bodyPr/>
                    <a:lstStyle/>
                    <a:p>
                      <a:pPr algn="ctr">
                        <a:defRPr sz="1300" b="1">
                          <a:solidFill>
                            <a:srgbClr val="FFFFFF"/>
                          </a:solidFill>
                          <a:latin typeface="Arial"/>
                        </a:defRPr>
                      </a:pPr>
                      <a:r>
                        <a:t>ĐÚNG K.CHÁY (TN)</a:t>
                      </a:r>
                    </a:p>
                  </a:txBody>
                  <a:tcPr>
                    <a:solidFill>
                      <a:srgbClr val="1565C0"/>
                    </a:solidFill>
                  </a:tcPr>
                </a:tc>
                <a:tc>
                  <a:txBody>
                    <a:bodyPr/>
                    <a:lstStyle/>
                    <a:p>
                      <a:pPr algn="ctr">
                        <a:defRPr sz="1300" b="1">
                          <a:solidFill>
                            <a:srgbClr val="FFFFFF"/>
                          </a:solidFill>
                          <a:latin typeface="Arial"/>
                        </a:defRPr>
                      </a:pPr>
                      <a:r>
                        <a:t>BÁO NHẦM (FP)</a:t>
                      </a:r>
                    </a:p>
                  </a:txBody>
                  <a:tcPr>
                    <a:solidFill>
                      <a:srgbClr val="1565C0"/>
                    </a:solidFill>
                  </a:tcPr>
                </a:tc>
                <a:tc>
                  <a:txBody>
                    <a:bodyPr/>
                    <a:lstStyle/>
                    <a:p>
                      <a:pPr algn="ctr">
                        <a:defRPr sz="1300" b="1">
                          <a:solidFill>
                            <a:srgbClr val="FFFFFF"/>
                          </a:solidFill>
                          <a:latin typeface="Arial"/>
                        </a:defRPr>
                      </a:pPr>
                      <a:r>
                        <a:t>BỎ SÓT (FN)</a:t>
                      </a:r>
                    </a:p>
                  </a:txBody>
                  <a:tcPr>
                    <a:solidFill>
                      <a:srgbClr val="1565C0"/>
                    </a:solidFill>
                  </a:tcPr>
                </a:tc>
                <a:tc>
                  <a:txBody>
                    <a:bodyPr/>
                    <a:lstStyle/>
                    <a:p>
                      <a:pPr algn="ctr">
                        <a:defRPr sz="1300" b="1">
                          <a:solidFill>
                            <a:srgbClr val="FFFFFF"/>
                          </a:solidFill>
                          <a:latin typeface="Arial"/>
                        </a:defRPr>
                      </a:pPr>
                      <a:r>
                        <a:t>ĐÚNG CHÁY (TP)</a:t>
                      </a:r>
                    </a:p>
                  </a:txBody>
                  <a:tcPr>
                    <a:solidFill>
                      <a:srgbClr val="1565C0"/>
                    </a:solidFill>
                  </a:tcPr>
                </a:tc>
              </a:tr>
              <a:tr h="1120000">
                <a:tc>
                  <a:txBody>
                    <a:bodyPr/>
                    <a:lstStyle/>
                    <a:p>
                      <a:pPr>
                        <a:defRPr sz="1300" b="1">
                          <a:solidFill>
                            <a:srgbClr val="0F172A"/>
                          </a:solidFill>
                          <a:latin typeface="Arial"/>
                        </a:defRPr>
                      </a:pPr>
                      <a:r>
                        <a:t>SVM (Tối ưu)</a:t>
                      </a:r>
                    </a:p>
                  </a:txBody>
                  <a:tcPr>
                    <a:solidFill>
                      <a:srgbClr val="EEF6FF"/>
                    </a:solidFill>
                  </a:tcPr>
                </a:tc>
                <a:tc>
                  <a:txBody>
                    <a:bodyPr/>
                    <a:lstStyle/>
                    <a:p>
                      <a:pPr algn="ctr">
                        <a:defRPr sz="1300">
                          <a:solidFill>
                            <a:srgbClr val="0F172A"/>
                          </a:solidFill>
                          <a:latin typeface="Arial"/>
                        </a:defRPr>
                      </a:pPr>
                      <a:r>
                        <a:t>176 ảnh (92.6%)</a:t>
                      </a:r>
                    </a:p>
                  </a:txBody>
                  <a:tcPr>
                    <a:solidFill>
                      <a:srgbClr val="EEF6FF"/>
                    </a:solidFill>
                  </a:tcPr>
                </a:tc>
                <a:tc>
                  <a:txBody>
                    <a:bodyPr/>
                    <a:lstStyle/>
                    <a:p>
                      <a:pPr algn="ctr">
                        <a:defRPr sz="1300">
                          <a:solidFill>
                            <a:srgbClr val="0F172A"/>
                          </a:solidFill>
                          <a:latin typeface="Arial"/>
                        </a:defRPr>
                      </a:pPr>
                      <a:r>
                        <a:t>14 ảnh (7.4%)</a:t>
                      </a:r>
                    </a:p>
                  </a:txBody>
                  <a:tcPr>
                    <a:solidFill>
                      <a:srgbClr val="EEF6FF"/>
                    </a:solidFill>
                  </a:tcPr>
                </a:tc>
                <a:tc>
                  <a:txBody>
                    <a:bodyPr/>
                    <a:lstStyle/>
                    <a:p>
                      <a:pPr algn="ctr">
                        <a:defRPr sz="1300" b="1">
                          <a:solidFill>
                            <a:srgbClr val="2E7D32"/>
                          </a:solidFill>
                          <a:latin typeface="Arial"/>
                        </a:defRPr>
                      </a:pPr>
                      <a:r>
                        <a:t>9 ảnh (4.7%)</a:t>
                      </a:r>
                    </a:p>
                  </a:txBody>
                  <a:tcPr>
                    <a:solidFill>
                      <a:srgbClr val="EEF6FF"/>
                    </a:solidFill>
                  </a:tcPr>
                </a:tc>
                <a:tc>
                  <a:txBody>
                    <a:bodyPr/>
                    <a:lstStyle/>
                    <a:p>
                      <a:pPr algn="ctr">
                        <a:defRPr sz="1300">
                          <a:solidFill>
                            <a:srgbClr val="0F172A"/>
                          </a:solidFill>
                          <a:latin typeface="Arial"/>
                        </a:defRPr>
                      </a:pPr>
                      <a:r>
                        <a:t>181 ảnh (95.3%)</a:t>
                      </a:r>
                    </a:p>
                  </a:txBody>
                  <a:tcPr>
                    <a:solidFill>
                      <a:srgbClr val="EEF6FF"/>
                    </a:solidFill>
                  </a:tcPr>
                </a:tc>
              </a:tr>
              <a:tr h="1120000">
                <a:tc>
                  <a:txBody>
                    <a:bodyPr/>
                    <a:lstStyle/>
                    <a:p>
                      <a:pPr>
                        <a:defRPr sz="1300" b="1">
                          <a:solidFill>
                            <a:srgbClr val="0F172A"/>
                          </a:solidFill>
                          <a:latin typeface="Arial"/>
                        </a:defRPr>
                      </a:pPr>
                      <a:r>
                        <a:t>Logistic Reg.</a:t>
                      </a:r>
                    </a:p>
                  </a:txBody>
                  <a:tcPr>
                    <a:solidFill>
                      <a:srgbClr val="F1F5F9"/>
                    </a:solidFill>
                  </a:tcPr>
                </a:tc>
                <a:tc>
                  <a:txBody>
                    <a:bodyPr/>
                    <a:lstStyle/>
                    <a:p>
                      <a:pPr algn="ctr">
                        <a:defRPr sz="1300">
                          <a:solidFill>
                            <a:srgbClr val="0F172A"/>
                          </a:solidFill>
                          <a:latin typeface="Arial"/>
                        </a:defRPr>
                      </a:pPr>
                      <a:r>
                        <a:t>174 ảnh (91.6%)</a:t>
                      </a:r>
                    </a:p>
                  </a:txBody>
                  <a:tcPr>
                    <a:solidFill>
                      <a:srgbClr val="F1F5F9"/>
                    </a:solidFill>
                  </a:tcPr>
                </a:tc>
                <a:tc>
                  <a:txBody>
                    <a:bodyPr/>
                    <a:lstStyle/>
                    <a:p>
                      <a:pPr algn="ctr">
                        <a:defRPr sz="1300">
                          <a:solidFill>
                            <a:srgbClr val="0F172A"/>
                          </a:solidFill>
                          <a:latin typeface="Arial"/>
                        </a:defRPr>
                      </a:pPr>
                      <a:r>
                        <a:t>16 ảnh (8.4%)</a:t>
                      </a:r>
                    </a:p>
                  </a:txBody>
                  <a:tcPr>
                    <a:solidFill>
                      <a:srgbClr val="F1F5F9"/>
                    </a:solidFill>
                  </a:tcPr>
                </a:tc>
                <a:tc>
                  <a:txBody>
                    <a:bodyPr/>
                    <a:lstStyle/>
                    <a:p>
                      <a:pPr algn="ctr">
                        <a:defRPr sz="1300">
                          <a:solidFill>
                            <a:srgbClr val="0F172A"/>
                          </a:solidFill>
                          <a:latin typeface="Arial"/>
                        </a:defRPr>
                      </a:pPr>
                      <a:r>
                        <a:t>13 ảnh (6.8%)</a:t>
                      </a:r>
                    </a:p>
                  </a:txBody>
                  <a:tcPr>
                    <a:solidFill>
                      <a:srgbClr val="F1F5F9"/>
                    </a:solidFill>
                  </a:tcPr>
                </a:tc>
                <a:tc>
                  <a:txBody>
                    <a:bodyPr/>
                    <a:lstStyle/>
                    <a:p>
                      <a:pPr algn="ctr">
                        <a:defRPr sz="1300">
                          <a:solidFill>
                            <a:srgbClr val="0F172A"/>
                          </a:solidFill>
                          <a:latin typeface="Arial"/>
                        </a:defRPr>
                      </a:pPr>
                      <a:r>
                        <a:t>177 ảnh (93.2%)</a:t>
                      </a:r>
                    </a:p>
                  </a:txBody>
                  <a:tcPr>
                    <a:solidFill>
                      <a:srgbClr val="F1F5F9"/>
                    </a:solidFill>
                  </a:tcPr>
                </a:tc>
              </a:tr>
              <a:tr h="1120000">
                <a:tc>
                  <a:txBody>
                    <a:bodyPr/>
                    <a:lstStyle/>
                    <a:p>
                      <a:pPr>
                        <a:defRPr sz="1300" b="1">
                          <a:solidFill>
                            <a:srgbClr val="0F172A"/>
                          </a:solidFill>
                          <a:latin typeface="Arial"/>
                        </a:defRPr>
                      </a:pPr>
                      <a:r>
                        <a:t>Random Forest</a:t>
                      </a:r>
                    </a:p>
                  </a:txBody>
                  <a:tcPr>
                    <a:solidFill>
                      <a:srgbClr val="FFFFFF"/>
                    </a:solidFill>
                  </a:tcPr>
                </a:tc>
                <a:tc>
                  <a:txBody>
                    <a:bodyPr/>
                    <a:lstStyle/>
                    <a:p>
                      <a:pPr algn="ctr">
                        <a:defRPr sz="1300">
                          <a:solidFill>
                            <a:srgbClr val="0F172A"/>
                          </a:solidFill>
                          <a:latin typeface="Arial"/>
                        </a:defRPr>
                      </a:pPr>
                      <a:r>
                        <a:t>169 ảnh (88.9%)</a:t>
                      </a:r>
                    </a:p>
                  </a:txBody>
                  <a:tcPr>
                    <a:solidFill>
                      <a:srgbClr val="FFFFFF"/>
                    </a:solidFill>
                  </a:tcPr>
                </a:tc>
                <a:tc>
                  <a:txBody>
                    <a:bodyPr/>
                    <a:lstStyle/>
                    <a:p>
                      <a:pPr algn="ctr">
                        <a:defRPr sz="1300">
                          <a:solidFill>
                            <a:srgbClr val="0F172A"/>
                          </a:solidFill>
                          <a:latin typeface="Arial"/>
                        </a:defRPr>
                      </a:pPr>
                      <a:r>
                        <a:t>21 ảnh (11.1%)</a:t>
                      </a:r>
                    </a:p>
                  </a:txBody>
                  <a:tcPr>
                    <a:solidFill>
                      <a:srgbClr val="FFFFFF"/>
                    </a:solidFill>
                  </a:tcPr>
                </a:tc>
                <a:tc>
                  <a:txBody>
                    <a:bodyPr/>
                    <a:lstStyle/>
                    <a:p>
                      <a:pPr algn="ctr">
                        <a:defRPr sz="1300">
                          <a:solidFill>
                            <a:srgbClr val="0F172A"/>
                          </a:solidFill>
                          <a:latin typeface="Arial"/>
                        </a:defRPr>
                      </a:pPr>
                      <a:r>
                        <a:t>26 ảnh (13.7%)</a:t>
                      </a:r>
                    </a:p>
                  </a:txBody>
                  <a:tcPr>
                    <a:solidFill>
                      <a:srgbClr val="FFFFFF"/>
                    </a:solidFill>
                  </a:tcPr>
                </a:tc>
                <a:tc>
                  <a:txBody>
                    <a:bodyPr/>
                    <a:lstStyle/>
                    <a:p>
                      <a:pPr algn="ctr">
                        <a:defRPr sz="1300">
                          <a:solidFill>
                            <a:srgbClr val="0F172A"/>
                          </a:solidFill>
                          <a:latin typeface="Arial"/>
                        </a:defRPr>
                      </a:pPr>
                      <a:r>
                        <a:t>164 ảnh (86.3%)</a:t>
                      </a:r>
                    </a:p>
                  </a:txBody>
                  <a:tcPr>
                    <a:solidFill>
                      <a:srgbClr val="FFFFFF"/>
                    </a:solidFill>
                  </a:tcPr>
                </a:tc>
              </a:tr>
              <a:tr h="1120000">
                <a:tc>
                  <a:txBody>
                    <a:bodyPr/>
                    <a:lstStyle/>
                    <a:p>
                      <a:pPr>
                        <a:defRPr sz="1300" b="1">
                          <a:solidFill>
                            <a:srgbClr val="0F172A"/>
                          </a:solidFill>
                          <a:latin typeface="Arial"/>
                        </a:defRPr>
                      </a:pPr>
                      <a:r>
                        <a:t>KNN</a:t>
                      </a:r>
                    </a:p>
                  </a:txBody>
                  <a:tcPr>
                    <a:solidFill>
                      <a:srgbClr val="F1F5F9"/>
                    </a:solidFill>
                  </a:tcPr>
                </a:tc>
                <a:tc>
                  <a:txBody>
                    <a:bodyPr/>
                    <a:lstStyle/>
                    <a:p>
                      <a:pPr algn="ctr">
                        <a:defRPr sz="1300">
                          <a:solidFill>
                            <a:srgbClr val="0F172A"/>
                          </a:solidFill>
                          <a:latin typeface="Arial"/>
                        </a:defRPr>
                      </a:pPr>
                      <a:r>
                        <a:t>182 ảnh (95.8%)</a:t>
                      </a:r>
                    </a:p>
                  </a:txBody>
                  <a:tcPr>
                    <a:solidFill>
                      <a:srgbClr val="F1F5F9"/>
                    </a:solidFill>
                  </a:tcPr>
                </a:tc>
                <a:tc>
                  <a:txBody>
                    <a:bodyPr/>
                    <a:lstStyle/>
                    <a:p>
                      <a:pPr algn="ctr">
                        <a:defRPr sz="1300">
                          <a:solidFill>
                            <a:srgbClr val="0F172A"/>
                          </a:solidFill>
                          <a:latin typeface="Arial"/>
                        </a:defRPr>
                      </a:pPr>
                      <a:r>
                        <a:t>8 ảnh (4.2%)</a:t>
                      </a:r>
                    </a:p>
                  </a:txBody>
                  <a:tcPr>
                    <a:solidFill>
                      <a:srgbClr val="F1F5F9"/>
                    </a:solidFill>
                  </a:tcPr>
                </a:tc>
                <a:tc>
                  <a:txBody>
                    <a:bodyPr/>
                    <a:lstStyle/>
                    <a:p>
                      <a:pPr algn="ctr">
                        <a:defRPr sz="1300" b="1">
                          <a:solidFill>
                            <a:srgbClr val="C62828"/>
                          </a:solidFill>
                          <a:latin typeface="Arial"/>
                        </a:defRPr>
                      </a:pPr>
                      <a:r>
                        <a:t>89 ảnh (46.8%)</a:t>
                      </a:r>
                    </a:p>
                  </a:txBody>
                  <a:tcPr>
                    <a:solidFill>
                      <a:srgbClr val="F1F5F9"/>
                    </a:solidFill>
                  </a:tcPr>
                </a:tc>
                <a:tc>
                  <a:txBody>
                    <a:bodyPr/>
                    <a:lstStyle/>
                    <a:p>
                      <a:pPr algn="ctr">
                        <a:defRPr sz="1300">
                          <a:solidFill>
                            <a:srgbClr val="0F172A"/>
                          </a:solidFill>
                          <a:latin typeface="Arial"/>
                        </a:defRPr>
                      </a:pPr>
                      <a:r>
                        <a:t>101 ảnh (53.2%)</a:t>
                      </a:r>
                    </a:p>
                  </a:txBody>
                  <a:tcPr>
                    <a:solidFill>
                      <a:srgbClr val="F1F5F9"/>
                    </a:solidFill>
                  </a:tcPr>
                </a:tc>
              </a:tr>
            </a:tbl>
          </a:graphicData>
        </a:graphic>
      </p:graphicFrame>
      <p:sp>
        <p:nvSpPr>
          <p:cNvPr id="14" name="Rounded Rectangle 13"/>
          <p:cNvSpPr/>
          <p:nvPr/>
        </p:nvSpPr>
        <p:spPr>
          <a:xfrm>
            <a:off x="1016000" y="7950000"/>
            <a:ext cx="19642709" cy="32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0000" y="8050000"/>
            <a:ext cx="19200000" cy="3000000"/>
          </a:xfrm>
          <a:prstGeom prst="rect">
            <a:avLst/>
          </a:prstGeom>
          <a:noFill/>
        </p:spPr>
        <p:txBody>
          <a:bodyPr wrap="square">
            <a:spAutoFit/>
          </a:bodyPr>
          <a:lstStyle/>
          <a:p>
            <a:pPr>
              <a:defRPr sz="1700" b="1">
                <a:solidFill>
                  <a:srgbClr val="1565C0"/>
                </a:solidFill>
                <a:latin typeface="Arial"/>
              </a:defRPr>
            </a:pPr>
            <a:r>
              <a:t>TRẢ LỜI CÂU HỎI MỤC 3.5 CỦA THẦY: MODEL HAY NHẦM CLASS NÀO?</a:t>
            </a:r>
          </a:p>
          <a:p>
            <a:pPr>
              <a:defRPr sz="1400">
                <a:solidFill>
                  <a:srgbClr val="0F172A"/>
                </a:solidFill>
                <a:latin typeface="Arial"/>
              </a:defRPr>
            </a:pPr>
            <a:r>
              <a:t>1. Đối với SVM: Tỉ lệ lỗi rất thấp trên cả 2 phía. Mô hình báo nhầm 14 ảnh Không cháy thành Cháy (FP = 7.37%) và chỉ bỏ sót 9 ảnh Cháy thành Không cháy (FN = 4.74%). Trong bài toán cháy rừng, lỗi bỏ sót (FN) nguy hiểm hơn nhiều so với báo nhầm, và SVM đã kiểm soát FN ở mức thấp nhất (9 ảnh).</a:t>
            </a:r>
          </a:p>
          <a:p>
            <a:pPr>
              <a:defRPr sz="1400">
                <a:solidFill>
                  <a:srgbClr val="0F172A"/>
                </a:solidFill>
                <a:latin typeface="Arial"/>
              </a:defRPr>
            </a:pPr>
            <a:r>
              <a:t>2. Đối với KNN: Model bị nhầm trầm trọng lớp Cháy thành Không cháy (FN = 89 ảnh, chiếm tới 46.84%). KNN hầu như bất lực trong việc phát hiện một nửa số đám cháy, cho thấy việc bỏ phiếu k lân cận trong không gian nén PCA là không đáng tin cậy.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So Sánh Train vs Validation — Đánh Giá Học Quá Khớp</a:t>
            </a:r>
          </a:p>
          <a:p>
            <a:pPr>
              <a:defRPr sz="1600" i="1" b="1">
                <a:solidFill>
                  <a:srgbClr val="1565C0"/>
                </a:solidFill>
                <a:latin typeface="Arial"/>
              </a:defRPr>
            </a:pPr>
            <a:r>
              <a:t>Mục tiêu môn học: Mục 3.5 &amp; 7: Phân tích Overfitting / Underfitting giữa tập Train và Validation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12 / 18</a:t>
            </a:r>
          </a:p>
        </p:txBody>
      </p:sp>
      <p:graphicFrame>
        <p:nvGraphicFramePr>
          <p:cNvPr id="12" name="Table 11"/>
          <p:cNvGraphicFramePr>
            <a:graphicFrameLocks noGrp="1"/>
          </p:cNvGraphicFramePr>
          <p:nvPr/>
        </p:nvGraphicFramePr>
        <p:xfrm>
          <a:off x="1016000" y="2150000"/>
          <a:ext cx="10500000" cy="4200000"/>
        </p:xfrm>
        <a:graphic>
          <a:graphicData uri="http://schemas.openxmlformats.org/drawingml/2006/table">
            <a:tbl>
              <a:tblPr firstRow="1" bandRow="1">
                <a:tableStyleId>{5C22544A-7EE6-4342-B048-85BDC9FD1C3A}</a:tableStyleId>
              </a:tblPr>
              <a:tblGrid>
                <a:gridCol w="3300000"/>
                <a:gridCol w="2400000"/>
                <a:gridCol w="2400000"/>
                <a:gridCol w="2400000"/>
              </a:tblGrid>
              <a:tr h="840000">
                <a:tc>
                  <a:txBody>
                    <a:bodyPr/>
                    <a:lstStyle/>
                    <a:p>
                      <a:pPr algn="ctr">
                        <a:defRPr sz="1500" b="1">
                          <a:solidFill>
                            <a:srgbClr val="FFFFFF"/>
                          </a:solidFill>
                          <a:latin typeface="Arial"/>
                        </a:defRPr>
                      </a:pPr>
                      <a:r>
                        <a:t>MÔ HÌNH</a:t>
                      </a:r>
                    </a:p>
                  </a:txBody>
                  <a:tcPr>
                    <a:solidFill>
                      <a:srgbClr val="1565C0"/>
                    </a:solidFill>
                  </a:tcPr>
                </a:tc>
                <a:tc>
                  <a:txBody>
                    <a:bodyPr/>
                    <a:lstStyle/>
                    <a:p>
                      <a:pPr algn="ctr">
                        <a:defRPr sz="1500" b="1">
                          <a:solidFill>
                            <a:srgbClr val="FFFFFF"/>
                          </a:solidFill>
                          <a:latin typeface="Arial"/>
                        </a:defRPr>
                      </a:pPr>
                      <a:r>
                        <a:t>F1 TRAIN (%)</a:t>
                      </a:r>
                    </a:p>
                  </a:txBody>
                  <a:tcPr>
                    <a:solidFill>
                      <a:srgbClr val="1565C0"/>
                    </a:solidFill>
                  </a:tcPr>
                </a:tc>
                <a:tc>
                  <a:txBody>
                    <a:bodyPr/>
                    <a:lstStyle/>
                    <a:p>
                      <a:pPr algn="ctr">
                        <a:defRPr sz="1500" b="1">
                          <a:solidFill>
                            <a:srgbClr val="FFFFFF"/>
                          </a:solidFill>
                          <a:latin typeface="Arial"/>
                        </a:defRPr>
                      </a:pPr>
                      <a:r>
                        <a:t>F1 VALIDATION (%)</a:t>
                      </a:r>
                    </a:p>
                  </a:txBody>
                  <a:tcPr>
                    <a:solidFill>
                      <a:srgbClr val="1565C0"/>
                    </a:solidFill>
                  </a:tcPr>
                </a:tc>
                <a:tc>
                  <a:txBody>
                    <a:bodyPr/>
                    <a:lstStyle/>
                    <a:p>
                      <a:pPr algn="ctr">
                        <a:defRPr sz="1500" b="1">
                          <a:solidFill>
                            <a:srgbClr val="FFFFFF"/>
                          </a:solidFill>
                          <a:latin typeface="Arial"/>
                        </a:defRPr>
                      </a:pPr>
                      <a:r>
                        <a:t>KHOẢNG CHÊNH LỆCH</a:t>
                      </a:r>
                    </a:p>
                  </a:txBody>
                  <a:tcPr>
                    <a:solidFill>
                      <a:srgbClr val="1565C0"/>
                    </a:solidFill>
                  </a:tcPr>
                </a:tc>
              </a:tr>
              <a:tr h="840000">
                <a:tc>
                  <a:txBody>
                    <a:bodyPr/>
                    <a:lstStyle/>
                    <a:p>
                      <a:pPr>
                        <a:defRPr sz="1500" b="1">
                          <a:solidFill>
                            <a:srgbClr val="0F172A"/>
                          </a:solidFill>
                          <a:latin typeface="Arial"/>
                        </a:defRPr>
                      </a:pPr>
                      <a:r>
                        <a:t>SVM (Kiểm soát tốt nhất)</a:t>
                      </a:r>
                    </a:p>
                  </a:txBody>
                  <a:tcPr>
                    <a:solidFill>
                      <a:srgbClr val="EEF6FF"/>
                    </a:solidFill>
                  </a:tcPr>
                </a:tc>
                <a:tc>
                  <a:txBody>
                    <a:bodyPr/>
                    <a:lstStyle/>
                    <a:p>
                      <a:pPr algn="ctr">
                        <a:defRPr sz="1500" b="1">
                          <a:solidFill>
                            <a:srgbClr val="0F172A"/>
                          </a:solidFill>
                          <a:latin typeface="Arial"/>
                        </a:defRPr>
                      </a:pPr>
                      <a:r>
                        <a:t>100,00%</a:t>
                      </a:r>
                    </a:p>
                  </a:txBody>
                  <a:tcPr>
                    <a:solidFill>
                      <a:srgbClr val="EEF6FF"/>
                    </a:solidFill>
                  </a:tcPr>
                </a:tc>
                <a:tc>
                  <a:txBody>
                    <a:bodyPr/>
                    <a:lstStyle/>
                    <a:p>
                      <a:pPr algn="ctr">
                        <a:defRPr sz="1500" b="1">
                          <a:solidFill>
                            <a:srgbClr val="0F172A"/>
                          </a:solidFill>
                          <a:latin typeface="Arial"/>
                        </a:defRPr>
                      </a:pPr>
                      <a:r>
                        <a:t>94,19%</a:t>
                      </a:r>
                    </a:p>
                  </a:txBody>
                  <a:tcPr>
                    <a:solidFill>
                      <a:srgbClr val="EEF6FF"/>
                    </a:solidFill>
                  </a:tcPr>
                </a:tc>
                <a:tc>
                  <a:txBody>
                    <a:bodyPr/>
                    <a:lstStyle/>
                    <a:p>
                      <a:pPr algn="ctr">
                        <a:defRPr sz="1500" b="1">
                          <a:solidFill>
                            <a:srgbClr val="2E7D32"/>
                          </a:solidFill>
                          <a:latin typeface="Arial"/>
                        </a:defRPr>
                      </a:pPr>
                      <a:r>
                        <a:t>5,81 điểm phần trăm</a:t>
                      </a:r>
                    </a:p>
                  </a:txBody>
                  <a:tcPr>
                    <a:solidFill>
                      <a:srgbClr val="EEF6FF"/>
                    </a:solidFill>
                  </a:tcPr>
                </a:tc>
              </a:tr>
              <a:tr h="840000">
                <a:tc>
                  <a:txBody>
                    <a:bodyPr/>
                    <a:lstStyle/>
                    <a:p>
                      <a:pPr>
                        <a:defRPr sz="1500" b="1">
                          <a:solidFill>
                            <a:srgbClr val="0F172A"/>
                          </a:solidFill>
                          <a:latin typeface="Arial"/>
                        </a:defRPr>
                      </a:pPr>
                      <a:r>
                        <a:t>Logistic Regression</a:t>
                      </a:r>
                    </a:p>
                  </a:txBody>
                  <a:tcPr>
                    <a:solidFill>
                      <a:srgbClr val="F1F5F9"/>
                    </a:solidFill>
                  </a:tcPr>
                </a:tc>
                <a:tc>
                  <a:txBody>
                    <a:bodyPr/>
                    <a:lstStyle/>
                    <a:p>
                      <a:pPr algn="ctr">
                        <a:defRPr sz="1500">
                          <a:solidFill>
                            <a:srgbClr val="0F172A"/>
                          </a:solidFill>
                          <a:latin typeface="Arial"/>
                        </a:defRPr>
                      </a:pPr>
                      <a:r>
                        <a:t>100,00%</a:t>
                      </a:r>
                    </a:p>
                  </a:txBody>
                  <a:tcPr>
                    <a:solidFill>
                      <a:srgbClr val="F1F5F9"/>
                    </a:solidFill>
                  </a:tcPr>
                </a:tc>
                <a:tc>
                  <a:txBody>
                    <a:bodyPr/>
                    <a:lstStyle/>
                    <a:p>
                      <a:pPr algn="ctr">
                        <a:defRPr sz="1500">
                          <a:solidFill>
                            <a:srgbClr val="0F172A"/>
                          </a:solidFill>
                          <a:latin typeface="Arial"/>
                        </a:defRPr>
                      </a:pPr>
                      <a:r>
                        <a:t>93,42%</a:t>
                      </a:r>
                    </a:p>
                  </a:txBody>
                  <a:tcPr>
                    <a:solidFill>
                      <a:srgbClr val="F1F5F9"/>
                    </a:solidFill>
                  </a:tcPr>
                </a:tc>
                <a:tc>
                  <a:txBody>
                    <a:bodyPr/>
                    <a:lstStyle/>
                    <a:p>
                      <a:pPr algn="ctr">
                        <a:defRPr sz="1500">
                          <a:solidFill>
                            <a:srgbClr val="0F172A"/>
                          </a:solidFill>
                          <a:latin typeface="Arial"/>
                        </a:defRPr>
                      </a:pPr>
                      <a:r>
                        <a:t>6,58 điểm phần trăm</a:t>
                      </a:r>
                    </a:p>
                  </a:txBody>
                  <a:tcPr>
                    <a:solidFill>
                      <a:srgbClr val="F1F5F9"/>
                    </a:solidFill>
                  </a:tcPr>
                </a:tc>
              </a:tr>
              <a:tr h="840000">
                <a:tc>
                  <a:txBody>
                    <a:bodyPr/>
                    <a:lstStyle/>
                    <a:p>
                      <a:pPr>
                        <a:defRPr sz="1500" b="1">
                          <a:solidFill>
                            <a:srgbClr val="0F172A"/>
                          </a:solidFill>
                          <a:latin typeface="Arial"/>
                        </a:defRPr>
                      </a:pPr>
                      <a:r>
                        <a:t>Random Forest</a:t>
                      </a:r>
                    </a:p>
                  </a:txBody>
                  <a:tcPr>
                    <a:solidFill>
                      <a:srgbClr val="FFFFFF"/>
                    </a:solidFill>
                  </a:tcPr>
                </a:tc>
                <a:tc>
                  <a:txBody>
                    <a:bodyPr/>
                    <a:lstStyle/>
                    <a:p>
                      <a:pPr algn="ctr">
                        <a:defRPr sz="1500">
                          <a:solidFill>
                            <a:srgbClr val="0F172A"/>
                          </a:solidFill>
                          <a:latin typeface="Arial"/>
                        </a:defRPr>
                      </a:pPr>
                      <a:r>
                        <a:t>100,00%</a:t>
                      </a:r>
                    </a:p>
                  </a:txBody>
                  <a:tcPr>
                    <a:solidFill>
                      <a:srgbClr val="FFFFFF"/>
                    </a:solidFill>
                  </a:tcPr>
                </a:tc>
                <a:tc>
                  <a:txBody>
                    <a:bodyPr/>
                    <a:lstStyle/>
                    <a:p>
                      <a:pPr algn="ctr">
                        <a:defRPr sz="1500">
                          <a:solidFill>
                            <a:srgbClr val="0F172A"/>
                          </a:solidFill>
                          <a:latin typeface="Arial"/>
                        </a:defRPr>
                      </a:pPr>
                      <a:r>
                        <a:t>86,45%</a:t>
                      </a:r>
                    </a:p>
                  </a:txBody>
                  <a:tcPr>
                    <a:solidFill>
                      <a:srgbClr val="FFFFFF"/>
                    </a:solidFill>
                  </a:tcPr>
                </a:tc>
                <a:tc>
                  <a:txBody>
                    <a:bodyPr/>
                    <a:lstStyle/>
                    <a:p>
                      <a:pPr algn="ctr">
                        <a:defRPr sz="1500">
                          <a:solidFill>
                            <a:srgbClr val="C62828"/>
                          </a:solidFill>
                          <a:latin typeface="Arial"/>
                        </a:defRPr>
                      </a:pPr>
                      <a:r>
                        <a:t>13,55 điểm phần trăm</a:t>
                      </a:r>
                    </a:p>
                  </a:txBody>
                  <a:tcPr>
                    <a:solidFill>
                      <a:srgbClr val="FFFFFF"/>
                    </a:solidFill>
                  </a:tcPr>
                </a:tc>
              </a:tr>
              <a:tr h="840000">
                <a:tc>
                  <a:txBody>
                    <a:bodyPr/>
                    <a:lstStyle/>
                    <a:p>
                      <a:pPr>
                        <a:defRPr sz="1500" b="1">
                          <a:solidFill>
                            <a:srgbClr val="0F172A"/>
                          </a:solidFill>
                          <a:latin typeface="Arial"/>
                        </a:defRPr>
                      </a:pPr>
                      <a:r>
                        <a:t>KNN</a:t>
                      </a:r>
                    </a:p>
                  </a:txBody>
                  <a:tcPr>
                    <a:solidFill>
                      <a:srgbClr val="F1F5F9"/>
                    </a:solidFill>
                  </a:tcPr>
                </a:tc>
                <a:tc>
                  <a:txBody>
                    <a:bodyPr/>
                    <a:lstStyle/>
                    <a:p>
                      <a:pPr algn="ctr">
                        <a:defRPr sz="1500">
                          <a:solidFill>
                            <a:srgbClr val="0F172A"/>
                          </a:solidFill>
                          <a:latin typeface="Arial"/>
                        </a:defRPr>
                      </a:pPr>
                      <a:r>
                        <a:t>86,06%</a:t>
                      </a:r>
                    </a:p>
                  </a:txBody>
                  <a:tcPr>
                    <a:solidFill>
                      <a:srgbClr val="F1F5F9"/>
                    </a:solidFill>
                  </a:tcPr>
                </a:tc>
                <a:tc>
                  <a:txBody>
                    <a:bodyPr/>
                    <a:lstStyle/>
                    <a:p>
                      <a:pPr algn="ctr">
                        <a:defRPr sz="1500">
                          <a:solidFill>
                            <a:srgbClr val="0F172A"/>
                          </a:solidFill>
                          <a:latin typeface="Arial"/>
                        </a:defRPr>
                      </a:pPr>
                      <a:r>
                        <a:t>71,54%</a:t>
                      </a:r>
                    </a:p>
                  </a:txBody>
                  <a:tcPr>
                    <a:solidFill>
                      <a:srgbClr val="F1F5F9"/>
                    </a:solidFill>
                  </a:tcPr>
                </a:tc>
                <a:tc>
                  <a:txBody>
                    <a:bodyPr/>
                    <a:lstStyle/>
                    <a:p>
                      <a:pPr algn="ctr">
                        <a:defRPr sz="1500">
                          <a:solidFill>
                            <a:srgbClr val="C62828"/>
                          </a:solidFill>
                          <a:latin typeface="Arial"/>
                        </a:defRPr>
                      </a:pPr>
                      <a:r>
                        <a:t>14,51 điểm phần trăm</a:t>
                      </a:r>
                    </a:p>
                  </a:txBody>
                  <a:tcPr>
                    <a:solidFill>
                      <a:srgbClr val="F1F5F9"/>
                    </a:solidFill>
                  </a:tcPr>
                </a:tc>
              </a:tr>
            </a:tbl>
          </a:graphicData>
        </a:graphic>
      </p:graphicFrame>
      <p:sp>
        <p:nvSpPr>
          <p:cNvPr id="13" name="Rounded Rectangle 12"/>
          <p:cNvSpPr/>
          <p:nvPr/>
        </p:nvSpPr>
        <p:spPr>
          <a:xfrm>
            <a:off x="11800000" y="2150000"/>
            <a:ext cx="8858709" cy="4200000"/>
          </a:xfrm>
          <a:prstGeom prst="roundRect">
            <a:avLst/>
          </a:prstGeom>
          <a:solidFill>
            <a:srgbClr val="FFEBEE"/>
          </a:solidFill>
          <a:ln w="19050">
            <a:solidFill>
              <a:srgbClr val="EF9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00000" y="2300000"/>
            <a:ext cx="8450000" cy="3900000"/>
          </a:xfrm>
          <a:prstGeom prst="rect">
            <a:avLst/>
          </a:prstGeom>
          <a:noFill/>
        </p:spPr>
        <p:txBody>
          <a:bodyPr wrap="square">
            <a:spAutoFit/>
          </a:bodyPr>
          <a:lstStyle/>
          <a:p>
            <a:pPr>
              <a:defRPr sz="1800" b="1">
                <a:solidFill>
                  <a:srgbClr val="C62828"/>
                </a:solidFill>
                <a:latin typeface="Arial"/>
              </a:defRPr>
            </a:pPr>
            <a:r>
              <a:t>DẤU HIỆU HỌC QUÁ KHỚP (OVERFITTING):</a:t>
            </a:r>
          </a:p>
          <a:p>
            <a:pPr>
              <a:defRPr sz="1400">
                <a:solidFill>
                  <a:srgbClr val="0F172A"/>
                </a:solidFill>
                <a:latin typeface="Arial"/>
              </a:defRPr>
            </a:pPr>
            <a:r>
              <a:t>• Điểm Train 100% không có nghĩa mô hình hoàn hảo: Cả SVM, Logistic Regression và Random Forest đều đạt F1 Train tuyệt đối 100%. Không gian 231 đặc trưng đủ phức tạp để phân tách trọn vẹn tập huấn luyện.</a:t>
            </a:r>
          </a:p>
          <a:p>
            <a:pPr>
              <a:defRPr sz="1400">
                <a:solidFill>
                  <a:srgbClr val="0F172A"/>
                </a:solidFill>
                <a:latin typeface="Arial"/>
              </a:defRPr>
            </a:pPr>
            <a:r>
              <a:t>• Random Forest bị Overfit rõ nét nhất: Điểm train 100% nhưng Val chỉ đạt 86.45% (chênh tới 13.55%). Cây quyết định học vẹt các mẫu Train cụ thể mà không khái quát hóa tốt khi không gian bị xoay bởi PCA.</a:t>
            </a:r>
          </a:p>
        </p:txBody>
      </p:sp>
      <p:sp>
        <p:nvSpPr>
          <p:cNvPr id="15" name="Rounded Rectangle 14"/>
          <p:cNvSpPr/>
          <p:nvPr/>
        </p:nvSpPr>
        <p:spPr>
          <a:xfrm>
            <a:off x="1016000" y="6600000"/>
            <a:ext cx="19642709" cy="455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0000" y="6750000"/>
            <a:ext cx="19200000" cy="4250000"/>
          </a:xfrm>
          <a:prstGeom prst="rect">
            <a:avLst/>
          </a:prstGeom>
          <a:noFill/>
        </p:spPr>
        <p:txBody>
          <a:bodyPr wrap="square">
            <a:spAutoFit/>
          </a:bodyPr>
          <a:lstStyle/>
          <a:p>
            <a:pPr>
              <a:defRPr sz="1800" b="1">
                <a:solidFill>
                  <a:srgbClr val="1565C0"/>
                </a:solidFill>
                <a:latin typeface="Arial"/>
              </a:defRPr>
            </a:pPr>
            <a:r>
              <a:t>TẠI SAO SVM KIỂM SOÁT HỌC QUÁ KHỚP TỐT NHẤT TRONG CẢ 4 MÔ HÌNH?</a:t>
            </a:r>
          </a:p>
          <a:p>
            <a:pPr>
              <a:defRPr sz="1500">
                <a:solidFill>
                  <a:srgbClr val="0F172A"/>
                </a:solidFill>
                <a:latin typeface="Arial"/>
              </a:defRPr>
            </a:pPr>
            <a:r>
              <a:t>1. Nguyên lý Biên Cực Đại (Maximum Margin): Không chỉ đơn thuần phân tách nhãn 0 và 1, SVM tối đa hóa khoảng cách giữa siêu phẳng phân cách và các Support Vectors gần nhất. Biên cực đại này đóng vai trò như một cơ chế điều hòa tự nhiên (Regularization) kiềm chế mô hình không bám theo nhiễu cục bộ.</a:t>
            </a:r>
          </a:p>
          <a:p>
            <a:pPr>
              <a:defRPr sz="1500">
                <a:solidFill>
                  <a:srgbClr val="0F172A"/>
                </a:solidFill>
                <a:latin typeface="Arial"/>
              </a:defRPr>
            </a:pPr>
            <a:r>
              <a:t>2. Khoảng chênh lệch Train - Val nhỏ nhất (5.81%): Trên tập Test thực tế, SVM vẫn duy trì F1 94.03% (chỉ giảm 0.16% so với Validation). Điều này chứng minh SVM có khả năng tổng quát hóa (Generalization) vượt trội nhất trên dữ liệu ảnh thực nghiệm.</a:t>
            </a:r>
          </a:p>
          <a:p>
            <a:pPr>
              <a:defRPr sz="1500" b="1">
                <a:solidFill>
                  <a:srgbClr val="0D47A1"/>
                </a:solidFill>
                <a:latin typeface="Arial"/>
              </a:defRPr>
            </a:pPr>
            <a:r>
              <a:t>3. Thừa nhận trung thực: Báo cáo không tuyên bố 'xóa bỏ hoàn toàn overfitting'. Mọi mô hình có dung lượng lớn đều có xu hướng khớp sâu tập train. Để giảm thêm khoảng chênh 5.8%, giải pháp tối ưu là bổ sung ảnh thực địa đa dạng hơn.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Phân Tích Đường Học (Learning Curve) Của Mô Hình SVM</a:t>
            </a:r>
          </a:p>
          <a:p>
            <a:pPr>
              <a:defRPr sz="1600" i="1" b="1">
                <a:solidFill>
                  <a:srgbClr val="1565C0"/>
                </a:solidFill>
                <a:latin typeface="Arial"/>
              </a:defRPr>
            </a:pPr>
            <a:r>
              <a:t>Mục tiêu môn học: Mục 3.5 &amp; 7: Xu hướng cải thiện hiệu năng khi gia tăng kích thước mẫu huấn luyện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13 / 18</a:t>
            </a:r>
          </a:p>
        </p:txBody>
      </p:sp>
      <p:pic>
        <p:nvPicPr>
          <p:cNvPr id="12" name="Picture 11" descr="08_learning_curve.png"/>
          <p:cNvPicPr>
            <a:picLocks noChangeAspect="1"/>
          </p:cNvPicPr>
          <p:nvPr/>
        </p:nvPicPr>
        <p:blipFill>
          <a:blip r:embed="rId2"/>
          <a:stretch>
            <a:fillRect/>
          </a:stretch>
        </p:blipFill>
        <p:spPr>
          <a:xfrm>
            <a:off x="1016000" y="2150000"/>
            <a:ext cx="9500000" cy="5600000"/>
          </a:xfrm>
          <a:prstGeom prst="rect">
            <a:avLst/>
          </a:prstGeom>
        </p:spPr>
      </p:pic>
      <p:graphicFrame>
        <p:nvGraphicFramePr>
          <p:cNvPr id="13" name="Table 12"/>
          <p:cNvGraphicFramePr>
            <a:graphicFrameLocks noGrp="1"/>
          </p:cNvGraphicFramePr>
          <p:nvPr/>
        </p:nvGraphicFramePr>
        <p:xfrm>
          <a:off x="10900000" y="2150000"/>
          <a:ext cx="9758709" cy="5600000"/>
        </p:xfrm>
        <a:graphic>
          <a:graphicData uri="http://schemas.openxmlformats.org/drawingml/2006/table">
            <a:tbl>
              <a:tblPr firstRow="1" bandRow="1">
                <a:tableStyleId>{5C22544A-7EE6-4342-B048-85BDC9FD1C3A}</a:tableStyleId>
              </a:tblPr>
              <a:tblGrid>
                <a:gridCol w="2558709"/>
                <a:gridCol w="2400000"/>
                <a:gridCol w="2400000"/>
                <a:gridCol w="2400000"/>
              </a:tblGrid>
              <a:tr h="1400000">
                <a:tc>
                  <a:txBody>
                    <a:bodyPr/>
                    <a:lstStyle/>
                    <a:p>
                      <a:pPr algn="ctr">
                        <a:defRPr sz="1400" b="1">
                          <a:solidFill>
                            <a:srgbClr val="FFFFFF"/>
                          </a:solidFill>
                          <a:latin typeface="Arial"/>
                        </a:defRPr>
                      </a:pPr>
                      <a:r>
                        <a:t>KÍCH THƯỚC MẪU TRAIN</a:t>
                      </a:r>
                    </a:p>
                  </a:txBody>
                  <a:tcPr>
                    <a:solidFill>
                      <a:srgbClr val="1565C0"/>
                    </a:solidFill>
                  </a:tcPr>
                </a:tc>
                <a:tc>
                  <a:txBody>
                    <a:bodyPr/>
                    <a:lstStyle/>
                    <a:p>
                      <a:pPr algn="ctr">
                        <a:defRPr sz="1400" b="1">
                          <a:solidFill>
                            <a:srgbClr val="FFFFFF"/>
                          </a:solidFill>
                          <a:latin typeface="Arial"/>
                        </a:defRPr>
                      </a:pPr>
                      <a:r>
                        <a:t>F1 SCORE TRAIN</a:t>
                      </a:r>
                    </a:p>
                  </a:txBody>
                  <a:tcPr>
                    <a:solidFill>
                      <a:srgbClr val="1565C0"/>
                    </a:solidFill>
                  </a:tcPr>
                </a:tc>
                <a:tc>
                  <a:txBody>
                    <a:bodyPr/>
                    <a:lstStyle/>
                    <a:p>
                      <a:pPr algn="ctr">
                        <a:defRPr sz="1400" b="1">
                          <a:solidFill>
                            <a:srgbClr val="FFFFFF"/>
                          </a:solidFill>
                          <a:latin typeface="Arial"/>
                        </a:defRPr>
                      </a:pPr>
                      <a:r>
                        <a:t>F1 SCORE CV VALIDATION</a:t>
                      </a:r>
                    </a:p>
                  </a:txBody>
                  <a:tcPr>
                    <a:solidFill>
                      <a:srgbClr val="1565C0"/>
                    </a:solidFill>
                  </a:tcPr>
                </a:tc>
                <a:tc>
                  <a:txBody>
                    <a:bodyPr/>
                    <a:lstStyle/>
                    <a:p>
                      <a:pPr algn="ctr">
                        <a:defRPr sz="1400" b="1">
                          <a:solidFill>
                            <a:srgbClr val="FFFFFF"/>
                          </a:solidFill>
                          <a:latin typeface="Arial"/>
                        </a:defRPr>
                      </a:pPr>
                      <a:r>
                        <a:t>XU HƯỚNG TỔNG QUÁT HÓA</a:t>
                      </a:r>
                    </a:p>
                  </a:txBody>
                  <a:tcPr>
                    <a:solidFill>
                      <a:srgbClr val="1565C0"/>
                    </a:solidFill>
                  </a:tcPr>
                </a:tc>
              </a:tr>
              <a:tr h="1400000">
                <a:tc>
                  <a:txBody>
                    <a:bodyPr/>
                    <a:lstStyle/>
                    <a:p>
                      <a:pPr>
                        <a:defRPr sz="1400" b="1">
                          <a:solidFill>
                            <a:srgbClr val="0F172A"/>
                          </a:solidFill>
                          <a:latin typeface="Arial"/>
                        </a:defRPr>
                      </a:pPr>
                      <a:r>
                        <a:t>1. ~283 mẫu (35%)</a:t>
                      </a:r>
                    </a:p>
                  </a:txBody>
                  <a:tcPr>
                    <a:solidFill>
                      <a:srgbClr val="FFFFFF"/>
                    </a:solidFill>
                  </a:tcPr>
                </a:tc>
                <a:tc>
                  <a:txBody>
                    <a:bodyPr/>
                    <a:lstStyle/>
                    <a:p>
                      <a:pPr algn="ctr">
                        <a:defRPr sz="1400">
                          <a:solidFill>
                            <a:srgbClr val="0F172A"/>
                          </a:solidFill>
                          <a:latin typeface="Arial"/>
                        </a:defRPr>
                      </a:pPr>
                      <a:r>
                        <a:t>100,00%</a:t>
                      </a:r>
                    </a:p>
                  </a:txBody>
                  <a:tcPr>
                    <a:solidFill>
                      <a:srgbClr val="FFFFFF"/>
                    </a:solidFill>
                  </a:tcPr>
                </a:tc>
                <a:tc>
                  <a:txBody>
                    <a:bodyPr/>
                    <a:lstStyle/>
                    <a:p>
                      <a:pPr algn="ctr">
                        <a:defRPr sz="1400" b="1">
                          <a:solidFill>
                            <a:srgbClr val="2E7D32"/>
                          </a:solidFill>
                          <a:latin typeface="Arial"/>
                        </a:defRPr>
                      </a:pPr>
                      <a:r>
                        <a:t>91,00%</a:t>
                      </a:r>
                    </a:p>
                  </a:txBody>
                  <a:tcPr>
                    <a:solidFill>
                      <a:srgbClr val="FFFFFF"/>
                    </a:solidFill>
                  </a:tcPr>
                </a:tc>
                <a:tc>
                  <a:txBody>
                    <a:bodyPr/>
                    <a:lstStyle/>
                    <a:p>
                      <a:pPr>
                        <a:defRPr sz="1400">
                          <a:solidFill>
                            <a:srgbClr val="0F172A"/>
                          </a:solidFill>
                          <a:latin typeface="Arial"/>
                        </a:defRPr>
                      </a:pPr>
                      <a:r>
                        <a:t>Mô hình mới học quy luật cơ bản</a:t>
                      </a:r>
                    </a:p>
                  </a:txBody>
                  <a:tcPr>
                    <a:solidFill>
                      <a:srgbClr val="FFFFFF"/>
                    </a:solidFill>
                  </a:tcPr>
                </a:tc>
              </a:tr>
              <a:tr h="1400000">
                <a:tc>
                  <a:txBody>
                    <a:bodyPr/>
                    <a:lstStyle/>
                    <a:p>
                      <a:pPr>
                        <a:defRPr sz="1400" b="1">
                          <a:solidFill>
                            <a:srgbClr val="0F172A"/>
                          </a:solidFill>
                          <a:latin typeface="Arial"/>
                        </a:defRPr>
                      </a:pPr>
                      <a:r>
                        <a:t>2. ~525 mẫu (65%)</a:t>
                      </a:r>
                    </a:p>
                  </a:txBody>
                  <a:tcPr>
                    <a:solidFill>
                      <a:srgbClr val="F1F5F9"/>
                    </a:solidFill>
                  </a:tcPr>
                </a:tc>
                <a:tc>
                  <a:txBody>
                    <a:bodyPr/>
                    <a:lstStyle/>
                    <a:p>
                      <a:pPr algn="ctr">
                        <a:defRPr sz="1400">
                          <a:solidFill>
                            <a:srgbClr val="0F172A"/>
                          </a:solidFill>
                          <a:latin typeface="Arial"/>
                        </a:defRPr>
                      </a:pPr>
                      <a:r>
                        <a:t>100,00%</a:t>
                      </a:r>
                    </a:p>
                  </a:txBody>
                  <a:tcPr>
                    <a:solidFill>
                      <a:srgbClr val="F1F5F9"/>
                    </a:solidFill>
                  </a:tcPr>
                </a:tc>
                <a:tc>
                  <a:txBody>
                    <a:bodyPr/>
                    <a:lstStyle/>
                    <a:p>
                      <a:pPr algn="ctr">
                        <a:defRPr sz="1400" b="1">
                          <a:solidFill>
                            <a:srgbClr val="2E7D32"/>
                          </a:solidFill>
                          <a:latin typeface="Arial"/>
                        </a:defRPr>
                      </a:pPr>
                      <a:r>
                        <a:t>92,62% (+1.62%)</a:t>
                      </a:r>
                    </a:p>
                  </a:txBody>
                  <a:tcPr>
                    <a:solidFill>
                      <a:srgbClr val="F1F5F9"/>
                    </a:solidFill>
                  </a:tcPr>
                </a:tc>
                <a:tc>
                  <a:txBody>
                    <a:bodyPr/>
                    <a:lstStyle/>
                    <a:p>
                      <a:pPr>
                        <a:defRPr sz="1400">
                          <a:solidFill>
                            <a:srgbClr val="0F172A"/>
                          </a:solidFill>
                          <a:latin typeface="Arial"/>
                        </a:defRPr>
                      </a:pPr>
                      <a:r>
                        <a:t>Khả năng khái quát hóa tăng rõ rệt</a:t>
                      </a:r>
                    </a:p>
                  </a:txBody>
                  <a:tcPr>
                    <a:solidFill>
                      <a:srgbClr val="F1F5F9"/>
                    </a:solidFill>
                  </a:tcPr>
                </a:tc>
              </a:tr>
              <a:tr h="1400000">
                <a:tc>
                  <a:txBody>
                    <a:bodyPr/>
                    <a:lstStyle/>
                    <a:p>
                      <a:pPr>
                        <a:defRPr sz="1400" b="1">
                          <a:solidFill>
                            <a:srgbClr val="0F172A"/>
                          </a:solidFill>
                          <a:latin typeface="Arial"/>
                        </a:defRPr>
                      </a:pPr>
                      <a:r>
                        <a:t>3. ~809 mẫu (100%)</a:t>
                      </a:r>
                    </a:p>
                  </a:txBody>
                  <a:tcPr>
                    <a:solidFill>
                      <a:srgbClr val="EEF6FF"/>
                    </a:solidFill>
                  </a:tcPr>
                </a:tc>
                <a:tc>
                  <a:txBody>
                    <a:bodyPr/>
                    <a:lstStyle/>
                    <a:p>
                      <a:pPr algn="ctr">
                        <a:defRPr sz="1400">
                          <a:solidFill>
                            <a:srgbClr val="0F172A"/>
                          </a:solidFill>
                          <a:latin typeface="Arial"/>
                        </a:defRPr>
                      </a:pPr>
                      <a:r>
                        <a:t>100,00%</a:t>
                      </a:r>
                    </a:p>
                  </a:txBody>
                  <a:tcPr>
                    <a:solidFill>
                      <a:srgbClr val="EEF6FF"/>
                    </a:solidFill>
                  </a:tcPr>
                </a:tc>
                <a:tc>
                  <a:txBody>
                    <a:bodyPr/>
                    <a:lstStyle/>
                    <a:p>
                      <a:pPr algn="ctr">
                        <a:defRPr sz="1400" b="1">
                          <a:solidFill>
                            <a:srgbClr val="2E7D32"/>
                          </a:solidFill>
                          <a:latin typeface="Arial"/>
                        </a:defRPr>
                      </a:pPr>
                      <a:r>
                        <a:t>93,66% (+1.04%)</a:t>
                      </a:r>
                    </a:p>
                  </a:txBody>
                  <a:tcPr>
                    <a:solidFill>
                      <a:srgbClr val="EEF6FF"/>
                    </a:solidFill>
                  </a:tcPr>
                </a:tc>
                <a:tc>
                  <a:txBody>
                    <a:bodyPr/>
                    <a:lstStyle/>
                    <a:p>
                      <a:pPr>
                        <a:defRPr sz="1400">
                          <a:solidFill>
                            <a:srgbClr val="0F172A"/>
                          </a:solidFill>
                          <a:latin typeface="Arial"/>
                        </a:defRPr>
                      </a:pPr>
                      <a:r>
                        <a:t>Đạt độ hội tụ tối ưu trên tập Train</a:t>
                      </a:r>
                    </a:p>
                  </a:txBody>
                  <a:tcPr>
                    <a:solidFill>
                      <a:srgbClr val="EEF6FF"/>
                    </a:solidFill>
                  </a:tcPr>
                </a:tc>
              </a:tr>
            </a:tbl>
          </a:graphicData>
        </a:graphic>
      </p:graphicFrame>
      <p:sp>
        <p:nvSpPr>
          <p:cNvPr id="14" name="Rounded Rectangle 13"/>
          <p:cNvSpPr/>
          <p:nvPr/>
        </p:nvSpPr>
        <p:spPr>
          <a:xfrm>
            <a:off x="1016000" y="7950000"/>
            <a:ext cx="19642709" cy="32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0000" y="8050000"/>
            <a:ext cx="19200000" cy="3000000"/>
          </a:xfrm>
          <a:prstGeom prst="rect">
            <a:avLst/>
          </a:prstGeom>
          <a:noFill/>
        </p:spPr>
        <p:txBody>
          <a:bodyPr wrap="square">
            <a:spAutoFit/>
          </a:bodyPr>
          <a:lstStyle/>
          <a:p>
            <a:pPr>
              <a:defRPr sz="1700" b="1">
                <a:solidFill>
                  <a:srgbClr val="1565C0"/>
                </a:solidFill>
                <a:latin typeface="Arial"/>
              </a:defRPr>
            </a:pPr>
            <a:r>
              <a:t>Ý NGHĨA KHOA HỌC RÚT RA TỪ ĐƯỜNG HỌC (LEARNING CURVE):</a:t>
            </a:r>
          </a:p>
          <a:p>
            <a:pPr>
              <a:defRPr sz="1400">
                <a:solidFill>
                  <a:srgbClr val="0F172A"/>
                </a:solidFill>
                <a:latin typeface="Arial"/>
              </a:defRPr>
            </a:pPr>
            <a:r>
              <a:t>• Đường kiểm tra chéo (CV Score) liên tục đi lên: F1 CV tăng trưởng đều đặn từ 91.00% lên 92.62% rồi chạm 93.66% khi bổ sung số lượng ảnh học trong fold. Điều này khẳng định SVM học thực sự các đặc trưng bản chất của ảnh chứ không chỉ ghi nhớ ngẫu nhiên.</a:t>
            </a:r>
          </a:p>
          <a:p>
            <a:pPr>
              <a:defRPr sz="1400">
                <a:solidFill>
                  <a:srgbClr val="0F172A"/>
                </a:solidFill>
                <a:latin typeface="Arial"/>
              </a:defRPr>
            </a:pPr>
            <a:r>
              <a:t>• Mô hình chưa chạm ngưỡng bão hòa dữ liệu: Độ dốc của đường validation vẫn có xu hướng hướng lên. Kết quả này gợi ý rằng nếu tiếp tục bổ sung thêm 1.000 - 2.000 ảnh phong cảnh rừng mới vào tập huấn luyện, F1 của SVM có thể tiếp tục tăng lên mức 96% - 97%.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Phân Tích Lỗi Thực Tế (Error Analysis: FN &amp; FP)</a:t>
            </a:r>
          </a:p>
          <a:p>
            <a:pPr>
              <a:defRPr sz="1600" i="1" b="1">
                <a:solidFill>
                  <a:srgbClr val="1565C0"/>
                </a:solidFill>
                <a:latin typeface="Arial"/>
              </a:defRPr>
            </a:pPr>
            <a:r>
              <a:t>Mục tiêu môn học: Mục 3.5: Ảnh mờ hay rõ? Thuộc tính độ sáng &amp; nguyên nhân nhầm lẫn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14 / 18</a:t>
            </a:r>
          </a:p>
        </p:txBody>
      </p:sp>
      <p:pic>
        <p:nvPicPr>
          <p:cNvPr id="12" name="Picture 11" descr="09_errors.png"/>
          <p:cNvPicPr>
            <a:picLocks noChangeAspect="1"/>
          </p:cNvPicPr>
          <p:nvPr/>
        </p:nvPicPr>
        <p:blipFill>
          <a:blip r:embed="rId2"/>
          <a:stretch>
            <a:fillRect/>
          </a:stretch>
        </p:blipFill>
        <p:spPr>
          <a:xfrm>
            <a:off x="1016000" y="2150000"/>
            <a:ext cx="9500000" cy="5600000"/>
          </a:xfrm>
          <a:prstGeom prst="rect">
            <a:avLst/>
          </a:prstGeom>
        </p:spPr>
      </p:pic>
      <p:graphicFrame>
        <p:nvGraphicFramePr>
          <p:cNvPr id="13" name="Table 12"/>
          <p:cNvGraphicFramePr>
            <a:graphicFrameLocks noGrp="1"/>
          </p:cNvGraphicFramePr>
          <p:nvPr/>
        </p:nvGraphicFramePr>
        <p:xfrm>
          <a:off x="10900000" y="2150000"/>
          <a:ext cx="9758709" cy="5600000"/>
        </p:xfrm>
        <a:graphic>
          <a:graphicData uri="http://schemas.openxmlformats.org/drawingml/2006/table">
            <a:tbl>
              <a:tblPr firstRow="1" bandRow="1">
                <a:tableStyleId>{5C22544A-7EE6-4342-B048-85BDC9FD1C3A}</a:tableStyleId>
              </a:tblPr>
              <a:tblGrid>
                <a:gridCol w="2558709"/>
                <a:gridCol w="2400000"/>
                <a:gridCol w="2400000"/>
                <a:gridCol w="2400000"/>
              </a:tblGrid>
              <a:tr h="1400000">
                <a:tc>
                  <a:txBody>
                    <a:bodyPr/>
                    <a:lstStyle/>
                    <a:p>
                      <a:pPr algn="ctr">
                        <a:defRPr sz="1300" b="1">
                          <a:solidFill>
                            <a:srgbClr val="FFFFFF"/>
                          </a:solidFill>
                          <a:latin typeface="Arial"/>
                        </a:defRPr>
                      </a:pPr>
                      <a:r>
                        <a:t>NHÓM DỰ ĐOÁN (SVM)</a:t>
                      </a:r>
                    </a:p>
                  </a:txBody>
                  <a:tcPr>
                    <a:solidFill>
                      <a:srgbClr val="1565C0"/>
                    </a:solidFill>
                  </a:tcPr>
                </a:tc>
                <a:tc>
                  <a:txBody>
                    <a:bodyPr/>
                    <a:lstStyle/>
                    <a:p>
                      <a:pPr algn="ctr">
                        <a:defRPr sz="1300" b="1">
                          <a:solidFill>
                            <a:srgbClr val="FFFFFF"/>
                          </a:solidFill>
                          <a:latin typeface="Arial"/>
                        </a:defRPr>
                      </a:pPr>
                      <a:r>
                        <a:t>SỐ LƯỢNG ẢNH</a:t>
                      </a:r>
                    </a:p>
                  </a:txBody>
                  <a:tcPr>
                    <a:solidFill>
                      <a:srgbClr val="1565C0"/>
                    </a:solidFill>
                  </a:tcPr>
                </a:tc>
                <a:tc>
                  <a:txBody>
                    <a:bodyPr/>
                    <a:lstStyle/>
                    <a:p>
                      <a:pPr algn="ctr">
                        <a:defRPr sz="1300" b="1">
                          <a:solidFill>
                            <a:srgbClr val="FFFFFF"/>
                          </a:solidFill>
                          <a:latin typeface="Arial"/>
                        </a:defRPr>
                      </a:pPr>
                      <a:r>
                        <a:t>ĐỘ SÁNG TRUNG BÌNH</a:t>
                      </a:r>
                    </a:p>
                  </a:txBody>
                  <a:tcPr>
                    <a:solidFill>
                      <a:srgbClr val="1565C0"/>
                    </a:solidFill>
                  </a:tcPr>
                </a:tc>
                <a:tc>
                  <a:txBody>
                    <a:bodyPr/>
                    <a:lstStyle/>
                    <a:p>
                      <a:pPr algn="ctr">
                        <a:defRPr sz="1300" b="1">
                          <a:solidFill>
                            <a:srgbClr val="FFFFFF"/>
                          </a:solidFill>
                          <a:latin typeface="Arial"/>
                        </a:defRPr>
                      </a:pPr>
                      <a:r>
                        <a:t>ĐỘ SẮC NÉT (LAPLACIAN)</a:t>
                      </a:r>
                    </a:p>
                  </a:txBody>
                  <a:tcPr>
                    <a:solidFill>
                      <a:srgbClr val="1565C0"/>
                    </a:solidFill>
                  </a:tcPr>
                </a:tc>
              </a:tr>
              <a:tr h="1400000">
                <a:tc>
                  <a:txBody>
                    <a:bodyPr/>
                    <a:lstStyle/>
                    <a:p>
                      <a:pPr>
                        <a:defRPr sz="1300" b="1">
                          <a:solidFill>
                            <a:srgbClr val="0F172A"/>
                          </a:solidFill>
                          <a:latin typeface="Arial"/>
                        </a:defRPr>
                      </a:pPr>
                      <a:r>
                        <a:t>Dự đoán Đúng</a:t>
                      </a:r>
                    </a:p>
                  </a:txBody>
                  <a:tcPr>
                    <a:solidFill>
                      <a:srgbClr val="FFFFFF"/>
                    </a:solidFill>
                  </a:tcPr>
                </a:tc>
                <a:tc>
                  <a:txBody>
                    <a:bodyPr/>
                    <a:lstStyle/>
                    <a:p>
                      <a:pPr algn="ctr">
                        <a:defRPr sz="1300">
                          <a:solidFill>
                            <a:srgbClr val="0F172A"/>
                          </a:solidFill>
                          <a:latin typeface="Arial"/>
                        </a:defRPr>
                      </a:pPr>
                      <a:r>
                        <a:t>357 ảnh (93.95%)</a:t>
                      </a:r>
                    </a:p>
                  </a:txBody>
                  <a:tcPr>
                    <a:solidFill>
                      <a:srgbClr val="FFFFFF"/>
                    </a:solidFill>
                  </a:tcPr>
                </a:tc>
                <a:tc>
                  <a:txBody>
                    <a:bodyPr/>
                    <a:lstStyle/>
                    <a:p>
                      <a:pPr algn="ctr">
                        <a:defRPr sz="1300">
                          <a:solidFill>
                            <a:srgbClr val="0F172A"/>
                          </a:solidFill>
                          <a:latin typeface="Arial"/>
                        </a:defRPr>
                      </a:pPr>
                      <a:r>
                        <a:t>0,371</a:t>
                      </a:r>
                    </a:p>
                  </a:txBody>
                  <a:tcPr>
                    <a:solidFill>
                      <a:srgbClr val="FFFFFF"/>
                    </a:solidFill>
                  </a:tcPr>
                </a:tc>
                <a:tc>
                  <a:txBody>
                    <a:bodyPr/>
                    <a:lstStyle/>
                    <a:p>
                      <a:pPr algn="ctr">
                        <a:defRPr sz="1300">
                          <a:solidFill>
                            <a:srgbClr val="0F172A"/>
                          </a:solidFill>
                          <a:latin typeface="Arial"/>
                        </a:defRPr>
                      </a:pPr>
                      <a:r>
                        <a:t>1.686,2 (Rõ nét)</a:t>
                      </a:r>
                    </a:p>
                  </a:txBody>
                  <a:tcPr>
                    <a:solidFill>
                      <a:srgbClr val="FFFFFF"/>
                    </a:solidFill>
                  </a:tcPr>
                </a:tc>
              </a:tr>
              <a:tr h="1400000">
                <a:tc>
                  <a:txBody>
                    <a:bodyPr/>
                    <a:lstStyle/>
                    <a:p>
                      <a:pPr>
                        <a:defRPr sz="1300" b="1">
                          <a:solidFill>
                            <a:srgbClr val="0F172A"/>
                          </a:solidFill>
                          <a:latin typeface="Arial"/>
                        </a:defRPr>
                      </a:pPr>
                      <a:r>
                        <a:t>Bỏ sót (False Negative)</a:t>
                      </a:r>
                    </a:p>
                  </a:txBody>
                  <a:tcPr>
                    <a:solidFill>
                      <a:srgbClr val="F1F5F9"/>
                    </a:solidFill>
                  </a:tcPr>
                </a:tc>
                <a:tc>
                  <a:txBody>
                    <a:bodyPr/>
                    <a:lstStyle/>
                    <a:p>
                      <a:pPr algn="ctr">
                        <a:defRPr sz="1300">
                          <a:solidFill>
                            <a:srgbClr val="0F172A"/>
                          </a:solidFill>
                          <a:latin typeface="Arial"/>
                        </a:defRPr>
                      </a:pPr>
                      <a:r>
                        <a:t>9 ảnh (4.74%)</a:t>
                      </a:r>
                    </a:p>
                  </a:txBody>
                  <a:tcPr>
                    <a:solidFill>
                      <a:srgbClr val="F1F5F9"/>
                    </a:solidFill>
                  </a:tcPr>
                </a:tc>
                <a:tc>
                  <a:txBody>
                    <a:bodyPr/>
                    <a:lstStyle/>
                    <a:p>
                      <a:pPr algn="ctr">
                        <a:defRPr sz="1300">
                          <a:solidFill>
                            <a:srgbClr val="0F172A"/>
                          </a:solidFill>
                          <a:latin typeface="Arial"/>
                        </a:defRPr>
                      </a:pPr>
                      <a:r>
                        <a:t>0,322 (Tối hơn)</a:t>
                      </a:r>
                    </a:p>
                  </a:txBody>
                  <a:tcPr>
                    <a:solidFill>
                      <a:srgbClr val="F1F5F9"/>
                    </a:solidFill>
                  </a:tcPr>
                </a:tc>
                <a:tc>
                  <a:txBody>
                    <a:bodyPr/>
                    <a:lstStyle/>
                    <a:p>
                      <a:pPr algn="ctr">
                        <a:defRPr sz="1300" b="1">
                          <a:solidFill>
                            <a:srgbClr val="C62828"/>
                          </a:solidFill>
                          <a:latin typeface="Arial"/>
                        </a:defRPr>
                      </a:pPr>
                      <a:r>
                        <a:t>559,2 (MỜ HƠN RÕ RỆT)</a:t>
                      </a:r>
                    </a:p>
                  </a:txBody>
                  <a:tcPr>
                    <a:solidFill>
                      <a:srgbClr val="F1F5F9"/>
                    </a:solidFill>
                  </a:tcPr>
                </a:tc>
              </a:tr>
              <a:tr h="1400000">
                <a:tc>
                  <a:txBody>
                    <a:bodyPr/>
                    <a:lstStyle/>
                    <a:p>
                      <a:pPr>
                        <a:defRPr sz="1300" b="1">
                          <a:solidFill>
                            <a:srgbClr val="0F172A"/>
                          </a:solidFill>
                          <a:latin typeface="Arial"/>
                        </a:defRPr>
                      </a:pPr>
                      <a:r>
                        <a:t>Báo nhầm (False Positive)</a:t>
                      </a:r>
                    </a:p>
                  </a:txBody>
                  <a:tcPr>
                    <a:solidFill>
                      <a:srgbClr val="FFFFFF"/>
                    </a:solidFill>
                  </a:tcPr>
                </a:tc>
                <a:tc>
                  <a:txBody>
                    <a:bodyPr/>
                    <a:lstStyle/>
                    <a:p>
                      <a:pPr algn="ctr">
                        <a:defRPr sz="1300">
                          <a:solidFill>
                            <a:srgbClr val="0F172A"/>
                          </a:solidFill>
                          <a:latin typeface="Arial"/>
                        </a:defRPr>
                      </a:pPr>
                      <a:r>
                        <a:t>14 ảnh (7.37%)</a:t>
                      </a:r>
                    </a:p>
                  </a:txBody>
                  <a:tcPr>
                    <a:solidFill>
                      <a:srgbClr val="FFFFFF"/>
                    </a:solidFill>
                  </a:tcPr>
                </a:tc>
                <a:tc>
                  <a:txBody>
                    <a:bodyPr/>
                    <a:lstStyle/>
                    <a:p>
                      <a:pPr algn="ctr">
                        <a:defRPr sz="1300">
                          <a:solidFill>
                            <a:srgbClr val="0F172A"/>
                          </a:solidFill>
                          <a:latin typeface="Arial"/>
                        </a:defRPr>
                      </a:pPr>
                      <a:r>
                        <a:t>0,376</a:t>
                      </a:r>
                    </a:p>
                  </a:txBody>
                  <a:tcPr>
                    <a:solidFill>
                      <a:srgbClr val="FFFFFF"/>
                    </a:solidFill>
                  </a:tcPr>
                </a:tc>
                <a:tc>
                  <a:txBody>
                    <a:bodyPr/>
                    <a:lstStyle/>
                    <a:p>
                      <a:pPr algn="ctr">
                        <a:defRPr sz="1300">
                          <a:solidFill>
                            <a:srgbClr val="0F172A"/>
                          </a:solidFill>
                          <a:latin typeface="Arial"/>
                        </a:defRPr>
                      </a:pPr>
                      <a:r>
                        <a:t>1.573,2 (Sắc nét)</a:t>
                      </a:r>
                    </a:p>
                  </a:txBody>
                  <a:tcPr>
                    <a:solidFill>
                      <a:srgbClr val="FFFFFF"/>
                    </a:solidFill>
                  </a:tcPr>
                </a:tc>
              </a:tr>
            </a:tbl>
          </a:graphicData>
        </a:graphic>
      </p:graphicFrame>
      <p:sp>
        <p:nvSpPr>
          <p:cNvPr id="14" name="Rounded Rectangle 13"/>
          <p:cNvSpPr/>
          <p:nvPr/>
        </p:nvSpPr>
        <p:spPr>
          <a:xfrm>
            <a:off x="1016000" y="7950000"/>
            <a:ext cx="19642709" cy="32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0000" y="8050000"/>
            <a:ext cx="19200000" cy="3000000"/>
          </a:xfrm>
          <a:prstGeom prst="rect">
            <a:avLst/>
          </a:prstGeom>
          <a:noFill/>
        </p:spPr>
        <p:txBody>
          <a:bodyPr wrap="square">
            <a:spAutoFit/>
          </a:bodyPr>
          <a:lstStyle/>
          <a:p>
            <a:pPr>
              <a:defRPr sz="1700" b="1">
                <a:solidFill>
                  <a:srgbClr val="1565C0"/>
                </a:solidFill>
                <a:latin typeface="Arial"/>
              </a:defRPr>
            </a:pPr>
            <a:r>
              <a:t>TRẢ LỜI CÂU HỎI MỤC 3.5: ẢNH MỜ HAY RÕ? NGUYÊN NHÂN GÂY NHẦM LẪN?</a:t>
            </a:r>
          </a:p>
          <a:p>
            <a:pPr>
              <a:defRPr sz="1400">
                <a:solidFill>
                  <a:srgbClr val="0F172A"/>
                </a:solidFill>
                <a:latin typeface="Arial"/>
              </a:defRPr>
            </a:pPr>
            <a:r>
              <a:t>• Bằng chứng số liệu về độ mờ: Nhóm ảnh bị BỎ SÓT (FN) có độ sắc nét Laplacian trung bình chỉ 559.2, thấp hơn gấp 3 LẦN so với nhóm ảnh dự đoán đúng (1.686.2). Điều này chứng minh trực tiếp câu hỏi của Thầy: Ảnh mờ và mất chi tiết viền (do khói dày che khuất hoặc lửa ở quá xa trong bóng tối) là nguyên nhân hàng đầu khiến bộ trích xuất HOG bị vô hiệu hóa.</a:t>
            </a:r>
          </a:p>
          <a:p>
            <a:pPr>
              <a:defRPr sz="1400">
                <a:solidFill>
                  <a:srgbClr val="0F172A"/>
                </a:solidFill>
                <a:latin typeface="Arial"/>
              </a:defRPr>
            </a:pPr>
            <a:r>
              <a:t>• Nguyên nhân Báo nhầm (FP = 14 ảnh): Xuất hiện các cảnh rừng có mây mù sương trắng dày trên ngọn cây (nofire_0400) tạo kết cấu giống khói lửa, hoặc tán cây đổi màu vàng cam mùa thu (nofire_0422) kích hoạt nhầm histogram màu Hue ấm.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Tổng Kết Trả Lời Toàn Diện 8 Câu Hỏi Đề Cương Của Thầy</a:t>
            </a:r>
          </a:p>
          <a:p>
            <a:pPr>
              <a:defRPr sz="1600" i="1" b="1">
                <a:solidFill>
                  <a:srgbClr val="1565C0"/>
                </a:solidFill>
                <a:latin typeface="Arial"/>
              </a:defRPr>
            </a:pPr>
            <a:r>
              <a:t>Mục tiêu môn học: Mục 3.5: Trả lời đẩy đủ 8 câu hỏi bắt buộc trong đề tài đồ án</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15 / 18</a:t>
            </a:r>
          </a:p>
        </p:txBody>
      </p:sp>
      <p:sp>
        <p:nvSpPr>
          <p:cNvPr id="12" name="Rounded Rectangle 11"/>
          <p:cNvSpPr/>
          <p:nvPr/>
        </p:nvSpPr>
        <p:spPr>
          <a:xfrm>
            <a:off x="1016000" y="215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6000" y="2250000"/>
            <a:ext cx="9300000" cy="1900000"/>
          </a:xfrm>
          <a:prstGeom prst="rect">
            <a:avLst/>
          </a:prstGeom>
          <a:noFill/>
        </p:spPr>
        <p:txBody>
          <a:bodyPr wrap="square">
            <a:spAutoFit/>
          </a:bodyPr>
          <a:lstStyle/>
          <a:p>
            <a:pPr>
              <a:defRPr sz="1500" b="1">
                <a:solidFill>
                  <a:srgbClr val="1565C0"/>
                </a:solidFill>
                <a:latin typeface="Arial"/>
              </a:defRPr>
            </a:pPr>
            <a:r>
              <a:t>1. Model nào tốt nhất?</a:t>
            </a:r>
          </a:p>
          <a:p>
            <a:pPr>
              <a:defRPr sz="1300">
                <a:solidFill>
                  <a:srgbClr val="0F172A"/>
                </a:solidFill>
                <a:latin typeface="Arial"/>
              </a:defRPr>
            </a:pPr>
            <a:r>
              <a:t>👉 SVM (Kernel RBF, C=10) đạt điểm cao nhất trên cả Validation (F1 94.19%) và Test (F1 94.03%, Accuracy 93.95%).</a:t>
            </a:r>
          </a:p>
        </p:txBody>
      </p:sp>
      <p:sp>
        <p:nvSpPr>
          <p:cNvPr id="14" name="Rounded Rectangle 13"/>
          <p:cNvSpPr/>
          <p:nvPr/>
        </p:nvSpPr>
        <p:spPr>
          <a:xfrm>
            <a:off x="10916000" y="215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066000" y="2250000"/>
            <a:ext cx="9300000" cy="1900000"/>
          </a:xfrm>
          <a:prstGeom prst="rect">
            <a:avLst/>
          </a:prstGeom>
          <a:noFill/>
        </p:spPr>
        <p:txBody>
          <a:bodyPr wrap="square">
            <a:spAutoFit/>
          </a:bodyPr>
          <a:lstStyle/>
          <a:p>
            <a:pPr>
              <a:defRPr sz="1500" b="1">
                <a:solidFill>
                  <a:srgbClr val="1565C0"/>
                </a:solidFill>
                <a:latin typeface="Arial"/>
              </a:defRPr>
            </a:pPr>
            <a:r>
              <a:t>2. Chênh lệch nhau bao nhiêu?</a:t>
            </a:r>
          </a:p>
          <a:p>
            <a:pPr>
              <a:defRPr sz="1300">
                <a:solidFill>
                  <a:srgbClr val="0F172A"/>
                </a:solidFill>
                <a:latin typeface="Arial"/>
              </a:defRPr>
            </a:pPr>
            <a:r>
              <a:t>👉 SVM vượt trội hơn Logistic Regression +1.36%, vượt Random Forest +6.56% và bỏ xa KNN tới +26.47% F1 Test.</a:t>
            </a:r>
          </a:p>
        </p:txBody>
      </p:sp>
      <p:sp>
        <p:nvSpPr>
          <p:cNvPr id="16" name="Rounded Rectangle 15"/>
          <p:cNvSpPr/>
          <p:nvPr/>
        </p:nvSpPr>
        <p:spPr>
          <a:xfrm>
            <a:off x="1016000" y="440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6000" y="4500000"/>
            <a:ext cx="9300000" cy="1900000"/>
          </a:xfrm>
          <a:prstGeom prst="rect">
            <a:avLst/>
          </a:prstGeom>
          <a:noFill/>
        </p:spPr>
        <p:txBody>
          <a:bodyPr wrap="square">
            <a:spAutoFit/>
          </a:bodyPr>
          <a:lstStyle/>
          <a:p>
            <a:pPr>
              <a:defRPr sz="1500" b="1">
                <a:solidFill>
                  <a:srgbClr val="1565C0"/>
                </a:solidFill>
                <a:latin typeface="Arial"/>
              </a:defRPr>
            </a:pPr>
            <a:r>
              <a:t>3. Phân tích các metrics?</a:t>
            </a:r>
          </a:p>
          <a:p>
            <a:pPr>
              <a:defRPr sz="1300">
                <a:solidFill>
                  <a:srgbClr val="0F172A"/>
                </a:solidFill>
                <a:latin typeface="Arial"/>
              </a:defRPr>
            </a:pPr>
            <a:r>
              <a:t>👉 SVM cân bằng lý tưởng: Recall 95.26% (ưu tiên hàng đầu để hạn chế sót cháy), Precision 92.82%, F1 94.03%.</a:t>
            </a:r>
          </a:p>
        </p:txBody>
      </p:sp>
      <p:sp>
        <p:nvSpPr>
          <p:cNvPr id="18" name="Rounded Rectangle 17"/>
          <p:cNvSpPr/>
          <p:nvPr/>
        </p:nvSpPr>
        <p:spPr>
          <a:xfrm>
            <a:off x="10916000" y="440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6000" y="4500000"/>
            <a:ext cx="9300000" cy="1900000"/>
          </a:xfrm>
          <a:prstGeom prst="rect">
            <a:avLst/>
          </a:prstGeom>
          <a:noFill/>
        </p:spPr>
        <p:txBody>
          <a:bodyPr wrap="square">
            <a:spAutoFit/>
          </a:bodyPr>
          <a:lstStyle/>
          <a:p>
            <a:pPr>
              <a:defRPr sz="1500" b="1">
                <a:solidFill>
                  <a:srgbClr val="1565C0"/>
                </a:solidFill>
                <a:latin typeface="Arial"/>
              </a:defRPr>
            </a:pPr>
            <a:r>
              <a:t>4. Model hay nhầm class nào?</a:t>
            </a:r>
          </a:p>
          <a:p>
            <a:pPr>
              <a:defRPr sz="1300">
                <a:solidFill>
                  <a:srgbClr val="0F172A"/>
                </a:solidFill>
                <a:latin typeface="Arial"/>
              </a:defRPr>
            </a:pPr>
            <a:r>
              <a:t>👉 KNN hay nhầm lớp Cháy thành Không cháy (bỏ sót 89 ảnh). SVM nhầm rất ít: chỉ 14 ảnh FP và 9 ảnh FN.</a:t>
            </a:r>
          </a:p>
        </p:txBody>
      </p:sp>
      <p:sp>
        <p:nvSpPr>
          <p:cNvPr id="20" name="Rounded Rectangle 19"/>
          <p:cNvSpPr/>
          <p:nvPr/>
        </p:nvSpPr>
        <p:spPr>
          <a:xfrm>
            <a:off x="1016000" y="665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66000" y="6750000"/>
            <a:ext cx="9300000" cy="1900000"/>
          </a:xfrm>
          <a:prstGeom prst="rect">
            <a:avLst/>
          </a:prstGeom>
          <a:noFill/>
        </p:spPr>
        <p:txBody>
          <a:bodyPr wrap="square">
            <a:spAutoFit/>
          </a:bodyPr>
          <a:lstStyle/>
          <a:p>
            <a:pPr>
              <a:defRPr sz="1500" b="1">
                <a:solidFill>
                  <a:srgbClr val="1565C0"/>
                </a:solidFill>
                <a:latin typeface="Arial"/>
              </a:defRPr>
            </a:pPr>
            <a:r>
              <a:t>5. Ảnh mờ hay rõ ảnh hưởng thế nào?</a:t>
            </a:r>
          </a:p>
          <a:p>
            <a:pPr>
              <a:defRPr sz="1300">
                <a:solidFill>
                  <a:srgbClr val="0F172A"/>
                </a:solidFill>
                <a:latin typeface="Arial"/>
              </a:defRPr>
            </a:pPr>
            <a:r>
              <a:t>👉 Ảnh bị bỏ sót (FN) có độ sắc nét trung bình chỉ 559 (mờ hơn gấp 3 lần so với 1.686 của ảnh đúng). Ảnh mờ làm hỏng HOG.</a:t>
            </a:r>
          </a:p>
        </p:txBody>
      </p:sp>
      <p:sp>
        <p:nvSpPr>
          <p:cNvPr id="22" name="Rounded Rectangle 21"/>
          <p:cNvSpPr/>
          <p:nvPr/>
        </p:nvSpPr>
        <p:spPr>
          <a:xfrm>
            <a:off x="10916000" y="665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066000" y="6750000"/>
            <a:ext cx="9300000" cy="1900000"/>
          </a:xfrm>
          <a:prstGeom prst="rect">
            <a:avLst/>
          </a:prstGeom>
          <a:noFill/>
        </p:spPr>
        <p:txBody>
          <a:bodyPr wrap="square">
            <a:spAutoFit/>
          </a:bodyPr>
          <a:lstStyle/>
          <a:p>
            <a:pPr>
              <a:defRPr sz="1500" b="1">
                <a:solidFill>
                  <a:srgbClr val="1565C0"/>
                </a:solidFill>
                <a:latin typeface="Arial"/>
              </a:defRPr>
            </a:pPr>
            <a:r>
              <a:t>6. Train vs Val có Overfit không?</a:t>
            </a:r>
          </a:p>
          <a:p>
            <a:pPr>
              <a:defRPr sz="1300">
                <a:solidFill>
                  <a:srgbClr val="0F172A"/>
                </a:solidFill>
                <a:latin typeface="Arial"/>
              </a:defRPr>
            </a:pPr>
            <a:r>
              <a:t>👉 Có overfit nhẹ ở SVM (chênh 5.81%) và LR (6.58%); Overfit nặng ở Random Forest (chênh 13.55%). SVM kiểm soát tốt nhất.</a:t>
            </a:r>
          </a:p>
        </p:txBody>
      </p:sp>
      <p:sp>
        <p:nvSpPr>
          <p:cNvPr id="24" name="Rounded Rectangle 23"/>
          <p:cNvSpPr/>
          <p:nvPr/>
        </p:nvSpPr>
        <p:spPr>
          <a:xfrm>
            <a:off x="1016000" y="890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6000" y="9000000"/>
            <a:ext cx="9300000" cy="1900000"/>
          </a:xfrm>
          <a:prstGeom prst="rect">
            <a:avLst/>
          </a:prstGeom>
          <a:noFill/>
        </p:spPr>
        <p:txBody>
          <a:bodyPr wrap="square">
            <a:spAutoFit/>
          </a:bodyPr>
          <a:lstStyle/>
          <a:p>
            <a:pPr>
              <a:defRPr sz="1500" b="1">
                <a:solidFill>
                  <a:srgbClr val="1565C0"/>
                </a:solidFill>
                <a:latin typeface="Arial"/>
              </a:defRPr>
            </a:pPr>
            <a:r>
              <a:t>7. Model nào phù hợp với dữ liệu?</a:t>
            </a:r>
          </a:p>
          <a:p>
            <a:pPr>
              <a:defRPr sz="1300">
                <a:solidFill>
                  <a:srgbClr val="0F172A"/>
                </a:solidFill>
                <a:latin typeface="Arial"/>
              </a:defRPr>
            </a:pPr>
            <a:r>
              <a:t>👉 SVM RBF phù hợp nhất nhờ năng lực ánh xạ phi tuyến trên không gian kết hợp màu sắc HSV + kết cấu viền HOG.</a:t>
            </a:r>
          </a:p>
        </p:txBody>
      </p:sp>
      <p:sp>
        <p:nvSpPr>
          <p:cNvPr id="26" name="Rounded Rectangle 25"/>
          <p:cNvSpPr/>
          <p:nvPr/>
        </p:nvSpPr>
        <p:spPr>
          <a:xfrm>
            <a:off x="10916000" y="8900000"/>
            <a:ext cx="9600000" cy="2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066000" y="9000000"/>
            <a:ext cx="9300000" cy="1900000"/>
          </a:xfrm>
          <a:prstGeom prst="rect">
            <a:avLst/>
          </a:prstGeom>
          <a:noFill/>
        </p:spPr>
        <p:txBody>
          <a:bodyPr wrap="square">
            <a:spAutoFit/>
          </a:bodyPr>
          <a:lstStyle/>
          <a:p>
            <a:pPr>
              <a:defRPr sz="1500" b="1">
                <a:solidFill>
                  <a:srgbClr val="1565C0"/>
                </a:solidFill>
                <a:latin typeface="Arial"/>
              </a:defRPr>
            </a:pPr>
            <a:r>
              <a:t>8. Điều gì ảnh hưởng đến kết quả?</a:t>
            </a:r>
          </a:p>
          <a:p>
            <a:pPr>
              <a:defRPr sz="1300">
                <a:solidFill>
                  <a:srgbClr val="0F172A"/>
                </a:solidFill>
                <a:latin typeface="Arial"/>
              </a:defRPr>
            </a:pPr>
            <a:r>
              <a:t>👉 Chất lượng trích đặc trưng, kích thước resize 96x96, việc áp dụng PCA lên Random Forest, và điều kiện thời tiết (sương, lá vàng).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Kết Luận &amp; Bảng Đối Chiếu Yêu Cầu Đề Cương</a:t>
            </a:r>
          </a:p>
          <a:p>
            <a:pPr>
              <a:defRPr sz="1600" i="1" b="1">
                <a:solidFill>
                  <a:srgbClr val="1565C0"/>
                </a:solidFill>
                <a:latin typeface="Arial"/>
              </a:defRPr>
            </a:pPr>
            <a:r>
              <a:t>Mục tiêu môn học: Mục 8: Hoàn thành 100% các tiêu chí đánh giá môn học của Thầy</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16 / 18</a:t>
            </a:r>
          </a:p>
        </p:txBody>
      </p:sp>
      <p:graphicFrame>
        <p:nvGraphicFramePr>
          <p:cNvPr id="12" name="Table 11"/>
          <p:cNvGraphicFramePr>
            <a:graphicFrameLocks noGrp="1"/>
          </p:cNvGraphicFramePr>
          <p:nvPr/>
        </p:nvGraphicFramePr>
        <p:xfrm>
          <a:off x="1016000" y="2150000"/>
          <a:ext cx="19642709" cy="5200000"/>
        </p:xfrm>
        <a:graphic>
          <a:graphicData uri="http://schemas.openxmlformats.org/drawingml/2006/table">
            <a:tbl>
              <a:tblPr firstRow="1" bandRow="1">
                <a:tableStyleId>{5C22544A-7EE6-4342-B048-85BDC9FD1C3A}</a:tableStyleId>
              </a:tblPr>
              <a:tblGrid>
                <a:gridCol w="3000000"/>
                <a:gridCol w="6500000"/>
                <a:gridCol w="5000000"/>
                <a:gridCol w="5142709"/>
              </a:tblGrid>
              <a:tr h="866666">
                <a:tc>
                  <a:txBody>
                    <a:bodyPr/>
                    <a:lstStyle/>
                    <a:p>
                      <a:pPr algn="ctr">
                        <a:defRPr sz="1500" b="1">
                          <a:solidFill>
                            <a:srgbClr val="FFFFFF"/>
                          </a:solidFill>
                          <a:latin typeface="Arial"/>
                        </a:defRPr>
                      </a:pPr>
                      <a:r>
                        <a:t>MỤC YÊU CẦU</a:t>
                      </a:r>
                    </a:p>
                  </a:txBody>
                  <a:tcPr>
                    <a:solidFill>
                      <a:srgbClr val="1565C0"/>
                    </a:solidFill>
                  </a:tcPr>
                </a:tc>
                <a:tc>
                  <a:txBody>
                    <a:bodyPr/>
                    <a:lstStyle/>
                    <a:p>
                      <a:pPr algn="ctr">
                        <a:defRPr sz="1500" b="1">
                          <a:solidFill>
                            <a:srgbClr val="FFFFFF"/>
                          </a:solidFill>
                          <a:latin typeface="Arial"/>
                        </a:defRPr>
                      </a:pPr>
                      <a:r>
                        <a:t>NỘI DUNG THỰC HIỆN TRONG ĐỒ ÁN</a:t>
                      </a:r>
                    </a:p>
                  </a:txBody>
                  <a:tcPr>
                    <a:solidFill>
                      <a:srgbClr val="1565C0"/>
                    </a:solidFill>
                  </a:tcPr>
                </a:tc>
                <a:tc>
                  <a:txBody>
                    <a:bodyPr/>
                    <a:lstStyle/>
                    <a:p>
                      <a:pPr algn="ctr">
                        <a:defRPr sz="1500" b="1">
                          <a:solidFill>
                            <a:srgbClr val="FFFFFF"/>
                          </a:solidFill>
                          <a:latin typeface="Arial"/>
                        </a:defRPr>
                      </a:pPr>
                      <a:r>
                        <a:t>VỊ TRÍ BÁO CÁO &amp; SLIDE</a:t>
                      </a:r>
                    </a:p>
                  </a:txBody>
                  <a:tcPr>
                    <a:solidFill>
                      <a:srgbClr val="1565C0"/>
                    </a:solidFill>
                  </a:tcPr>
                </a:tc>
                <a:tc>
                  <a:txBody>
                    <a:bodyPr/>
                    <a:lstStyle/>
                    <a:p>
                      <a:pPr algn="ctr">
                        <a:defRPr sz="1500" b="1">
                          <a:solidFill>
                            <a:srgbClr val="FFFFFF"/>
                          </a:solidFill>
                          <a:latin typeface="Arial"/>
                        </a:defRPr>
                      </a:pPr>
                      <a:r>
                        <a:t>TRẠNG THÁI HOÀN THÀNH</a:t>
                      </a:r>
                    </a:p>
                  </a:txBody>
                  <a:tcPr>
                    <a:solidFill>
                      <a:srgbClr val="1565C0"/>
                    </a:solidFill>
                  </a:tcPr>
                </a:tc>
              </a:tr>
              <a:tr h="866666">
                <a:tc>
                  <a:txBody>
                    <a:bodyPr/>
                    <a:lstStyle/>
                    <a:p>
                      <a:pPr>
                        <a:defRPr sz="1400" b="1">
                          <a:solidFill>
                            <a:srgbClr val="0F172A"/>
                          </a:solidFill>
                          <a:latin typeface="Arial"/>
                        </a:defRPr>
                      </a:pPr>
                      <a:r>
                        <a:t>1. Tóm tắt &amp; Dataset</a:t>
                      </a:r>
                    </a:p>
                  </a:txBody>
                  <a:tcPr>
                    <a:solidFill>
                      <a:srgbClr val="FFFFFF"/>
                    </a:solidFill>
                  </a:tcPr>
                </a:tc>
                <a:tc>
                  <a:txBody>
                    <a:bodyPr/>
                    <a:lstStyle/>
                    <a:p>
                      <a:pPr>
                        <a:defRPr sz="1400">
                          <a:solidFill>
                            <a:srgbClr val="0F172A"/>
                          </a:solidFill>
                          <a:latin typeface="Arial"/>
                        </a:defRPr>
                      </a:pPr>
                      <a:r>
                        <a:t>1.896 ảnh DeepFire, kiểm toán SHA256 &amp; dHash, chia Train/Val/Test cân bằng 50:50</a:t>
                      </a:r>
                    </a:p>
                  </a:txBody>
                  <a:tcPr>
                    <a:solidFill>
                      <a:srgbClr val="FFFFFF"/>
                    </a:solidFill>
                  </a:tcPr>
                </a:tc>
                <a:tc>
                  <a:txBody>
                    <a:bodyPr/>
                    <a:lstStyle/>
                    <a:p>
                      <a:pPr>
                        <a:defRPr sz="1400">
                          <a:solidFill>
                            <a:srgbClr val="0F172A"/>
                          </a:solidFill>
                          <a:latin typeface="Arial"/>
                        </a:defRPr>
                      </a:pPr>
                      <a:r>
                        <a:t>Báo cáo Mục 1-2; Slide 01-03</a:t>
                      </a:r>
                    </a:p>
                  </a:txBody>
                  <a:tcPr>
                    <a:solidFill>
                      <a:srgbClr val="FFFFFF"/>
                    </a:solidFill>
                  </a:tcPr>
                </a:tc>
                <a:tc>
                  <a:txBody>
                    <a:bodyPr/>
                    <a:lstStyle/>
                    <a:p>
                      <a:pPr algn="ctr">
                        <a:defRPr sz="1400" b="1">
                          <a:solidFill>
                            <a:srgbClr val="2E7D32"/>
                          </a:solidFill>
                          <a:latin typeface="Arial"/>
                        </a:defRPr>
                      </a:pPr>
                      <a:r>
                        <a:t>Hoàn thành 100% (Passed)</a:t>
                      </a:r>
                    </a:p>
                  </a:txBody>
                  <a:tcPr>
                    <a:solidFill>
                      <a:srgbClr val="FFFFFF"/>
                    </a:solidFill>
                  </a:tcPr>
                </a:tc>
              </a:tr>
              <a:tr h="866666">
                <a:tc>
                  <a:txBody>
                    <a:bodyPr/>
                    <a:lstStyle/>
                    <a:p>
                      <a:pPr>
                        <a:defRPr sz="1400" b="1">
                          <a:solidFill>
                            <a:srgbClr val="0F172A"/>
                          </a:solidFill>
                          <a:latin typeface="Arial"/>
                        </a:defRPr>
                      </a:pPr>
                      <a:r>
                        <a:t>2. EDA &amp; Tiền xử lý</a:t>
                      </a:r>
                    </a:p>
                  </a:txBody>
                  <a:tcPr>
                    <a:solidFill>
                      <a:srgbClr val="F1F5F9"/>
                    </a:solidFill>
                  </a:tcPr>
                </a:tc>
                <a:tc>
                  <a:txBody>
                    <a:bodyPr/>
                    <a:lstStyle/>
                    <a:p>
                      <a:pPr>
                        <a:defRPr sz="1400">
                          <a:solidFill>
                            <a:srgbClr val="0F172A"/>
                          </a:solidFill>
                          <a:latin typeface="Arial"/>
                        </a:defRPr>
                      </a:pPr>
                      <a:r>
                        <a:t>Phân tích 5 biểu đồ EDA ảnh; Tiền xử lý HSV 64 bin + HOG 800 bin, PCA 231 chiều</a:t>
                      </a:r>
                    </a:p>
                  </a:txBody>
                  <a:tcPr>
                    <a:solidFill>
                      <a:srgbClr val="F1F5F9"/>
                    </a:solidFill>
                  </a:tcPr>
                </a:tc>
                <a:tc>
                  <a:txBody>
                    <a:bodyPr/>
                    <a:lstStyle/>
                    <a:p>
                      <a:pPr>
                        <a:defRPr sz="1400">
                          <a:solidFill>
                            <a:srgbClr val="0F172A"/>
                          </a:solidFill>
                          <a:latin typeface="Arial"/>
                        </a:defRPr>
                      </a:pPr>
                      <a:r>
                        <a:t>Báo cáo Mục 3-4; Slide 04-06</a:t>
                      </a:r>
                    </a:p>
                  </a:txBody>
                  <a:tcPr>
                    <a:solidFill>
                      <a:srgbClr val="F1F5F9"/>
                    </a:solidFill>
                  </a:tcPr>
                </a:tc>
                <a:tc>
                  <a:txBody>
                    <a:bodyPr/>
                    <a:lstStyle/>
                    <a:p>
                      <a:pPr algn="ctr">
                        <a:defRPr sz="1400" b="1">
                          <a:solidFill>
                            <a:srgbClr val="2E7D32"/>
                          </a:solidFill>
                          <a:latin typeface="Arial"/>
                        </a:defRPr>
                      </a:pPr>
                      <a:r>
                        <a:t>Hoàn thành 100% (Passed)</a:t>
                      </a:r>
                    </a:p>
                  </a:txBody>
                  <a:tcPr>
                    <a:solidFill>
                      <a:srgbClr val="F1F5F9"/>
                    </a:solidFill>
                  </a:tcPr>
                </a:tc>
              </a:tr>
              <a:tr h="866666">
                <a:tc>
                  <a:txBody>
                    <a:bodyPr/>
                    <a:lstStyle/>
                    <a:p>
                      <a:pPr>
                        <a:defRPr sz="1400" b="1">
                          <a:solidFill>
                            <a:srgbClr val="0F172A"/>
                          </a:solidFill>
                          <a:latin typeface="Arial"/>
                        </a:defRPr>
                      </a:pPr>
                      <a:r>
                        <a:t>3. Mô hình ML &amp; Tham số</a:t>
                      </a:r>
                    </a:p>
                  </a:txBody>
                  <a:tcPr>
                    <a:solidFill>
                      <a:srgbClr val="FFFFFF"/>
                    </a:solidFill>
                  </a:tcPr>
                </a:tc>
                <a:tc>
                  <a:txBody>
                    <a:bodyPr/>
                    <a:lstStyle/>
                    <a:p>
                      <a:pPr>
                        <a:defRPr sz="1400">
                          <a:solidFill>
                            <a:srgbClr val="0F172A"/>
                          </a:solidFill>
                          <a:latin typeface="Arial"/>
                        </a:defRPr>
                      </a:pPr>
                      <a:r>
                        <a:t>4 mô hình: Logistic Regression, KNN, SVM, Random Forest; 3-fold Group CV</a:t>
                      </a:r>
                    </a:p>
                  </a:txBody>
                  <a:tcPr>
                    <a:solidFill>
                      <a:srgbClr val="FFFFFF"/>
                    </a:solidFill>
                  </a:tcPr>
                </a:tc>
                <a:tc>
                  <a:txBody>
                    <a:bodyPr/>
                    <a:lstStyle/>
                    <a:p>
                      <a:pPr>
                        <a:defRPr sz="1400">
                          <a:solidFill>
                            <a:srgbClr val="0F172A"/>
                          </a:solidFill>
                          <a:latin typeface="Arial"/>
                        </a:defRPr>
                      </a:pPr>
                      <a:r>
                        <a:t>Báo cáo Mục 5; Slide 07-08</a:t>
                      </a:r>
                    </a:p>
                  </a:txBody>
                  <a:tcPr>
                    <a:solidFill>
                      <a:srgbClr val="FFFFFF"/>
                    </a:solidFill>
                  </a:tcPr>
                </a:tc>
                <a:tc>
                  <a:txBody>
                    <a:bodyPr/>
                    <a:lstStyle/>
                    <a:p>
                      <a:pPr algn="ctr">
                        <a:defRPr sz="1400" b="1">
                          <a:solidFill>
                            <a:srgbClr val="2E7D32"/>
                          </a:solidFill>
                          <a:latin typeface="Arial"/>
                        </a:defRPr>
                      </a:pPr>
                      <a:r>
                        <a:t>Hoàn thành 100% (Passed)</a:t>
                      </a:r>
                    </a:p>
                  </a:txBody>
                  <a:tcPr>
                    <a:solidFill>
                      <a:srgbClr val="FFFFFF"/>
                    </a:solidFill>
                  </a:tcPr>
                </a:tc>
              </a:tr>
              <a:tr h="866666">
                <a:tc>
                  <a:txBody>
                    <a:bodyPr/>
                    <a:lstStyle/>
                    <a:p>
                      <a:pPr>
                        <a:defRPr sz="1400" b="1">
                          <a:solidFill>
                            <a:srgbClr val="0F172A"/>
                          </a:solidFill>
                          <a:latin typeface="Arial"/>
                        </a:defRPr>
                      </a:pPr>
                      <a:r>
                        <a:t>4. Đánh giá &amp; Metrics</a:t>
                      </a:r>
                    </a:p>
                  </a:txBody>
                  <a:tcPr>
                    <a:solidFill>
                      <a:srgbClr val="F1F5F9"/>
                    </a:solidFill>
                  </a:tcPr>
                </a:tc>
                <a:tc>
                  <a:txBody>
                    <a:bodyPr/>
                    <a:lstStyle/>
                    <a:p>
                      <a:pPr>
                        <a:defRPr sz="1400">
                          <a:solidFill>
                            <a:srgbClr val="0F172A"/>
                          </a:solidFill>
                          <a:latin typeface="Arial"/>
                        </a:defRPr>
                      </a:pPr>
                      <a:r>
                        <a:t>Accuracy, Precision, Recall, F1 cả 2 lớp, Confusion Matrix, Macro/Weighted Avg</a:t>
                      </a:r>
                    </a:p>
                  </a:txBody>
                  <a:tcPr>
                    <a:solidFill>
                      <a:srgbClr val="F1F5F9"/>
                    </a:solidFill>
                  </a:tcPr>
                </a:tc>
                <a:tc>
                  <a:txBody>
                    <a:bodyPr/>
                    <a:lstStyle/>
                    <a:p>
                      <a:pPr>
                        <a:defRPr sz="1400">
                          <a:solidFill>
                            <a:srgbClr val="0F172A"/>
                          </a:solidFill>
                          <a:latin typeface="Arial"/>
                        </a:defRPr>
                      </a:pPr>
                      <a:r>
                        <a:t>Báo cáo Mục 6; Slide 09-11</a:t>
                      </a:r>
                    </a:p>
                  </a:txBody>
                  <a:tcPr>
                    <a:solidFill>
                      <a:srgbClr val="F1F5F9"/>
                    </a:solidFill>
                  </a:tcPr>
                </a:tc>
                <a:tc>
                  <a:txBody>
                    <a:bodyPr/>
                    <a:lstStyle/>
                    <a:p>
                      <a:pPr algn="ctr">
                        <a:defRPr sz="1400" b="1">
                          <a:solidFill>
                            <a:srgbClr val="2E7D32"/>
                          </a:solidFill>
                          <a:latin typeface="Arial"/>
                        </a:defRPr>
                      </a:pPr>
                      <a:r>
                        <a:t>Hoàn thành 100% (Passed)</a:t>
                      </a:r>
                    </a:p>
                  </a:txBody>
                  <a:tcPr>
                    <a:solidFill>
                      <a:srgbClr val="F1F5F9"/>
                    </a:solidFill>
                  </a:tcPr>
                </a:tc>
              </a:tr>
              <a:tr h="866670">
                <a:tc>
                  <a:txBody>
                    <a:bodyPr/>
                    <a:lstStyle/>
                    <a:p>
                      <a:pPr>
                        <a:defRPr sz="1400" b="1">
                          <a:solidFill>
                            <a:srgbClr val="0F172A"/>
                          </a:solidFill>
                          <a:latin typeface="Arial"/>
                        </a:defRPr>
                      </a:pPr>
                      <a:r>
                        <a:t>5. Phân tích kết quả &amp; Lỗi</a:t>
                      </a:r>
                    </a:p>
                  </a:txBody>
                  <a:tcPr>
                    <a:solidFill>
                      <a:srgbClr val="FFFFFF"/>
                    </a:solidFill>
                  </a:tcPr>
                </a:tc>
                <a:tc>
                  <a:txBody>
                    <a:bodyPr/>
                    <a:lstStyle/>
                    <a:p>
                      <a:pPr>
                        <a:defRPr sz="1400">
                          <a:solidFill>
                            <a:srgbClr val="0F172A"/>
                          </a:solidFill>
                          <a:latin typeface="Arial"/>
                        </a:defRPr>
                      </a:pPr>
                      <a:r>
                        <a:t>So sánh Train vs Val (Overfitting), Learning Curve, phân tích định lượng ảnh FN/FP</a:t>
                      </a:r>
                    </a:p>
                  </a:txBody>
                  <a:tcPr>
                    <a:solidFill>
                      <a:srgbClr val="FFFFFF"/>
                    </a:solidFill>
                  </a:tcPr>
                </a:tc>
                <a:tc>
                  <a:txBody>
                    <a:bodyPr/>
                    <a:lstStyle/>
                    <a:p>
                      <a:pPr>
                        <a:defRPr sz="1400">
                          <a:solidFill>
                            <a:srgbClr val="0F172A"/>
                          </a:solidFill>
                          <a:latin typeface="Arial"/>
                        </a:defRPr>
                      </a:pPr>
                      <a:r>
                        <a:t>Báo cáo Mục 7; Slide 12-15</a:t>
                      </a:r>
                    </a:p>
                  </a:txBody>
                  <a:tcPr>
                    <a:solidFill>
                      <a:srgbClr val="FFFFFF"/>
                    </a:solidFill>
                  </a:tcPr>
                </a:tc>
                <a:tc>
                  <a:txBody>
                    <a:bodyPr/>
                    <a:lstStyle/>
                    <a:p>
                      <a:pPr algn="ctr">
                        <a:defRPr sz="1400" b="1">
                          <a:solidFill>
                            <a:srgbClr val="2E7D32"/>
                          </a:solidFill>
                          <a:latin typeface="Arial"/>
                        </a:defRPr>
                      </a:pPr>
                      <a:r>
                        <a:t>Hoàn thành 100% (Passed)</a:t>
                      </a:r>
                    </a:p>
                  </a:txBody>
                  <a:tcPr>
                    <a:solidFill>
                      <a:srgbClr val="FFFFFF"/>
                    </a:solidFill>
                  </a:tcPr>
                </a:tc>
              </a:tr>
            </a:tbl>
          </a:graphicData>
        </a:graphic>
      </p:graphicFrame>
      <p:sp>
        <p:nvSpPr>
          <p:cNvPr id="13" name="Rounded Rectangle 12"/>
          <p:cNvSpPr/>
          <p:nvPr/>
        </p:nvSpPr>
        <p:spPr>
          <a:xfrm>
            <a:off x="1016000" y="7650000"/>
            <a:ext cx="19642709" cy="35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00000" y="7800000"/>
            <a:ext cx="19200000" cy="3200000"/>
          </a:xfrm>
          <a:prstGeom prst="rect">
            <a:avLst/>
          </a:prstGeom>
          <a:noFill/>
        </p:spPr>
        <p:txBody>
          <a:bodyPr wrap="square">
            <a:spAutoFit/>
          </a:bodyPr>
          <a:lstStyle/>
          <a:p>
            <a:pPr>
              <a:defRPr sz="1800" b="1">
                <a:solidFill>
                  <a:srgbClr val="1565C0"/>
                </a:solidFill>
                <a:latin typeface="Arial"/>
              </a:defRPr>
            </a:pPr>
            <a:r>
              <a:t>TỔNG KẾT THÀNH QUẢ ĐẠT ĐƯỢC CỦA ĐỒ ÁN MÔN HỌC MÁY HỌC:</a:t>
            </a:r>
          </a:p>
          <a:p>
            <a:pPr>
              <a:defRPr sz="1500">
                <a:solidFill>
                  <a:srgbClr val="0F172A"/>
                </a:solidFill>
                <a:latin typeface="Arial"/>
              </a:defRPr>
            </a:pPr>
            <a:r>
              <a:t>1. Xây dựng hoàn chỉnh một quy trình Machine Learning thị giác máy tính chuẩn mực: Từ đọc dữ liệu thô, kiểm toán chống rò rỉ (dHash), trích xuất đặc trưng kết hợp (Màu sắc + Hình thái cạnh), tối ưu hóa siêu tham số đến kiểm thử khách quan.</a:t>
            </a:r>
          </a:p>
          <a:p>
            <a:pPr>
              <a:defRPr sz="1500">
                <a:solidFill>
                  <a:srgbClr val="0F172A"/>
                </a:solidFill>
                <a:latin typeface="Arial"/>
              </a:defRPr>
            </a:pPr>
            <a:r>
              <a:t>2. Mô hình SVM (RBF) chứng minh hiệu quả vượt trội: Đạt F1 Test 94.03% và Recall 95.26% trên 380 ảnh kiểm thử, vượt qua các mô hình khác nhờ năng lực phân ranh giới phi tuyến biên cực đại.</a:t>
            </a:r>
          </a:p>
          <a:p>
            <a:pPr>
              <a:defRPr sz="1500">
                <a:solidFill>
                  <a:srgbClr val="0F172A"/>
                </a:solidFill>
                <a:latin typeface="Arial"/>
              </a:defRPr>
            </a:pPr>
            <a:r>
              <a:t>3. Tính tái lập tuyệt đối (100% Reproducibility): Toàn bộ số liệu, hình ảnh và mô hình đều được tự động hóa bằng code Python độc lập, sẵn sàng chuyển giao và kiểm chứng.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720000"/>
          </a:xfrm>
          <a:prstGeom prst="rect">
            <a:avLst/>
          </a:prstGeom>
          <a:solidFill>
            <a:srgbClr val="EA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1. Mục Tiêu &amp; Dữ Liệu</a:t>
            </a:r>
          </a:p>
        </p:txBody>
      </p:sp>
      <p:sp>
        <p:nvSpPr>
          <p:cNvPr id="4" name="Rectangle 3"/>
          <p:cNvSpPr/>
          <p:nvPr/>
        </p:nvSpPr>
        <p:spPr>
          <a:xfrm>
            <a:off x="433578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2. EDA &amp; Tiền Xử Lý</a:t>
            </a:r>
          </a:p>
        </p:txBody>
      </p:sp>
      <p:sp>
        <p:nvSpPr>
          <p:cNvPr id="5" name="Rectangle 4"/>
          <p:cNvSpPr/>
          <p:nvPr/>
        </p:nvSpPr>
        <p:spPr>
          <a:xfrm>
            <a:off x="867156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3. Mô Hình &amp; Tuning</a:t>
            </a:r>
          </a:p>
        </p:txBody>
      </p:sp>
      <p:sp>
        <p:nvSpPr>
          <p:cNvPr id="6" name="Rectangle 5"/>
          <p:cNvSpPr/>
          <p:nvPr/>
        </p:nvSpPr>
        <p:spPr>
          <a:xfrm>
            <a:off x="13007340" y="0"/>
            <a:ext cx="4335780" cy="7200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34155"/>
                </a:solidFill>
                <a:latin typeface="Arial"/>
              </a:defRPr>
            </a:pPr>
            <a:r>
              <a:t>4. Kết Quả &amp; Đánh Giá</a:t>
            </a:r>
          </a:p>
        </p:txBody>
      </p:sp>
      <p:sp>
        <p:nvSpPr>
          <p:cNvPr id="7" name="Rectangle 6"/>
          <p:cNvSpPr/>
          <p:nvPr/>
        </p:nvSpPr>
        <p:spPr>
          <a:xfrm>
            <a:off x="17343120" y="0"/>
            <a:ext cx="4335780" cy="7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Arial"/>
              </a:defRPr>
            </a:pPr>
            <a:r>
              <a:t>5. Phân Tích Lỗi &amp; Kết Luận</a:t>
            </a:r>
          </a:p>
        </p:txBody>
      </p:sp>
      <p:sp>
        <p:nvSpPr>
          <p:cNvPr id="8" name="TextBox 7"/>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Hướng Phát Triển Đề Tài &amp; Triển Khai Thực Địa</a:t>
            </a:r>
          </a:p>
          <a:p>
            <a:pPr>
              <a:defRPr sz="1600" i="1" b="1">
                <a:solidFill>
                  <a:srgbClr val="1565C0"/>
                </a:solidFill>
                <a:latin typeface="Arial"/>
              </a:defRPr>
            </a:pPr>
            <a:r>
              <a:t>Mục tiêu môn học: Mục 9: Các giải pháp mở rộng thực tế trong tương lai</a:t>
            </a:r>
          </a:p>
        </p:txBody>
      </p:sp>
      <p:sp>
        <p:nvSpPr>
          <p:cNvPr id="9" name="Rectangle 8"/>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11" name="TextBox 10"/>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17 / 18</a:t>
            </a:r>
          </a:p>
        </p:txBody>
      </p:sp>
      <p:sp>
        <p:nvSpPr>
          <p:cNvPr id="12" name="Rounded Rectangle 11"/>
          <p:cNvSpPr/>
          <p:nvPr/>
        </p:nvSpPr>
        <p:spPr>
          <a:xfrm>
            <a:off x="1016000" y="2150000"/>
            <a:ext cx="9600000" cy="4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000" y="2350000"/>
            <a:ext cx="9200000" cy="3700000"/>
          </a:xfrm>
          <a:prstGeom prst="rect">
            <a:avLst/>
          </a:prstGeom>
          <a:noFill/>
        </p:spPr>
        <p:txBody>
          <a:bodyPr wrap="square">
            <a:spAutoFit/>
          </a:bodyPr>
          <a:lstStyle/>
          <a:p>
            <a:pPr>
              <a:defRPr sz="1800" b="1">
                <a:solidFill>
                  <a:srgbClr val="1565C0"/>
                </a:solidFill>
                <a:latin typeface="Arial"/>
              </a:defRPr>
            </a:pPr>
            <a:r>
              <a:t>1. Dữ Liệu Bất Cân Bằng Thực Địa</a:t>
            </a:r>
          </a:p>
          <a:p>
            <a:pPr>
              <a:defRPr sz="1500">
                <a:solidFill>
                  <a:srgbClr val="0F172A"/>
                </a:solidFill>
                <a:latin typeface="Arial"/>
              </a:defRPr>
            </a:pPr>
            <a:r>
              <a:t>Thu thập dữ liệu camera quan sát thực tế (nơi ảnh không cháy chiếm &gt;99%). Áp dụng kỹ thuật Threshold Moving hoặc Cost-Sensitive Learning để tối ưu hóa chi phí bỏ sót cháy.</a:t>
            </a:r>
          </a:p>
        </p:txBody>
      </p:sp>
      <p:sp>
        <p:nvSpPr>
          <p:cNvPr id="14" name="Rounded Rectangle 13"/>
          <p:cNvSpPr/>
          <p:nvPr/>
        </p:nvSpPr>
        <p:spPr>
          <a:xfrm>
            <a:off x="10916000" y="2150000"/>
            <a:ext cx="9600000" cy="4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16000" y="2350000"/>
            <a:ext cx="9200000" cy="3700000"/>
          </a:xfrm>
          <a:prstGeom prst="rect">
            <a:avLst/>
          </a:prstGeom>
          <a:noFill/>
        </p:spPr>
        <p:txBody>
          <a:bodyPr wrap="square">
            <a:spAutoFit/>
          </a:bodyPr>
          <a:lstStyle/>
          <a:p>
            <a:pPr>
              <a:defRPr sz="1800" b="1">
                <a:solidFill>
                  <a:srgbClr val="1565C0"/>
                </a:solidFill>
                <a:latin typeface="Arial"/>
              </a:defRPr>
            </a:pPr>
            <a:r>
              <a:t>2. Phân Tích Chuỗi Video Thời Gian</a:t>
            </a:r>
          </a:p>
          <a:p>
            <a:pPr>
              <a:defRPr sz="1500">
                <a:solidFill>
                  <a:srgbClr val="0F172A"/>
                </a:solidFill>
                <a:latin typeface="Arial"/>
              </a:defRPr>
            </a:pPr>
            <a:r>
              <a:t>Không xử lý từng khung hình độc lập mà tích hợp Temporal Smoothing (lọc thời gian qua 10-30 khung hình liên tiếp) để loại bỏ hiện tượng nhấp nháy báo nhầm do sương gió.</a:t>
            </a:r>
          </a:p>
        </p:txBody>
      </p:sp>
      <p:sp>
        <p:nvSpPr>
          <p:cNvPr id="16" name="Rounded Rectangle 15"/>
          <p:cNvSpPr/>
          <p:nvPr/>
        </p:nvSpPr>
        <p:spPr>
          <a:xfrm>
            <a:off x="1016000" y="6550000"/>
            <a:ext cx="9600000" cy="4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16000" y="6750000"/>
            <a:ext cx="9200000" cy="3700000"/>
          </a:xfrm>
          <a:prstGeom prst="rect">
            <a:avLst/>
          </a:prstGeom>
          <a:noFill/>
        </p:spPr>
        <p:txBody>
          <a:bodyPr wrap="square">
            <a:spAutoFit/>
          </a:bodyPr>
          <a:lstStyle/>
          <a:p>
            <a:pPr>
              <a:defRPr sz="1800" b="1">
                <a:solidFill>
                  <a:srgbClr val="1565C0"/>
                </a:solidFill>
                <a:latin typeface="Arial"/>
              </a:defRPr>
            </a:pPr>
            <a:r>
              <a:t>3. Nâng Cấp Deep Learning (CNN / YOLO)</a:t>
            </a:r>
          </a:p>
          <a:p>
            <a:pPr>
              <a:defRPr sz="1500">
                <a:solidFill>
                  <a:srgbClr val="0F172A"/>
                </a:solidFill>
                <a:latin typeface="Arial"/>
              </a:defRPr>
            </a:pPr>
            <a:r>
              <a:t>Thử nghiệm các kiến trúc học sâu hiện đại (MobileNetV3, ResNet) và mô hình Object Detection (YOLOv8/v11) để không chỉ phân loại mà còn khoanh vùng tọa độ ngọn lửa (Bounding Box).</a:t>
            </a:r>
          </a:p>
        </p:txBody>
      </p:sp>
      <p:sp>
        <p:nvSpPr>
          <p:cNvPr id="18" name="Rounded Rectangle 17"/>
          <p:cNvSpPr/>
          <p:nvPr/>
        </p:nvSpPr>
        <p:spPr>
          <a:xfrm>
            <a:off x="10916000" y="6550000"/>
            <a:ext cx="9600000" cy="41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116000" y="6750000"/>
            <a:ext cx="9200000" cy="3700000"/>
          </a:xfrm>
          <a:prstGeom prst="rect">
            <a:avLst/>
          </a:prstGeom>
          <a:noFill/>
        </p:spPr>
        <p:txBody>
          <a:bodyPr wrap="square">
            <a:spAutoFit/>
          </a:bodyPr>
          <a:lstStyle/>
          <a:p>
            <a:pPr>
              <a:defRPr sz="1800" b="1">
                <a:solidFill>
                  <a:srgbClr val="1565C0"/>
                </a:solidFill>
                <a:latin typeface="Arial"/>
              </a:defRPr>
            </a:pPr>
            <a:r>
              <a:t>4. Đóng Gói Nhúng Phần Cứng Biên (Edge AI)</a:t>
            </a:r>
          </a:p>
          <a:p>
            <a:pPr>
              <a:defRPr sz="1500">
                <a:solidFill>
                  <a:srgbClr val="0F172A"/>
                </a:solidFill>
                <a:latin typeface="Arial"/>
              </a:defRPr>
            </a:pPr>
            <a:r>
              <a:t>Tối ưu hóa mô hình qua ONNX Runtime / TensorRT để triển khai trực tiếp trên thiết bị nhúng công suất thấp (Raspberry Pi 5, Jetson Nano) gắn trên Drone tuần tra rừng.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678900" cy="22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6000" y="850000"/>
            <a:ext cx="16000000" cy="750000"/>
          </a:xfrm>
          <a:prstGeom prst="rect">
            <a:avLst/>
          </a:prstGeom>
          <a:noFill/>
        </p:spPr>
        <p:txBody>
          <a:bodyPr wrap="square">
            <a:spAutoFit/>
          </a:bodyPr>
          <a:lstStyle/>
          <a:p>
            <a:pPr>
              <a:defRPr sz="3200" b="1">
                <a:solidFill>
                  <a:srgbClr val="0D47A1"/>
                </a:solidFill>
                <a:latin typeface="Arial"/>
              </a:defRPr>
            </a:pPr>
            <a:r>
              <a:t>Tổng Hợp Sản Phẩm Bàn Giao &amp; Lời Cảm Ơn</a:t>
            </a:r>
          </a:p>
          <a:p>
            <a:pPr>
              <a:defRPr sz="1600" i="1" b="1">
                <a:solidFill>
                  <a:srgbClr val="1565C0"/>
                </a:solidFill>
                <a:latin typeface="Arial"/>
              </a:defRPr>
            </a:pPr>
            <a:r>
              <a:t>Mục tiêu môn học: Mục 10 &amp; 6: File Word, Notebook Colab, Script, Model đã train</a:t>
            </a:r>
          </a:p>
        </p:txBody>
      </p:sp>
      <p:sp>
        <p:nvSpPr>
          <p:cNvPr id="4" name="Rectangle 3"/>
          <p:cNvSpPr/>
          <p:nvPr/>
        </p:nvSpPr>
        <p:spPr>
          <a:xfrm>
            <a:off x="1016000" y="1850000"/>
            <a:ext cx="19642709" cy="500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11500000"/>
            <a:ext cx="14000000" cy="450000"/>
          </a:xfrm>
          <a:prstGeom prst="rect">
            <a:avLst/>
          </a:prstGeom>
          <a:noFill/>
        </p:spPr>
        <p:txBody>
          <a:bodyPr wrap="none">
            <a:spAutoFit/>
          </a:bodyPr>
          <a:lstStyle/>
          <a:p>
            <a:pPr>
              <a:defRPr sz="1500">
                <a:solidFill>
                  <a:srgbClr val="475569"/>
                </a:solidFill>
                <a:latin typeface="Arial"/>
              </a:defRPr>
            </a:pPr>
            <a:r>
              <a:t>Đồ án Môn học Máy học | Phân loại ảnh cháy rừng (DeepFire Dataset) | UIT</a:t>
            </a:r>
          </a:p>
        </p:txBody>
      </p:sp>
      <p:sp>
        <p:nvSpPr>
          <p:cNvPr id="6" name="TextBox 5"/>
          <p:cNvSpPr txBox="1"/>
          <p:nvPr/>
        </p:nvSpPr>
        <p:spPr>
          <a:xfrm>
            <a:off x="18500000" y="11500000"/>
            <a:ext cx="2150000" cy="450000"/>
          </a:xfrm>
          <a:prstGeom prst="rect">
            <a:avLst/>
          </a:prstGeom>
          <a:noFill/>
        </p:spPr>
        <p:txBody>
          <a:bodyPr wrap="none">
            <a:spAutoFit/>
          </a:bodyPr>
          <a:lstStyle/>
          <a:p>
            <a:pPr algn="r">
              <a:defRPr sz="1800" b="1">
                <a:solidFill>
                  <a:srgbClr val="1565C0"/>
                </a:solidFill>
                <a:latin typeface="Arial"/>
              </a:defRPr>
            </a:pPr>
            <a:r>
              <a:t>18 / 18</a:t>
            </a:r>
          </a:p>
        </p:txBody>
      </p:sp>
      <p:sp>
        <p:nvSpPr>
          <p:cNvPr id="7" name="Rounded Rectangle 6"/>
          <p:cNvSpPr/>
          <p:nvPr/>
        </p:nvSpPr>
        <p:spPr>
          <a:xfrm>
            <a:off x="1016000" y="2150000"/>
            <a:ext cx="9500000" cy="5200000"/>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0000" y="2300000"/>
            <a:ext cx="9100000" cy="4900000"/>
          </a:xfrm>
          <a:prstGeom prst="rect">
            <a:avLst/>
          </a:prstGeom>
          <a:noFill/>
        </p:spPr>
        <p:txBody>
          <a:bodyPr wrap="square">
            <a:spAutoFit/>
          </a:bodyPr>
          <a:lstStyle/>
          <a:p>
            <a:pPr>
              <a:defRPr sz="1800" b="1">
                <a:solidFill>
                  <a:srgbClr val="1565C0"/>
                </a:solidFill>
                <a:latin typeface="Arial"/>
              </a:defRPr>
            </a:pPr>
            <a:r>
              <a:t>CÁC SẢN PHẨM NỘP ĐẦY ĐỦ THEO YÊU CẦU:</a:t>
            </a:r>
          </a:p>
          <a:p>
            <a:pPr>
              <a:defRPr sz="1500" b="1">
                <a:solidFill>
                  <a:srgbClr val="0D47A1"/>
                </a:solidFill>
                <a:latin typeface="Arial"/>
              </a:defRPr>
            </a:pPr>
            <a:r>
              <a:t>1. Báo cáo Word hoàn chỉnh:</a:t>
            </a:r>
          </a:p>
          <a:p>
            <a:pPr>
              <a:defRPr sz="1300">
                <a:solidFill>
                  <a:srgbClr val="0F172A"/>
                </a:solidFill>
                <a:latin typeface="Arial"/>
              </a:defRPr>
            </a:pPr>
            <a:r>
              <a:t>reports/Bao_cao_MayHoc_Chay_rung.docx (3.3 MB, đúng 10 mục của Thầy).</a:t>
            </a:r>
          </a:p>
          <a:p>
            <a:pPr>
              <a:defRPr sz="1500" b="1">
                <a:solidFill>
                  <a:srgbClr val="0D47A1"/>
                </a:solidFill>
                <a:latin typeface="Arial"/>
              </a:defRPr>
            </a:pPr>
            <a:r>
              <a:t>2. Slide báo cáo thuyết trình:</a:t>
            </a:r>
          </a:p>
          <a:p>
            <a:pPr>
              <a:defRPr sz="1300">
                <a:solidFill>
                  <a:srgbClr val="0F172A"/>
                </a:solidFill>
                <a:latin typeface="Arial"/>
              </a:defRPr>
            </a:pPr>
            <a:r>
              <a:t>slides/Bao_cao_MayHoc_Chay_rung.pptx (18 slide Visual chuẩn UIT).</a:t>
            </a:r>
          </a:p>
          <a:p>
            <a:pPr>
              <a:defRPr sz="1500" b="1">
                <a:solidFill>
                  <a:srgbClr val="0D47A1"/>
                </a:solidFill>
                <a:latin typeface="Arial"/>
              </a:defRPr>
            </a:pPr>
            <a:r>
              <a:t>3. File Notebook tự chứa mã:</a:t>
            </a:r>
          </a:p>
          <a:p>
            <a:pPr>
              <a:defRPr sz="1300">
                <a:solidFill>
                  <a:srgbClr val="0F172A"/>
                </a:solidFill>
                <a:latin typeface="Arial"/>
              </a:defRPr>
            </a:pPr>
            <a:r>
              <a:t>notebooks/MayHoc_Chay_rung.ipynb (Chạy 1 click 'Run All' trên Google Colab).</a:t>
            </a:r>
          </a:p>
          <a:p>
            <a:pPr>
              <a:defRPr sz="1500" b="1">
                <a:solidFill>
                  <a:srgbClr val="0D47A1"/>
                </a:solidFill>
                <a:latin typeface="Arial"/>
              </a:defRPr>
            </a:pPr>
            <a:r>
              <a:t>4. Toàn bộ mã nguồn &amp; Model:</a:t>
            </a:r>
          </a:p>
          <a:p>
            <a:pPr>
              <a:defRPr sz="1300">
                <a:solidFill>
                  <a:srgbClr val="0F172A"/>
                </a:solidFill>
                <a:latin typeface="Arial"/>
              </a:defRPr>
            </a:pPr>
            <a:r>
              <a:t>src/experiment.py, src/predict.py và 4 file models/*.joblib đã train sẵn.</a:t>
            </a:r>
          </a:p>
        </p:txBody>
      </p:sp>
      <p:sp>
        <p:nvSpPr>
          <p:cNvPr id="9" name="Rounded Rectangle 8"/>
          <p:cNvSpPr/>
          <p:nvPr/>
        </p:nvSpPr>
        <p:spPr>
          <a:xfrm>
            <a:off x="10900000" y="2150000"/>
            <a:ext cx="9758709" cy="5200000"/>
          </a:xfrm>
          <a:prstGeom prst="roundRect">
            <a:avLst/>
          </a:prstGeom>
          <a:solidFill>
            <a:srgbClr val="EEF6FF"/>
          </a:solidFill>
          <a:ln w="19050">
            <a:solidFill>
              <a:srgbClr val="90CA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100000" y="2300000"/>
            <a:ext cx="9350000" cy="4900000"/>
          </a:xfrm>
          <a:prstGeom prst="rect">
            <a:avLst/>
          </a:prstGeom>
          <a:noFill/>
        </p:spPr>
        <p:txBody>
          <a:bodyPr wrap="square">
            <a:spAutoFit/>
          </a:bodyPr>
          <a:lstStyle/>
          <a:p>
            <a:pPr>
              <a:defRPr sz="1800" b="1">
                <a:solidFill>
                  <a:srgbClr val="1565C0"/>
                </a:solidFill>
                <a:latin typeface="Arial"/>
              </a:defRPr>
            </a:pPr>
            <a:r>
              <a:t>DEMO SUY LUẬN NHANH TRÊN MÁY TÍNH (CLI):</a:t>
            </a:r>
          </a:p>
          <a:p>
            <a:pPr>
              <a:defRPr sz="1400">
                <a:solidFill>
                  <a:srgbClr val="0F172A"/>
                </a:solidFill>
                <a:latin typeface="Arial"/>
              </a:defRPr>
            </a:pPr>
            <a:r>
              <a:t>• Câu lệnh kiểm tra dự đoán 1 ảnh bất kỳ bằng model SVM tối ưu:</a:t>
            </a:r>
          </a:p>
          <a:p>
            <a:pPr>
              <a:defRPr sz="1500" b="1">
                <a:solidFill>
                  <a:srgbClr val="0D47A1"/>
                </a:solidFill>
                <a:latin typeface="Consolas"/>
              </a:defRPr>
            </a:pPr>
            <a:r>
              <a:t>python src/predict.py duong_dan_anh.jpg</a:t>
            </a:r>
          </a:p>
          <a:p>
            <a:pPr>
              <a:defRPr sz="1400">
                <a:solidFill>
                  <a:srgbClr val="0F172A"/>
                </a:solidFill>
                <a:latin typeface="Arial"/>
              </a:defRPr>
            </a:pPr>
            <a:r>
              <a:t>• Kết quả thực tế đã kiểm thử trực tiếp trên terminal:</a:t>
            </a:r>
          </a:p>
          <a:p>
            <a:pPr>
              <a:defRPr sz="1300" b="1">
                <a:solidFill>
                  <a:srgbClr val="2E7D32"/>
                </a:solidFill>
                <a:latin typeface="Consolas"/>
              </a:defRPr>
            </a:pPr>
            <a:r>
              <a:t>&gt;&gt; fire_0002.jpg    --&gt;  {'model': 'SVM', 'label': 1, 'class': 'Cháy'}</a:t>
            </a:r>
          </a:p>
          <a:p>
            <a:pPr>
              <a:defRPr sz="1300" b="1">
                <a:solidFill>
                  <a:srgbClr val="1565C0"/>
                </a:solidFill>
                <a:latin typeface="Consolas"/>
              </a:defRPr>
            </a:pPr>
            <a:r>
              <a:t>&gt;&gt; nofire_0006.jpg  --&gt;  {'model': 'SVM', 'label': 0, 'class': 'Không cháy'}</a:t>
            </a:r>
          </a:p>
        </p:txBody>
      </p:sp>
      <p:sp>
        <p:nvSpPr>
          <p:cNvPr id="11" name="Rounded Rectangle 10"/>
          <p:cNvSpPr/>
          <p:nvPr/>
        </p:nvSpPr>
        <p:spPr>
          <a:xfrm>
            <a:off x="1016000" y="7650000"/>
            <a:ext cx="19642709" cy="3500000"/>
          </a:xfrm>
          <a:prstGeom prst="roundRect">
            <a:avLst/>
          </a:prstGeom>
          <a:solidFill>
            <a:srgbClr val="FFF8E1"/>
          </a:solidFill>
          <a:ln w="19050">
            <a:solidFill>
              <a:srgbClr val="FF6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0000" y="7800000"/>
            <a:ext cx="19200000" cy="3200000"/>
          </a:xfrm>
          <a:prstGeom prst="rect">
            <a:avLst/>
          </a:prstGeom>
          <a:noFill/>
        </p:spPr>
        <p:txBody>
          <a:bodyPr wrap="square">
            <a:spAutoFit/>
          </a:bodyPr>
          <a:lstStyle/>
          <a:p>
            <a:pPr algn="ctr">
              <a:defRPr sz="2200" b="1">
                <a:solidFill>
                  <a:srgbClr val="FF6F00"/>
                </a:solidFill>
                <a:latin typeface="Arial"/>
              </a:defRPr>
            </a:pPr>
            <a:r>
              <a:t>XIN CHÂN THÀNH CẢM ƠN QUÝ THẦY CÔ VÀ HỘI ĐỒNG!</a:t>
            </a:r>
          </a:p>
          <a:p>
            <a:pPr algn="ctr">
              <a:defRPr sz="1600">
                <a:solidFill>
                  <a:srgbClr val="0F172A"/>
                </a:solidFill>
                <a:latin typeface="Arial"/>
              </a:defRPr>
            </a:pPr>
            <a:r>
              <a:t>Nhóm chúng em rất mong nhận được những góp ý quý báu từ Quý Thầy Cô để tiếp tục hoàn thiện đồ án.</a:t>
            </a:r>
          </a:p>
          <a:p>
            <a:pPr algn="ctr">
              <a:defRPr sz="1600" b="1">
                <a:solidFill>
                  <a:srgbClr val="0D47A1"/>
                </a:solidFill>
                <a:latin typeface="Arial"/>
              </a:defRPr>
            </a:pPr>
            <a:r>
              <a:t>Kính chúc Quý Thầy Cô dồi dào sức khỏe và công tác tốt!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